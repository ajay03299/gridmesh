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b20df93ef14fe5" /><Relationship Type="http://schemas.openxmlformats.org/officeDocument/2006/relationships/extended-properties" Target="/docProps/app.xml" Id="R8ea0b62f4d4d401b" /><Relationship Type="http://schemas.openxmlformats.org/officeDocument/2006/relationships/officeDocument" Target="/ppt/presentation.xml" Id="Rd94ddbead8ee4603" /></Relationships>
</file>

<file path=ppt/presentation.xml><?xml version="1.0" encoding="utf-8"?>
<p:presentation xmlns:p="http://schemas.openxmlformats.org/presentationml/2006/main">
  <p:sldMasterIdLst>
    <p:sldMasterId xmlns:r="http://schemas.openxmlformats.org/officeDocument/2006/relationships" id="2147483648" r:id="R12779d0115a9424c"/>
  </p:sldMasterIdLst>
  <p:notesMasterIdLst>
    <p:notesMasterId xmlns:r="http://schemas.openxmlformats.org/officeDocument/2006/relationships" r:id="Re59d71ee71be49e0"/>
  </p:notesMasterIdLst>
  <p:sldIdLst>
    <p:sldId xmlns:r="http://schemas.openxmlformats.org/officeDocument/2006/relationships" id="256" r:id="Rd5f03361f0574996"/>
    <p:sldId xmlns:r="http://schemas.openxmlformats.org/officeDocument/2006/relationships" id="257" r:id="R76c9dde1c1944bb5"/>
    <p:sldId xmlns:r="http://schemas.openxmlformats.org/officeDocument/2006/relationships" id="258" r:id="R3f8b6e86c42441b6"/>
    <p:sldId xmlns:r="http://schemas.openxmlformats.org/officeDocument/2006/relationships" id="259" r:id="Rade2f46192ef4c9c"/>
    <p:sldId xmlns:r="http://schemas.openxmlformats.org/officeDocument/2006/relationships" id="260" r:id="Re031cd3365304df5"/>
    <p:sldId xmlns:r="http://schemas.openxmlformats.org/officeDocument/2006/relationships" id="261" r:id="Rc6e775a307204b79"/>
    <p:sldId xmlns:r="http://schemas.openxmlformats.org/officeDocument/2006/relationships" id="262" r:id="R63385a6dd1644ffb"/>
    <p:sldId xmlns:r="http://schemas.openxmlformats.org/officeDocument/2006/relationships" id="263" r:id="R7cc7f439232441c6"/>
    <p:sldId xmlns:r="http://schemas.openxmlformats.org/officeDocument/2006/relationships" id="264" r:id="R420dfc4fbd4046d9"/>
    <p:sldId xmlns:r="http://schemas.openxmlformats.org/officeDocument/2006/relationships" id="265" r:id="R33e613bf04dc4223"/>
    <p:sldId xmlns:r="http://schemas.openxmlformats.org/officeDocument/2006/relationships" id="266" r:id="Raf494fdc314d4f82"/>
    <p:sldId xmlns:r="http://schemas.openxmlformats.org/officeDocument/2006/relationships" id="267" r:id="R409fa1b0d7b848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53abf2d45e4107" /><Relationship Type="http://schemas.openxmlformats.org/officeDocument/2006/relationships/slideMaster" Target="/ppt/slideMasters/slideMaster1.xml" Id="R12779d0115a9424c" /><Relationship Type="http://schemas.openxmlformats.org/officeDocument/2006/relationships/notesMaster" Target="/ppt/notesMasters/notesMaster1.xml" Id="Re59d71ee71be49e0" /><Relationship Type="http://schemas.openxmlformats.org/officeDocument/2006/relationships/presProps" Target="/ppt/presProps.xml" Id="R66b2e28cbab84521" /><Relationship Type="http://schemas.openxmlformats.org/officeDocument/2006/relationships/tableStyles" Target="/ppt/tableStyles.xml" Id="R23ee470b709e4378" /><Relationship Type="http://schemas.openxmlformats.org/officeDocument/2006/relationships/slide" Target="/ppt/slides/slide1.xml" Id="Rd5f03361f0574996" /><Relationship Type="http://schemas.openxmlformats.org/officeDocument/2006/relationships/slide" Target="/ppt/slides/slide2.xml" Id="R76c9dde1c1944bb5" /><Relationship Type="http://schemas.openxmlformats.org/officeDocument/2006/relationships/slide" Target="/ppt/slides/slide3.xml" Id="R3f8b6e86c42441b6" /><Relationship Type="http://schemas.openxmlformats.org/officeDocument/2006/relationships/slide" Target="/ppt/slides/slide4.xml" Id="Rade2f46192ef4c9c" /><Relationship Type="http://schemas.openxmlformats.org/officeDocument/2006/relationships/slide" Target="/ppt/slides/slide5.xml" Id="Re031cd3365304df5" /><Relationship Type="http://schemas.openxmlformats.org/officeDocument/2006/relationships/slide" Target="/ppt/slides/slide6.xml" Id="Rc6e775a307204b79" /><Relationship Type="http://schemas.openxmlformats.org/officeDocument/2006/relationships/slide" Target="/ppt/slides/slide7.xml" Id="R63385a6dd1644ffb" /><Relationship Type="http://schemas.openxmlformats.org/officeDocument/2006/relationships/slide" Target="/ppt/slides/slide8.xml" Id="R7cc7f439232441c6" /><Relationship Type="http://schemas.openxmlformats.org/officeDocument/2006/relationships/slide" Target="/ppt/slides/slide9.xml" Id="R420dfc4fbd4046d9" /><Relationship Type="http://schemas.openxmlformats.org/officeDocument/2006/relationships/slide" Target="/ppt/slides/slide10.xml" Id="R33e613bf04dc4223" /><Relationship Type="http://schemas.openxmlformats.org/officeDocument/2006/relationships/slide" Target="/ppt/slides/slide11.xml" Id="Raf494fdc314d4f82" /><Relationship Type="http://schemas.openxmlformats.org/officeDocument/2006/relationships/slide" Target="/ppt/slides/slide12.xml" Id="R409fa1b0d7b848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3f3b6ed33349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6ea53ec2164a63" /><Relationship Type="http://schemas.openxmlformats.org/officeDocument/2006/relationships/notesMaster" Target="/ppt/notesMasters/notesMaster1.xml" Id="R6c8e3de1d2ca4c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477b8678794b93" /><Relationship Type="http://schemas.openxmlformats.org/officeDocument/2006/relationships/notesMaster" Target="/ppt/notesMasters/notesMaster1.xml" Id="Ra74dd7d1a64140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47388f73124e13" /><Relationship Type="http://schemas.openxmlformats.org/officeDocument/2006/relationships/notesMaster" Target="/ppt/notesMasters/notesMaster1.xml" Id="R9efbdec4561844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484a75a3b544fc" /><Relationship Type="http://schemas.openxmlformats.org/officeDocument/2006/relationships/notesMaster" Target="/ppt/notesMasters/notesMaster1.xml" Id="R9519c0e0b9de47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0f570c846442f9" /><Relationship Type="http://schemas.openxmlformats.org/officeDocument/2006/relationships/notesMaster" Target="/ppt/notesMasters/notesMaster1.xml" Id="R1dbd7514ee8241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b0b260c554414b" /><Relationship Type="http://schemas.openxmlformats.org/officeDocument/2006/relationships/notesMaster" Target="/ppt/notesMasters/notesMaster1.xml" Id="Rcb8c9294cba740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4241c27c1546f5" /><Relationship Type="http://schemas.openxmlformats.org/officeDocument/2006/relationships/notesMaster" Target="/ppt/notesMasters/notesMaster1.xml" Id="R05e30c00f83143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f34bb315b84ee1" /><Relationship Type="http://schemas.openxmlformats.org/officeDocument/2006/relationships/notesMaster" Target="/ppt/notesMasters/notesMaster1.xml" Id="R96852328a9ab4b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7a525337c74191" /><Relationship Type="http://schemas.openxmlformats.org/officeDocument/2006/relationships/notesMaster" Target="/ppt/notesMasters/notesMaster1.xml" Id="R4a1d138785db42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18532f62c24d64" /><Relationship Type="http://schemas.openxmlformats.org/officeDocument/2006/relationships/notesMaster" Target="/ppt/notesMasters/notesMaster1.xml" Id="R0af302502cc443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ee1026cc374d77" /><Relationship Type="http://schemas.openxmlformats.org/officeDocument/2006/relationships/notesMaster" Target="/ppt/notesMasters/notesMaster1.xml" Id="Rd383d4da4c1647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6631a5451b40b2" /><Relationship Type="http://schemas.openxmlformats.org/officeDocument/2006/relationships/notesMaster" Target="/ppt/notesMasters/notesMaster1.xml" Id="R6fdd430149e643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Round-one idea proposal backed by an implemented simulation. GridMesh is the project name used by the repository; MicroWatt-FL remains the core federated forecasting concept. The neighbourhood artwork is a generated concept illustration, not a field deployment. Team and mentor names were supplied by the user and professor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03 asks for affordable, neighbourhood-scale flexibility that bridges renewable intermittency and helps the DISCOM. The operating example is illustrative. The repository evaluates daytime renewable-intermittency intervals; it does not claim full feeder resource adequacy. Sources: supplied challenge statement and organizer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user journey. Each site retains raw histories and trains locally. The coordinator receives model updates and reliability metadata, then returns a shared model. Aggregate forecasts, demand and asset limits feed the scheduler. The operator receives a recommendation and capacity warning, not an automatic control command. Secure aggregation and production authentication remain roadmap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follows the professor’s suggested 75% federated-learning and 25% reserve-scheduling split. The current repository simulates 4 sites for repeated experiments and includes a 100-site scale test. Real weather and irradiance seed modelled PV power. Demand, site capacities, faults, limits and costs are simulated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Five-seed values from outputs/RESULTS.md. Normal-condition test RMSE: smart persistence 0.0735, local-only 0.0666, centralized pooled 0.0643 and reliability-aware FedAvg 0.0641 p.u. In the two-site stale-sensor scenario, healthy-site RMSE damage is +8.9% under FedAvg and +0.4% under GridMesh. These faults are simulated. The result demonstrates robustness in the simulation, not field reliability. A separate one-seed, three-round screening implemented all three architectures: MLP RMSE 0.0655, GRU 0.0693 and LSTM 0.0690. The compact MLP remains the default based on that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Five-seed 4-site communication values and one-seed 100-site scale simulation from outputs/RESULTS.md. Event-aware participation sends a 16-byte heartbeat from stable clients and trains drifting clients. At 4 sites, total communication over 20 rounds falls from 5.08 to 2.55 MB. At 100 sites, per-round traffic falls from 6.35 to 3.77 MB while test RMSE remains 0.0650 vs 0.0649 p.u. This is a simulator, not a distributed network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basis: Khaing, Kannan &amp; Rao, “Accurate energy predictions for optimal power flow problems,” Clean Energy (2026), Theorem 4.3. https://doi.org/10.1093/ce/zkag018. Error convention e=actual minus forecast. The Gaussian uncertainty margin is m=max(Phi inverse of 1-delta times sigma minus mu, zero). The implementation shifts residuals by the forecast horizon so future observations cannot affect today’s margin. An empirical rolling upper quantile of forecast minus actual is the non-Gaussian benchmark. Both are margins; the scheduler separately adds the expected demand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formulation in src/reserve/simulator.py. Grid import equals the smaller of its limit and the positive demand-minus-forecast gap. Expected gap is positive demand minus grid import minus forecast. Required backup adds the causal margin. For each day, the LP minimizes scheduled backup cost plus priority-weighted planned-gap cost. Constraints enforce requirement coverage, backup power and daily energy. A planned-gap variable exposes infeasibility. During real-time evaluation, scheduled backup meets realized net deficit and the remainder becomes energy not served. Daytime intermittency only; night adequacy is outside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Five-seed simulation from outputs/tables/reserve_benchmark_5seed.csv. Fixed baseline uses a 20% of demand uncertainty margin. At delta 0.05, n-sigma mean scheduled backup is 1575.52 MWh versus 2420.64 MWh, unserved energy 278.10 versus 310.01 MWh, and assumed total cost 7137.49 versus 8620.82. Relative changes: minus 34.9%, minus 10.3%, minus 17.2%. Demand, PV capacities, grid limit, backup limits and costs are simulated assumptions. Weather and irradiance are real; PV output is modelled. Asset constraints still leave a planned capacity gap, which the dashboard exposes.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Alignment to the organizer’s efficiency, sustainability, accessibility and scalability themes. Sustainability effects are intended outcomes and require field validation. Affordability budget is an illustrative software-service boundary carried forward from the prior proposal: INR 4,650 monthly shared across 100 households equals INR 46.50 per household per month. It excludes hardware, backup energy, installation, grid bills, tax and finance. No willingness-to-pay evidence or Schneider price comparison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Schneider pages describe EcoStruxure DERMS, Microgrid Advisor and Microgrid Operation as broad platforms for DER coordination, forecasting, optimization and control. GridMesh does not claim Schneider lacks equivalent internal methods. The distinction is the proposal’s narrow research focus: privacy-preserving cross-owner learning, update reliability scoring and transparent feeder reserve advice for smaller portfolios. A mature module would integrate through approved interfaces after security review. Sources: https://www.se.com/ww/en/work/solutions/electric-utilities/ ; https://www.se.com/us/en/work/products/explore/ecostruxure-microgrid-advisor/ ; https://www.se.com/us/en/product-range/89571422-ecostruxure-derms/ ; https://www.se.com/us/en/product-range/65897-ecostruxure-microgrid-operation/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state: implemented simulation and dashboard, three model families, five-seed forecast and reserve evidence, 24 audit checks, and a 100-site scale test. Next steps are validation on measured multi-site PV and demand, secure aggregation, feeder constraints and a shadow-mode pilot. Team names supplied by the user. Mentors from the professor email and user confirmation: Prof. Shrisha Rao and Prof. Aswin Kannan.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23461484864a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d9d24819b84e53" /><Relationship Type="http://schemas.openxmlformats.org/officeDocument/2006/relationships/slideLayout" Target="/ppt/slideLayouts/slideLayout1.xml" Id="R8fbab747b63c4c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ab747b63c4c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68b393ea064178" /><Relationship Type="http://schemas.openxmlformats.org/officeDocument/2006/relationships/image" Target="/ppt/media/image.png" Id="R34631600c61642da" /><Relationship Type="http://schemas.openxmlformats.org/officeDocument/2006/relationships/notesSlide" Target="/ppt/notesSlides/notesSlide1.xml" Id="R1b3a9b1dfcea44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34ef711c0a4e48" /><Relationship Type="http://schemas.openxmlformats.org/officeDocument/2006/relationships/notesSlide" Target="/ppt/notesSlides/notesSlide2.xml" Id="Re8f50547ca7a48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45804c001f4985" /><Relationship Type="http://schemas.openxmlformats.org/officeDocument/2006/relationships/notesSlide" Target="/ppt/notesSlides/notesSlide3.xml" Id="Re51f1bb5b2d94e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02d7b326694129" /><Relationship Type="http://schemas.openxmlformats.org/officeDocument/2006/relationships/notesSlide" Target="/ppt/notesSlides/notesSlide4.xml" Id="R551302086b72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66e8dcc67f4da0" /><Relationship Type="http://schemas.openxmlformats.org/officeDocument/2006/relationships/chart" Target="/ppt/slides/charts/chart1.xml" Id="R8bd16b50e3004864" /><Relationship Type="http://schemas.openxmlformats.org/officeDocument/2006/relationships/notesSlide" Target="/ppt/notesSlides/notesSlide5.xml" Id="R5540726726d442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e32e2374bb49ea" /><Relationship Type="http://schemas.openxmlformats.org/officeDocument/2006/relationships/chart" Target="/ppt/slides/charts/chart2.xml" Id="R775896a956a24987" /><Relationship Type="http://schemas.openxmlformats.org/officeDocument/2006/relationships/notesSlide" Target="/ppt/notesSlides/notesSlide6.xml" Id="R1dc10316f79a4a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b9ec2a45cb443b" /><Relationship Type="http://schemas.openxmlformats.org/officeDocument/2006/relationships/notesSlide" Target="/ppt/notesSlides/notesSlide7.xml" Id="Rca84f32870174c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41a3bf81a74ac5" /><Relationship Type="http://schemas.openxmlformats.org/officeDocument/2006/relationships/notesSlide" Target="/ppt/notesSlides/notesSlide8.xml" Id="Rb5ba15c9ce7b49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1bc422bad342a4" /><Relationship Type="http://schemas.openxmlformats.org/officeDocument/2006/relationships/chart" Target="/ppt/slides/charts/chart3.xml" Id="Rd1e7098efe2a46b0" /><Relationship Type="http://schemas.openxmlformats.org/officeDocument/2006/relationships/notesSlide" Target="/ppt/notesSlides/notesSlide9.xml" Id="R14f4b238527640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2e8a6208bf4d3f" /><Relationship Type="http://schemas.openxmlformats.org/officeDocument/2006/relationships/notesSlide" Target="/ppt/notesSlides/notesSlide10.xml" Id="R9035925ebc1445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a2a13ef85b4363" /><Relationship Type="http://schemas.openxmlformats.org/officeDocument/2006/relationships/notesSlide" Target="/ppt/notesSlides/notesSlide11.xml" Id="Rd0d0e0249b104a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8b8f85fb414c48" /><Relationship Type="http://schemas.openxmlformats.org/officeDocument/2006/relationships/notesSlide" Target="/ppt/notesSlides/notesSlide12.xml" Id="R6f45788dfa0948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RMSE</c:v>
          </c:tx>
          <c:spPr>
            <a:solidFill xmlns:a="http://schemas.openxmlformats.org/drawingml/2006/main">
              <a:srgbClr val="4E7D61"/>
            </a:solidFill>
          </c:spPr>
          <c:cat>
            <c:strRef>
              <c:f>'Chart Data'!$A$2:$A$5</c:f>
              <c:strCache>
                <c:ptCount val="4"/>
                <c:pt idx="0">
                  <c:v>Smart persistence</c:v>
                </c:pt>
                <c:pt idx="1">
                  <c:v>Local only</c:v>
                </c:pt>
                <c:pt idx="2">
                  <c:v>Pooled</c:v>
                </c:pt>
                <c:pt idx="3">
                  <c:v>GridMesh</c:v>
                </c:pt>
              </c:strCache>
            </c:strRef>
          </c:cat>
          <c:val>
            <c:numRef>
              <c:f>'Chart Data'!$B$2:$B$5</c:f>
              <c:numCache>
                <c:formatCode>General</c:formatCode>
                <c:ptCount val="4"/>
                <c:pt idx="0">
                  <c:v>0.0735</c:v>
                </c:pt>
                <c:pt idx="1">
                  <c:v>0.0666</c:v>
                </c:pt>
                <c:pt idx="2">
                  <c:v>0.0643</c:v>
                </c:pt>
                <c:pt idx="3">
                  <c:v>0.0641</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plotArea>
    <c:plotVisOnly val="1"/>
  </c:chart>
  <c:spPr>
    <a:solidFill xmlns:a="http://schemas.openxmlformats.org/drawingml/2006/main">
      <a:srgbClr val="F7F7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FedAvg</c:v>
          </c:tx>
          <c:spPr>
            <a:solidFill xmlns:a="http://schemas.openxmlformats.org/drawingml/2006/main">
              <a:srgbClr val="E0A35A"/>
            </a:solidFill>
          </c:spPr>
          <c:cat>
            <c:strRef>
              <c:f>'Chart Data'!$A$2:$A$3</c:f>
              <c:strCache>
                <c:ptCount val="2"/>
                <c:pt idx="0">
                  <c:v>4 sites
20 rounds</c:v>
                </c:pt>
                <c:pt idx="1">
                  <c:v>100 sites
per round</c:v>
                </c:pt>
              </c:strCache>
            </c:strRef>
          </c:cat>
          <c:val>
            <c:numRef>
              <c:f>'Chart Data'!$B$2:$B$3</c:f>
              <c:numCache>
                <c:formatCode>General</c:formatCode>
                <c:ptCount val="2"/>
                <c:pt idx="0">
                  <c:v>5.08</c:v>
                </c:pt>
                <c:pt idx="1">
                  <c:v>6.35</c:v>
                </c:pt>
              </c:numCache>
            </c:numRef>
          </c:val>
        </c:ser>
        <c:ser>
          <c:idx val="1"/>
          <c:order val="1"/>
          <c:tx>
            <c:v>Event-aware</c:v>
          </c:tx>
          <c:spPr>
            <a:solidFill xmlns:a="http://schemas.openxmlformats.org/drawingml/2006/main">
              <a:srgbClr val="4E7D61"/>
            </a:solidFill>
          </c:spPr>
          <c:cat>
            <c:strRef>
              <c:f>'Chart Data'!$C$2:$C$3</c:f>
              <c:strCache>
                <c:ptCount val="2"/>
                <c:pt idx="0">
                  <c:v>4 sites
20 rounds</c:v>
                </c:pt>
                <c:pt idx="1">
                  <c:v>100 sites
per round</c:v>
                </c:pt>
              </c:strCache>
            </c:strRef>
          </c:cat>
          <c:val>
            <c:numRef>
              <c:f>'Chart Data'!$D$2:$D$3</c:f>
              <c:numCache>
                <c:formatCode>General</c:formatCode>
                <c:ptCount val="2"/>
                <c:pt idx="0">
                  <c:v>2.55</c:v>
                </c:pt>
                <c:pt idx="1">
                  <c:v>3.77</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7"/>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Communication (MB)</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legend>
    <c:plotVisOnly val="1"/>
  </c:chart>
  <c:spPr>
    <a:solidFill xmlns:a="http://schemas.openxmlformats.org/drawingml/2006/main">
      <a:srgbClr val="F7F7F0"/>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 20%</c:v>
          </c:tx>
          <c:spPr>
            <a:solidFill xmlns:a="http://schemas.openxmlformats.org/drawingml/2006/main">
              <a:srgbClr val="E0A35A"/>
            </a:solidFill>
          </c:spPr>
          <c:cat>
            <c:strRef>
              <c:f>'Chart Data'!$A$2:$A$4</c:f>
              <c:strCache>
                <c:ptCount val="3"/>
                <c:pt idx="0">
                  <c:v>Scheduled backup
(MWh)</c:v>
                </c:pt>
                <c:pt idx="1">
                  <c:v>Unserved energy
(MWh)</c:v>
                </c:pt>
                <c:pt idx="2">
                  <c:v>Assumed cost
(cost units)</c:v>
                </c:pt>
              </c:strCache>
            </c:strRef>
          </c:cat>
          <c:val>
            <c:numRef>
              <c:f>'Chart Data'!$B$2:$B$4</c:f>
              <c:numCache>
                <c:formatCode>General</c:formatCode>
                <c:ptCount val="3"/>
                <c:pt idx="0">
                  <c:v>2420.64</c:v>
                </c:pt>
                <c:pt idx="1">
                  <c:v>310.01</c:v>
                </c:pt>
                <c:pt idx="2">
                  <c:v>8620.82</c:v>
                </c:pt>
              </c:numCache>
            </c:numRef>
          </c:val>
        </c:ser>
        <c:ser>
          <c:idx val="1"/>
          <c:order val="1"/>
          <c:tx>
            <c:v>n-sigma 5%</c:v>
          </c:tx>
          <c:spPr>
            <a:solidFill xmlns:a="http://schemas.openxmlformats.org/drawingml/2006/main">
              <a:srgbClr val="4E7D61"/>
            </a:solidFill>
          </c:spPr>
          <c:cat>
            <c:strRef>
              <c:f>'Chart Data'!$C$2:$C$4</c:f>
              <c:strCache>
                <c:ptCount val="3"/>
                <c:pt idx="0">
                  <c:v>Scheduled backup
(MWh)</c:v>
                </c:pt>
                <c:pt idx="1">
                  <c:v>Unserved energy
(MWh)</c:v>
                </c:pt>
                <c:pt idx="2">
                  <c:v>Assumed cost
(cost units)</c:v>
                </c:pt>
              </c:strCache>
            </c:strRef>
          </c:cat>
          <c:val>
            <c:numRef>
              <c:f>'Chart Data'!$D$2:$D$4</c:f>
              <c:numCache>
                <c:formatCode>General</c:formatCode>
                <c:ptCount val="3"/>
                <c:pt idx="0">
                  <c:v>1575.52</c:v>
                </c:pt>
                <c:pt idx="1">
                  <c:v>278.1</c:v>
                </c:pt>
                <c:pt idx="2">
                  <c:v>7137.49</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90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majorUnit val="2000"/>
      </c:valAx>
    </c:plotArea>
    <c:legend>
      <c:legendPos val="b"/>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legend>
    <c:plotVisOnly val="1"/>
  </c:chart>
  <c:spPr>
    <a:solidFill xmlns:a="http://schemas.openxmlformats.org/drawingml/2006/main">
      <a:srgbClr val="F7F7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F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7DBF3A-0295-472B-BD28-51CAFBC54523}"/>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BBD0C5"/>
                </a:solidFill>
                <a:latin typeface="Calibri"/>
                <a:ea typeface="Calibri"/>
                <a:cs typeface="Calibri"/>
              </a:defRPr>
            </a:pPr>
            <a:r>
              <a:rPr sz="975" b="0">
                <a:solidFill>
                  <a:srgbClr val="BBD0C5"/>
                </a:solidFill>
                <a:latin typeface="Calibri"/>
                <a:ea typeface="Calibri"/>
                <a:cs typeface="Calibri"/>
              </a:rPr>
              <a:t>GRIDMESH / TEAM BP</a:t>
            </a:r>
          </a:p>
        </p:txBody>
      </p:sp>
      <p:sp>
        <p:nvSpPr>
          <p:cNvPr id="2" name="">
            <a:extLst xmlns:a="http://schemas.openxmlformats.org/drawingml/2006/main">
              <a:ext uri="{FF2B5EF4-FFF2-40B4-BE49-F238E27FC236}">
                <a16:creationId xmlns:a16="http://schemas.microsoft.com/office/drawing/2014/main" id="{7C4B8D8D-CBD4-4487-AA60-B7CA898D90A2}"/>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BCE56D"/>
                </a:solidFill>
                <a:latin typeface="Calibri"/>
                <a:ea typeface="Calibri"/>
                <a:cs typeface="Calibri"/>
              </a:defRPr>
            </a:pPr>
            <a:r>
              <a:rPr sz="1200" b="1">
                <a:solidFill>
                  <a:srgbClr val="BCE56D"/>
                </a:solidFill>
                <a:latin typeface="Calibri"/>
                <a:ea typeface="Calibri"/>
                <a:cs typeface="Calibri"/>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4631600c61642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FC34D0-109B-4328-B6CB-70D3B933D96B}"/>
              </a:ext>
            </a:extLst>
          </p:cNvPr>
          <p:cNvSpPr>
            <a:spLocks xmlns:a="http://schemas.openxmlformats.org/drawingml/2006/main" noGrp="1"/>
          </p:cNvSpPr>
          <p:nvPr/>
        </p:nvSpPr>
        <p:spPr>
          <a:xfrm xmlns:a="http://schemas.openxmlformats.org/drawingml/2006/main">
            <a:off x="0" y="0"/>
            <a:ext cx="5048250" cy="6858000"/>
          </a:xfrm>
          <a:prstGeom xmlns:a="http://schemas.openxmlformats.org/drawingml/2006/main" prst="rect">
            <a:avLst/>
          </a:prstGeom>
          <a:solidFill xmlns:a="http://schemas.openxmlformats.org/drawingml/2006/main">
            <a:srgbClr val="092F2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781871-C97F-4C8A-B0B2-BC83561E43AD}"/>
              </a:ext>
            </a:extLst>
          </p:cNvPr>
          <p:cNvSpPr>
            <a:spLocks xmlns:a="http://schemas.openxmlformats.org/drawingml/2006/main" noGrp="1"/>
          </p:cNvSpPr>
          <p:nvPr/>
        </p:nvSpPr>
        <p:spPr>
          <a:xfrm xmlns:a="http://schemas.openxmlformats.org/drawingml/2006/main">
            <a:off x="514350" y="4572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BCE56D"/>
                </a:solidFill>
                <a:latin typeface="Calibri"/>
                <a:ea typeface="Calibri"/>
                <a:cs typeface="Calibri"/>
              </a:defRPr>
            </a:pPr>
            <a:r>
              <a:rPr sz="1275" b="1">
                <a:solidFill>
                  <a:srgbClr val="BCE56D"/>
                </a:solidFill>
                <a:latin typeface="Calibri"/>
                <a:ea typeface="Calibri"/>
                <a:cs typeface="Calibri"/>
              </a:rPr>
              <a:t>CHALLENGE 03 / GRID RELIABILITY</a:t>
            </a:r>
          </a:p>
        </p:txBody>
      </p:sp>
      <p:sp>
        <p:nvSpPr>
          <p:cNvPr id="6" name="">
            <a:extLst xmlns:a="http://schemas.openxmlformats.org/drawingml/2006/main">
              <a:ext uri="{FF2B5EF4-FFF2-40B4-BE49-F238E27FC236}">
                <a16:creationId xmlns:a16="http://schemas.microsoft.com/office/drawing/2014/main" id="{DAF301DA-3173-4D94-AEA0-F5E89BDA7047}"/>
              </a:ext>
            </a:extLst>
          </p:cNvPr>
          <p:cNvSpPr>
            <a:spLocks xmlns:a="http://schemas.openxmlformats.org/drawingml/2006/main" noGrp="1"/>
          </p:cNvSpPr>
          <p:nvPr/>
        </p:nvSpPr>
        <p:spPr>
          <a:xfrm xmlns:a="http://schemas.openxmlformats.org/drawingml/2006/main">
            <a:off x="514350" y="135255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GridMesh</a:t>
            </a:r>
          </a:p>
        </p:txBody>
      </p:sp>
      <p:sp>
        <p:nvSpPr>
          <p:cNvPr id="7" name="">
            <a:extLst xmlns:a="http://schemas.openxmlformats.org/drawingml/2006/main">
              <a:ext uri="{FF2B5EF4-FFF2-40B4-BE49-F238E27FC236}">
                <a16:creationId xmlns:a16="http://schemas.microsoft.com/office/drawing/2014/main" id="{806DA04F-011D-429C-8DBC-45303646296A}"/>
              </a:ext>
            </a:extLst>
          </p:cNvPr>
          <p:cNvSpPr>
            <a:spLocks xmlns:a="http://schemas.openxmlformats.org/drawingml/2006/main" noGrp="1"/>
          </p:cNvSpPr>
          <p:nvPr/>
        </p:nvSpPr>
        <p:spPr>
          <a:xfrm xmlns:a="http://schemas.openxmlformats.org/drawingml/2006/main">
            <a:off x="514350" y="2457450"/>
            <a:ext cx="42291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75" b="1">
                <a:solidFill>
                  <a:srgbClr val="FFFFFF"/>
                </a:solidFill>
                <a:latin typeface="Calibri"/>
                <a:ea typeface="Calibri"/>
                <a:cs typeface="Calibri"/>
              </a:defRPr>
            </a:pPr>
            <a:r>
              <a:rPr sz="2775" b="1">
                <a:solidFill>
                  <a:srgbClr val="FFFFFF"/>
                </a:solidFill>
                <a:latin typeface="Calibri"/>
                <a:ea typeface="Calibri"/>
                <a:cs typeface="Calibri"/>
              </a:rPr>
              <a:t>Solar forecasts that become feasible reserve decisions</a:t>
            </a:r>
          </a:p>
        </p:txBody>
      </p:sp>
      <p:sp>
        <p:nvSpPr>
          <p:cNvPr id="8" name="">
            <a:extLst xmlns:a="http://schemas.openxmlformats.org/drawingml/2006/main">
              <a:ext uri="{FF2B5EF4-FFF2-40B4-BE49-F238E27FC236}">
                <a16:creationId xmlns:a16="http://schemas.microsoft.com/office/drawing/2014/main" id="{F90B0EB5-1105-4759-90F7-E09282D4D2D6}"/>
              </a:ext>
            </a:extLst>
          </p:cNvPr>
          <p:cNvSpPr>
            <a:spLocks xmlns:a="http://schemas.openxmlformats.org/drawingml/2006/main" noGrp="1"/>
          </p:cNvSpPr>
          <p:nvPr/>
        </p:nvSpPr>
        <p:spPr>
          <a:xfrm xmlns:a="http://schemas.openxmlformats.org/drawingml/2006/main">
            <a:off x="514350" y="4362450"/>
            <a:ext cx="4238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DCE9E2"/>
                </a:solidFill>
                <a:latin typeface="Calibri"/>
                <a:ea typeface="Calibri"/>
                <a:cs typeface="Calibri"/>
              </a:defRPr>
            </a:pPr>
            <a:r>
              <a:rPr sz="1875" b="0">
                <a:solidFill>
                  <a:srgbClr val="DCE9E2"/>
                </a:solidFill>
                <a:latin typeface="Calibri"/>
                <a:ea typeface="Calibri"/>
                <a:cs typeface="Calibri"/>
              </a:rPr>
              <a:t>Federated learning protects site data.</a:t>
            </a:r>
          </a:p>
          <a:p xmlns:a="http://schemas.openxmlformats.org/drawingml/2006/main">
            <a:pPr algn="l">
              <a:defRPr sz="1875" b="0">
                <a:solidFill>
                  <a:srgbClr val="DCE9E2"/>
                </a:solidFill>
                <a:latin typeface="Calibri"/>
                <a:ea typeface="Calibri"/>
                <a:cs typeface="Calibri"/>
              </a:defRPr>
            </a:pPr>
            <a:r>
              <a:rPr sz="1875" b="0">
                <a:solidFill>
                  <a:srgbClr val="DCE9E2"/>
                </a:solidFill>
                <a:latin typeface="Calibri"/>
                <a:ea typeface="Calibri"/>
                <a:cs typeface="Calibri"/>
              </a:rPr>
              <a:t>A constrained scheduler protects reliability.</a:t>
            </a:r>
          </a:p>
        </p:txBody>
      </p:sp>
      <p:sp>
        <p:nvSpPr>
          <p:cNvPr id="9" name="">
            <a:extLst xmlns:a="http://schemas.openxmlformats.org/drawingml/2006/main">
              <a:ext uri="{FF2B5EF4-FFF2-40B4-BE49-F238E27FC236}">
                <a16:creationId xmlns:a16="http://schemas.microsoft.com/office/drawing/2014/main" id="{EF641C72-3508-434A-AAFD-647888BA25CF}"/>
              </a:ext>
            </a:extLst>
          </p:cNvPr>
          <p:cNvSpPr>
            <a:spLocks xmlns:a="http://schemas.openxmlformats.org/drawingml/2006/main" noGrp="1"/>
          </p:cNvSpPr>
          <p:nvPr/>
        </p:nvSpPr>
        <p:spPr>
          <a:xfrm xmlns:a="http://schemas.openxmlformats.org/drawingml/2006/main">
            <a:off x="514350" y="5981700"/>
            <a:ext cx="4191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BCE56D"/>
                </a:solidFill>
                <a:latin typeface="Calibri"/>
                <a:ea typeface="Calibri"/>
                <a:cs typeface="Calibri"/>
              </a:defRPr>
            </a:pPr>
            <a:r>
              <a:rPr sz="1650" b="1">
                <a:solidFill>
                  <a:srgbClr val="BCE56D"/>
                </a:solidFill>
                <a:latin typeface="Calibri"/>
                <a:ea typeface="Calibri"/>
                <a:cs typeface="Calibri"/>
              </a:rPr>
              <a:t>Team BP  ·  Round 1 proposal</a:t>
            </a:r>
          </a:p>
        </p:txBody>
      </p:sp>
    </p:spTree>
    <p:extLst>
      <p:ext uri="{BB962C8B-B14F-4D97-AF65-F5344CB8AC3E}">
        <p14:creationId xmlns:p14="http://schemas.microsoft.com/office/powerpoint/2010/main" val="258778723"/>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089778-8C76-4B82-B597-650F2630FDFB}"/>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The purpose: dependable solar for neighbourhoods</a:t>
            </a:r>
          </a:p>
        </p:txBody>
      </p:sp>
      <p:sp>
        <p:nvSpPr>
          <p:cNvPr id="2" name="">
            <a:extLst xmlns:a="http://schemas.openxmlformats.org/drawingml/2006/main">
              <a:ext uri="{FF2B5EF4-FFF2-40B4-BE49-F238E27FC236}">
                <a16:creationId xmlns:a16="http://schemas.microsoft.com/office/drawing/2014/main" id="{182BDADC-F1B0-4E34-84F1-C688F468FFF9}"/>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54F79927-A25A-4312-8434-6F6D6C656E13}"/>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02</a:t>
            </a:r>
          </a:p>
        </p:txBody>
      </p:sp>
      <p:sp>
        <p:nvSpPr>
          <p:cNvPr id="4" name="">
            <a:extLst xmlns:a="http://schemas.openxmlformats.org/drawingml/2006/main">
              <a:ext uri="{FF2B5EF4-FFF2-40B4-BE49-F238E27FC236}">
                <a16:creationId xmlns:a16="http://schemas.microsoft.com/office/drawing/2014/main" id="{11010F7D-6CA5-4841-B110-E4E870B8E0FD}"/>
              </a:ext>
            </a:extLst>
          </p:cNvPr>
          <p:cNvSpPr>
            <a:spLocks xmlns:a="http://schemas.openxmlformats.org/drawingml/2006/main" noGrp="1"/>
          </p:cNvSpPr>
          <p:nvPr/>
        </p:nvSpPr>
        <p:spPr>
          <a:xfrm xmlns:a="http://schemas.openxmlformats.org/drawingml/2006/main">
            <a:off x="609600" y="1676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73B35"/>
                </a:solidFill>
                <a:latin typeface="Calibri"/>
                <a:ea typeface="Calibri"/>
                <a:cs typeface="Calibri"/>
              </a:defRPr>
            </a:pPr>
            <a:r>
              <a:rPr sz="2325" b="1">
                <a:solidFill>
                  <a:srgbClr val="073B35"/>
                </a:solidFill>
                <a:latin typeface="Calibri"/>
                <a:ea typeface="Calibri"/>
                <a:cs typeface="Calibri"/>
              </a:rPr>
              <a:t>When clouds arrive, the operator faces two bad choices</a:t>
            </a:r>
          </a:p>
        </p:txBody>
      </p:sp>
      <p:sp>
        <p:nvSpPr>
          <p:cNvPr id="5" name="">
            <a:extLst xmlns:a="http://schemas.openxmlformats.org/drawingml/2006/main">
              <a:ext uri="{FF2B5EF4-FFF2-40B4-BE49-F238E27FC236}">
                <a16:creationId xmlns:a16="http://schemas.microsoft.com/office/drawing/2014/main" id="{C1C49A65-03B5-47E1-A85A-0B0B51AF7CFA}"/>
              </a:ext>
            </a:extLst>
          </p:cNvPr>
          <p:cNvSpPr>
            <a:spLocks xmlns:a="http://schemas.openxmlformats.org/drawingml/2006/main" noGrp="1"/>
          </p:cNvSpPr>
          <p:nvPr/>
        </p:nvSpPr>
        <p:spPr>
          <a:xfrm xmlns:a="http://schemas.openxmlformats.org/drawingml/2006/main">
            <a:off x="609600" y="25908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BB5B52"/>
                </a:solidFill>
                <a:latin typeface="Calibri"/>
                <a:ea typeface="Calibri"/>
                <a:cs typeface="Calibri"/>
              </a:defRPr>
            </a:pPr>
            <a:r>
              <a:rPr sz="2175" b="1">
                <a:solidFill>
                  <a:srgbClr val="BB5B52"/>
                </a:solidFill>
                <a:latin typeface="Calibri"/>
                <a:ea typeface="Calibri"/>
                <a:cs typeface="Calibri"/>
              </a:rPr>
              <a:t>Under-schedule backup</a:t>
            </a:r>
          </a:p>
        </p:txBody>
      </p:sp>
      <p:sp>
        <p:nvSpPr>
          <p:cNvPr id="6" name="">
            <a:extLst xmlns:a="http://schemas.openxmlformats.org/drawingml/2006/main">
              <a:ext uri="{FF2B5EF4-FFF2-40B4-BE49-F238E27FC236}">
                <a16:creationId xmlns:a16="http://schemas.microsoft.com/office/drawing/2014/main" id="{20BBC4B2-FA30-4EC7-BCC8-B69DD8B5872D}"/>
              </a:ext>
            </a:extLst>
          </p:cNvPr>
          <p:cNvSpPr>
            <a:spLocks xmlns:a="http://schemas.openxmlformats.org/drawingml/2006/main" noGrp="1"/>
          </p:cNvSpPr>
          <p:nvPr/>
        </p:nvSpPr>
        <p:spPr>
          <a:xfrm xmlns:a="http://schemas.openxmlformats.org/drawingml/2006/main">
            <a:off x="609600" y="31337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Unserved demand and fragile trust in solar</a:t>
            </a:r>
          </a:p>
        </p:txBody>
      </p:sp>
      <p:sp>
        <p:nvSpPr>
          <p:cNvPr id="7" name="">
            <a:extLst xmlns:a="http://schemas.openxmlformats.org/drawingml/2006/main">
              <a:ext uri="{FF2B5EF4-FFF2-40B4-BE49-F238E27FC236}">
                <a16:creationId xmlns:a16="http://schemas.microsoft.com/office/drawing/2014/main" id="{934E02D8-10B6-4922-9EFD-8EF740341DF5}"/>
              </a:ext>
            </a:extLst>
          </p:cNvPr>
          <p:cNvSpPr>
            <a:spLocks xmlns:a="http://schemas.openxmlformats.org/drawingml/2006/main" noGrp="1"/>
          </p:cNvSpPr>
          <p:nvPr/>
        </p:nvSpPr>
        <p:spPr>
          <a:xfrm xmlns:a="http://schemas.openxmlformats.org/drawingml/2006/main">
            <a:off x="6534150" y="25908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E0A35A"/>
                </a:solidFill>
                <a:latin typeface="Calibri"/>
                <a:ea typeface="Calibri"/>
                <a:cs typeface="Calibri"/>
              </a:defRPr>
            </a:pPr>
            <a:r>
              <a:rPr sz="2175" b="1">
                <a:solidFill>
                  <a:srgbClr val="E0A35A"/>
                </a:solidFill>
                <a:latin typeface="Calibri"/>
                <a:ea typeface="Calibri"/>
                <a:cs typeface="Calibri"/>
              </a:rPr>
              <a:t>Over-schedule backup</a:t>
            </a:r>
          </a:p>
        </p:txBody>
      </p:sp>
      <p:sp>
        <p:nvSpPr>
          <p:cNvPr id="8" name="">
            <a:extLst xmlns:a="http://schemas.openxmlformats.org/drawingml/2006/main">
              <a:ext uri="{FF2B5EF4-FFF2-40B4-BE49-F238E27FC236}">
                <a16:creationId xmlns:a16="http://schemas.microsoft.com/office/drawing/2014/main" id="{E100DBE6-E09E-47DA-A83C-BB9EF808FE0D}"/>
              </a:ext>
            </a:extLst>
          </p:cNvPr>
          <p:cNvSpPr>
            <a:spLocks xmlns:a="http://schemas.openxmlformats.org/drawingml/2006/main" noGrp="1"/>
          </p:cNvSpPr>
          <p:nvPr/>
        </p:nvSpPr>
        <p:spPr>
          <a:xfrm xmlns:a="http://schemas.openxmlformats.org/drawingml/2006/main">
            <a:off x="6534150" y="31337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Higher operating cost and avoidable resource use</a:t>
            </a:r>
          </a:p>
        </p:txBody>
      </p:sp>
      <p:sp>
        <p:nvSpPr>
          <p:cNvPr id="9" name="">
            <a:extLst xmlns:a="http://schemas.openxmlformats.org/drawingml/2006/main">
              <a:ext uri="{FF2B5EF4-FFF2-40B4-BE49-F238E27FC236}">
                <a16:creationId xmlns:a16="http://schemas.microsoft.com/office/drawing/2014/main" id="{813D161A-DCDD-4B95-A132-B54D96FC28F9}"/>
              </a:ext>
            </a:extLst>
          </p:cNvPr>
          <p:cNvSpPr>
            <a:spLocks xmlns:a="http://schemas.openxmlformats.org/drawingml/2006/main" noGrp="1"/>
          </p:cNvSpPr>
          <p:nvPr/>
        </p:nvSpPr>
        <p:spPr>
          <a:xfrm xmlns:a="http://schemas.openxmlformats.org/drawingml/2006/main">
            <a:off x="609600" y="4238625"/>
            <a:ext cx="10953750" cy="0"/>
          </a:xfrm>
          <a:prstGeom xmlns:a="http://schemas.openxmlformats.org/drawingml/2006/main" prst="line">
            <a:avLst/>
          </a:prstGeom>
          <a:ln xmlns:a="http://schemas.openxmlformats.org/drawingml/2006/main" w="19050">
            <a:solidFill>
              <a:srgbClr val="58716A"/>
            </a:solidFill>
          </a:ln>
        </p:spPr>
      </p:sp>
      <p:sp>
        <p:nvSpPr>
          <p:cNvPr id="10" name="">
            <a:extLst xmlns:a="http://schemas.openxmlformats.org/drawingml/2006/main">
              <a:ext uri="{FF2B5EF4-FFF2-40B4-BE49-F238E27FC236}">
                <a16:creationId xmlns:a16="http://schemas.microsoft.com/office/drawing/2014/main" id="{F5EC327A-C5BD-4FCD-AF8E-150F1991BDEB}"/>
              </a:ext>
            </a:extLst>
          </p:cNvPr>
          <p:cNvSpPr>
            <a:spLocks xmlns:a="http://schemas.openxmlformats.org/drawingml/2006/main" noGrp="1"/>
          </p:cNvSpPr>
          <p:nvPr/>
        </p:nvSpPr>
        <p:spPr>
          <a:xfrm xmlns:a="http://schemas.openxmlformats.org/drawingml/2006/main">
            <a:off x="609600" y="4591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73B35"/>
                </a:solidFill>
                <a:latin typeface="Calibri"/>
                <a:ea typeface="Calibri"/>
                <a:cs typeface="Calibri"/>
              </a:defRPr>
            </a:pPr>
            <a:r>
              <a:rPr sz="2325" b="1">
                <a:solidFill>
                  <a:srgbClr val="073B35"/>
                </a:solidFill>
                <a:latin typeface="Calibri"/>
                <a:ea typeface="Calibri"/>
                <a:cs typeface="Calibri"/>
              </a:rPr>
              <a:t>GridMesh turns site forecasts into one auditable decision</a:t>
            </a:r>
          </a:p>
        </p:txBody>
      </p:sp>
      <p:sp>
        <p:nvSpPr>
          <p:cNvPr id="11" name="">
            <a:extLst xmlns:a="http://schemas.openxmlformats.org/drawingml/2006/main">
              <a:ext uri="{FF2B5EF4-FFF2-40B4-BE49-F238E27FC236}">
                <a16:creationId xmlns:a16="http://schemas.microsoft.com/office/drawing/2014/main" id="{DD9136B7-9EBF-4BDD-8215-2528B6E8BA70}"/>
              </a:ext>
            </a:extLst>
          </p:cNvPr>
          <p:cNvSpPr>
            <a:spLocks xmlns:a="http://schemas.openxmlformats.org/drawingml/2006/main" noGrp="1"/>
          </p:cNvSpPr>
          <p:nvPr/>
        </p:nvSpPr>
        <p:spPr>
          <a:xfrm xmlns:a="http://schemas.openxmlformats.org/drawingml/2006/main">
            <a:off x="609600" y="535305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Who benefits</a:t>
            </a:r>
          </a:p>
        </p:txBody>
      </p:sp>
      <p:sp>
        <p:nvSpPr>
          <p:cNvPr id="12" name="">
            <a:extLst xmlns:a="http://schemas.openxmlformats.org/drawingml/2006/main">
              <a:ext uri="{FF2B5EF4-FFF2-40B4-BE49-F238E27FC236}">
                <a16:creationId xmlns:a16="http://schemas.microsoft.com/office/drawing/2014/main" id="{598A3897-221B-4FD0-97D9-9158714E31A7}"/>
              </a:ext>
            </a:extLst>
          </p:cNvPr>
          <p:cNvSpPr>
            <a:spLocks xmlns:a="http://schemas.openxmlformats.org/drawingml/2006/main" noGrp="1"/>
          </p:cNvSpPr>
          <p:nvPr/>
        </p:nvSpPr>
        <p:spPr>
          <a:xfrm xmlns:a="http://schemas.openxmlformats.org/drawingml/2006/main">
            <a:off x="609600" y="57626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Households and local businesses</a:t>
            </a:r>
          </a:p>
        </p:txBody>
      </p:sp>
      <p:sp>
        <p:nvSpPr>
          <p:cNvPr id="13" name="">
            <a:extLst xmlns:a="http://schemas.openxmlformats.org/drawingml/2006/main">
              <a:ext uri="{FF2B5EF4-FFF2-40B4-BE49-F238E27FC236}">
                <a16:creationId xmlns:a16="http://schemas.microsoft.com/office/drawing/2014/main" id="{B3F154D5-7E8B-4DD8-8787-C1620638CF03}"/>
              </a:ext>
            </a:extLst>
          </p:cNvPr>
          <p:cNvSpPr>
            <a:spLocks xmlns:a="http://schemas.openxmlformats.org/drawingml/2006/main" noGrp="1"/>
          </p:cNvSpPr>
          <p:nvPr/>
        </p:nvSpPr>
        <p:spPr>
          <a:xfrm xmlns:a="http://schemas.openxmlformats.org/drawingml/2006/main">
            <a:off x="4476750" y="535305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Who operates it</a:t>
            </a:r>
          </a:p>
        </p:txBody>
      </p:sp>
      <p:sp>
        <p:nvSpPr>
          <p:cNvPr id="14" name="">
            <a:extLst xmlns:a="http://schemas.openxmlformats.org/drawingml/2006/main">
              <a:ext uri="{FF2B5EF4-FFF2-40B4-BE49-F238E27FC236}">
                <a16:creationId xmlns:a16="http://schemas.microsoft.com/office/drawing/2014/main" id="{379709FC-2C1F-486B-958B-5B2AA2D4B980}"/>
              </a:ext>
            </a:extLst>
          </p:cNvPr>
          <p:cNvSpPr>
            <a:spLocks xmlns:a="http://schemas.openxmlformats.org/drawingml/2006/main" noGrp="1"/>
          </p:cNvSpPr>
          <p:nvPr/>
        </p:nvSpPr>
        <p:spPr>
          <a:xfrm xmlns:a="http://schemas.openxmlformats.org/drawingml/2006/main">
            <a:off x="4476750" y="576262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Community operator with DISCOM oversight</a:t>
            </a:r>
          </a:p>
        </p:txBody>
      </p:sp>
      <p:sp>
        <p:nvSpPr>
          <p:cNvPr id="15" name="">
            <a:extLst xmlns:a="http://schemas.openxmlformats.org/drawingml/2006/main">
              <a:ext uri="{FF2B5EF4-FFF2-40B4-BE49-F238E27FC236}">
                <a16:creationId xmlns:a16="http://schemas.microsoft.com/office/drawing/2014/main" id="{2924076D-B040-4A40-9960-4172E0319D57}"/>
              </a:ext>
            </a:extLst>
          </p:cNvPr>
          <p:cNvSpPr>
            <a:spLocks xmlns:a="http://schemas.openxmlformats.org/drawingml/2006/main" noGrp="1"/>
          </p:cNvSpPr>
          <p:nvPr/>
        </p:nvSpPr>
        <p:spPr>
          <a:xfrm xmlns:a="http://schemas.openxmlformats.org/drawingml/2006/main">
            <a:off x="8810625" y="53530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What changes</a:t>
            </a:r>
          </a:p>
        </p:txBody>
      </p:sp>
      <p:sp>
        <p:nvSpPr>
          <p:cNvPr id="16" name="">
            <a:extLst xmlns:a="http://schemas.openxmlformats.org/drawingml/2006/main">
              <a:ext uri="{FF2B5EF4-FFF2-40B4-BE49-F238E27FC236}">
                <a16:creationId xmlns:a16="http://schemas.microsoft.com/office/drawing/2014/main" id="{091E5A65-0FF5-4833-9E71-E549825D2B8A}"/>
              </a:ext>
            </a:extLst>
          </p:cNvPr>
          <p:cNvSpPr>
            <a:spLocks xmlns:a="http://schemas.openxmlformats.org/drawingml/2006/main" noGrp="1"/>
          </p:cNvSpPr>
          <p:nvPr/>
        </p:nvSpPr>
        <p:spPr>
          <a:xfrm xmlns:a="http://schemas.openxmlformats.org/drawingml/2006/main">
            <a:off x="8810625" y="576262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Backup follows measured risk</a:t>
            </a:r>
          </a:p>
        </p:txBody>
      </p:sp>
    </p:spTree>
    <p:extLst>
      <p:ext uri="{BB962C8B-B14F-4D97-AF65-F5344CB8AC3E}">
        <p14:creationId xmlns:p14="http://schemas.microsoft.com/office/powerpoint/2010/main" val="768085816"/>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565B516-F34B-4236-894C-B1CACB3192DA}"/>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A simple operator journey</a:t>
            </a:r>
          </a:p>
        </p:txBody>
      </p:sp>
      <p:sp>
        <p:nvSpPr>
          <p:cNvPr id="2" name="">
            <a:extLst xmlns:a="http://schemas.openxmlformats.org/drawingml/2006/main">
              <a:ext uri="{FF2B5EF4-FFF2-40B4-BE49-F238E27FC236}">
                <a16:creationId xmlns:a16="http://schemas.microsoft.com/office/drawing/2014/main" id="{70A83D33-16F4-4014-800D-992F9F598DDC}"/>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486DF205-5139-4512-904F-8E481956EC51}"/>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03</a:t>
            </a:r>
          </a:p>
        </p:txBody>
      </p:sp>
      <p:sp>
        <p:nvSpPr>
          <p:cNvPr id="4" name="">
            <a:extLst xmlns:a="http://schemas.openxmlformats.org/drawingml/2006/main">
              <a:ext uri="{FF2B5EF4-FFF2-40B4-BE49-F238E27FC236}">
                <a16:creationId xmlns:a16="http://schemas.microsoft.com/office/drawing/2014/main" id="{339E6569-8311-46A9-95A0-CD2363C70973}"/>
              </a:ext>
            </a:extLst>
          </p:cNvPr>
          <p:cNvSpPr>
            <a:spLocks xmlns:a="http://schemas.openxmlformats.org/drawingml/2006/main" noGrp="1"/>
          </p:cNvSpPr>
          <p:nvPr/>
        </p:nvSpPr>
        <p:spPr>
          <a:xfrm xmlns:a="http://schemas.openxmlformats.org/drawingml/2006/main">
            <a:off x="609600" y="1981200"/>
            <a:ext cx="2190750" cy="1381125"/>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5" name="">
            <a:extLst xmlns:a="http://schemas.openxmlformats.org/drawingml/2006/main">
              <a:ext uri="{FF2B5EF4-FFF2-40B4-BE49-F238E27FC236}">
                <a16:creationId xmlns:a16="http://schemas.microsoft.com/office/drawing/2014/main" id="{3AF8633F-B180-4C85-9D12-8D7724805A98}"/>
              </a:ext>
            </a:extLst>
          </p:cNvPr>
          <p:cNvSpPr>
            <a:spLocks xmlns:a="http://schemas.openxmlformats.org/drawingml/2006/main" noGrp="1"/>
          </p:cNvSpPr>
          <p:nvPr/>
        </p:nvSpPr>
        <p:spPr>
          <a:xfrm xmlns:a="http://schemas.openxmlformats.org/drawingml/2006/main">
            <a:off x="781050" y="2095500"/>
            <a:ext cx="1847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1  Solar site</a:t>
            </a:r>
          </a:p>
        </p:txBody>
      </p:sp>
      <p:sp>
        <p:nvSpPr>
          <p:cNvPr id="6" name="">
            <a:extLst xmlns:a="http://schemas.openxmlformats.org/drawingml/2006/main">
              <a:ext uri="{FF2B5EF4-FFF2-40B4-BE49-F238E27FC236}">
                <a16:creationId xmlns:a16="http://schemas.microsoft.com/office/drawing/2014/main" id="{F3D86100-F23C-4B5E-92FF-596103F49CC3}"/>
              </a:ext>
            </a:extLst>
          </p:cNvPr>
          <p:cNvSpPr>
            <a:spLocks xmlns:a="http://schemas.openxmlformats.org/drawingml/2006/main" noGrp="1"/>
          </p:cNvSpPr>
          <p:nvPr/>
        </p:nvSpPr>
        <p:spPr>
          <a:xfrm xmlns:a="http://schemas.openxmlformats.org/drawingml/2006/main">
            <a:off x="781050" y="2476500"/>
            <a:ext cx="1847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Forecast locally from site history and weather</a:t>
            </a:r>
          </a:p>
        </p:txBody>
      </p:sp>
      <p:sp>
        <p:nvSpPr>
          <p:cNvPr id="7" name="">
            <a:extLst xmlns:a="http://schemas.openxmlformats.org/drawingml/2006/main">
              <a:ext uri="{FF2B5EF4-FFF2-40B4-BE49-F238E27FC236}">
                <a16:creationId xmlns:a16="http://schemas.microsoft.com/office/drawing/2014/main" id="{8C429BBF-950D-4F43-AA65-A72B3981274F}"/>
              </a:ext>
            </a:extLst>
          </p:cNvPr>
          <p:cNvSpPr>
            <a:spLocks xmlns:a="http://schemas.openxmlformats.org/drawingml/2006/main" noGrp="1"/>
          </p:cNvSpPr>
          <p:nvPr/>
        </p:nvSpPr>
        <p:spPr>
          <a:xfrm xmlns:a="http://schemas.openxmlformats.org/drawingml/2006/main">
            <a:off x="3390900" y="1981200"/>
            <a:ext cx="2381250" cy="1381125"/>
          </a:xfrm>
          <a:prstGeom xmlns:a="http://schemas.openxmlformats.org/drawingml/2006/main" prst="rect">
            <a:avLst/>
          </a:prstGeom>
          <a:solidFill xmlns:a="http://schemas.openxmlformats.org/drawingml/2006/main">
            <a:srgbClr val="092F2C"/>
          </a:solidFill>
          <a:ln xmlns:a="http://schemas.openxmlformats.org/drawingml/2006/main" w="9525">
            <a:solidFill>
              <a:srgbClr val="092F2C"/>
            </a:solidFill>
          </a:ln>
        </p:spPr>
      </p:sp>
      <p:sp>
        <p:nvSpPr>
          <p:cNvPr id="8" name="">
            <a:extLst xmlns:a="http://schemas.openxmlformats.org/drawingml/2006/main">
              <a:ext uri="{FF2B5EF4-FFF2-40B4-BE49-F238E27FC236}">
                <a16:creationId xmlns:a16="http://schemas.microsoft.com/office/drawing/2014/main" id="{F69F8FCA-2A97-485F-BFEA-5F7AADE47D96}"/>
              </a:ext>
            </a:extLst>
          </p:cNvPr>
          <p:cNvSpPr>
            <a:spLocks xmlns:a="http://schemas.openxmlformats.org/drawingml/2006/main" noGrp="1"/>
          </p:cNvSpPr>
          <p:nvPr/>
        </p:nvSpPr>
        <p:spPr>
          <a:xfrm xmlns:a="http://schemas.openxmlformats.org/drawingml/2006/main">
            <a:off x="3562350" y="2095500"/>
            <a:ext cx="203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Calibri"/>
                <a:ea typeface="Calibri"/>
                <a:cs typeface="Calibri"/>
              </a:defRPr>
            </a:pPr>
            <a:r>
              <a:rPr sz="1875" b="1">
                <a:solidFill>
                  <a:srgbClr val="FFFFFF"/>
                </a:solidFill>
                <a:latin typeface="Calibri"/>
                <a:ea typeface="Calibri"/>
                <a:cs typeface="Calibri"/>
              </a:rPr>
              <a:t>2  Coordinator</a:t>
            </a:r>
          </a:p>
        </p:txBody>
      </p:sp>
      <p:sp>
        <p:nvSpPr>
          <p:cNvPr id="9" name="">
            <a:extLst xmlns:a="http://schemas.openxmlformats.org/drawingml/2006/main">
              <a:ext uri="{FF2B5EF4-FFF2-40B4-BE49-F238E27FC236}">
                <a16:creationId xmlns:a16="http://schemas.microsoft.com/office/drawing/2014/main" id="{FF512F27-ADC5-4CDD-B957-9985A5619721}"/>
              </a:ext>
            </a:extLst>
          </p:cNvPr>
          <p:cNvSpPr>
            <a:spLocks xmlns:a="http://schemas.openxmlformats.org/drawingml/2006/main" noGrp="1"/>
          </p:cNvSpPr>
          <p:nvPr/>
        </p:nvSpPr>
        <p:spPr>
          <a:xfrm xmlns:a="http://schemas.openxmlformats.org/drawingml/2006/main">
            <a:off x="3562350" y="2476500"/>
            <a:ext cx="2038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Weight updates by data volume, quality and trust</a:t>
            </a:r>
          </a:p>
        </p:txBody>
      </p:sp>
      <p:sp>
        <p:nvSpPr>
          <p:cNvPr id="10" name="">
            <a:extLst xmlns:a="http://schemas.openxmlformats.org/drawingml/2006/main">
              <a:ext uri="{FF2B5EF4-FFF2-40B4-BE49-F238E27FC236}">
                <a16:creationId xmlns:a16="http://schemas.microsoft.com/office/drawing/2014/main" id="{BB76869A-4CA2-42CB-9F32-F2A0A544451E}"/>
              </a:ext>
            </a:extLst>
          </p:cNvPr>
          <p:cNvSpPr>
            <a:spLocks xmlns:a="http://schemas.openxmlformats.org/drawingml/2006/main" noGrp="1"/>
          </p:cNvSpPr>
          <p:nvPr/>
        </p:nvSpPr>
        <p:spPr>
          <a:xfrm xmlns:a="http://schemas.openxmlformats.org/drawingml/2006/main">
            <a:off x="6362700" y="1981200"/>
            <a:ext cx="2428875" cy="1381125"/>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11" name="">
            <a:extLst xmlns:a="http://schemas.openxmlformats.org/drawingml/2006/main">
              <a:ext uri="{FF2B5EF4-FFF2-40B4-BE49-F238E27FC236}">
                <a16:creationId xmlns:a16="http://schemas.microsoft.com/office/drawing/2014/main" id="{D6679A52-DDFF-4B2D-8D10-4ECD103B994D}"/>
              </a:ext>
            </a:extLst>
          </p:cNvPr>
          <p:cNvSpPr>
            <a:spLocks xmlns:a="http://schemas.openxmlformats.org/drawingml/2006/main" noGrp="1"/>
          </p:cNvSpPr>
          <p:nvPr/>
        </p:nvSpPr>
        <p:spPr>
          <a:xfrm xmlns:a="http://schemas.openxmlformats.org/drawingml/2006/main">
            <a:off x="6534150" y="2095500"/>
            <a:ext cx="2085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3  Node advisor</a:t>
            </a:r>
          </a:p>
        </p:txBody>
      </p:sp>
      <p:sp>
        <p:nvSpPr>
          <p:cNvPr id="12" name="">
            <a:extLst xmlns:a="http://schemas.openxmlformats.org/drawingml/2006/main">
              <a:ext uri="{FF2B5EF4-FFF2-40B4-BE49-F238E27FC236}">
                <a16:creationId xmlns:a16="http://schemas.microsoft.com/office/drawing/2014/main" id="{728EBF3A-2469-4809-82B9-DDBD4E6B390D}"/>
              </a:ext>
            </a:extLst>
          </p:cNvPr>
          <p:cNvSpPr>
            <a:spLocks xmlns:a="http://schemas.openxmlformats.org/drawingml/2006/main" noGrp="1"/>
          </p:cNvSpPr>
          <p:nvPr/>
        </p:nvSpPr>
        <p:spPr>
          <a:xfrm xmlns:a="http://schemas.openxmlformats.org/drawingml/2006/main">
            <a:off x="6534150" y="2476500"/>
            <a:ext cx="20859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Combine demand, forecast uncertainty and asset limits</a:t>
            </a:r>
          </a:p>
        </p:txBody>
      </p:sp>
      <p:sp>
        <p:nvSpPr>
          <p:cNvPr id="13" name="">
            <a:extLst xmlns:a="http://schemas.openxmlformats.org/drawingml/2006/main">
              <a:ext uri="{FF2B5EF4-FFF2-40B4-BE49-F238E27FC236}">
                <a16:creationId xmlns:a16="http://schemas.microsoft.com/office/drawing/2014/main" id="{6EE89538-5217-4B92-BCCC-0AF602F0187C}"/>
              </a:ext>
            </a:extLst>
          </p:cNvPr>
          <p:cNvSpPr>
            <a:spLocks xmlns:a="http://schemas.openxmlformats.org/drawingml/2006/main" noGrp="1"/>
          </p:cNvSpPr>
          <p:nvPr/>
        </p:nvSpPr>
        <p:spPr>
          <a:xfrm xmlns:a="http://schemas.openxmlformats.org/drawingml/2006/main">
            <a:off x="9382125" y="1981200"/>
            <a:ext cx="2190750" cy="1381125"/>
          </a:xfrm>
          <a:prstGeom xmlns:a="http://schemas.openxmlformats.org/drawingml/2006/main" prst="rect">
            <a:avLst/>
          </a:prstGeom>
          <a:solidFill xmlns:a="http://schemas.openxmlformats.org/drawingml/2006/main">
            <a:srgbClr val="092F2C"/>
          </a:solidFill>
          <a:ln xmlns:a="http://schemas.openxmlformats.org/drawingml/2006/main" w="9525">
            <a:solidFill>
              <a:srgbClr val="092F2C"/>
            </a:solidFill>
          </a:ln>
        </p:spPr>
      </p:sp>
      <p:sp>
        <p:nvSpPr>
          <p:cNvPr id="14" name="">
            <a:extLst xmlns:a="http://schemas.openxmlformats.org/drawingml/2006/main">
              <a:ext uri="{FF2B5EF4-FFF2-40B4-BE49-F238E27FC236}">
                <a16:creationId xmlns:a16="http://schemas.microsoft.com/office/drawing/2014/main" id="{B0BD465F-F1B1-49C4-89A7-2B49A882BBFD}"/>
              </a:ext>
            </a:extLst>
          </p:cNvPr>
          <p:cNvSpPr>
            <a:spLocks xmlns:a="http://schemas.openxmlformats.org/drawingml/2006/main" noGrp="1"/>
          </p:cNvSpPr>
          <p:nvPr/>
        </p:nvSpPr>
        <p:spPr>
          <a:xfrm xmlns:a="http://schemas.openxmlformats.org/drawingml/2006/main">
            <a:off x="9553575" y="2095500"/>
            <a:ext cx="1847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Calibri"/>
                <a:ea typeface="Calibri"/>
                <a:cs typeface="Calibri"/>
              </a:defRPr>
            </a:pPr>
            <a:r>
              <a:rPr sz="1875" b="1">
                <a:solidFill>
                  <a:srgbClr val="FFFFFF"/>
                </a:solidFill>
                <a:latin typeface="Calibri"/>
                <a:ea typeface="Calibri"/>
                <a:cs typeface="Calibri"/>
              </a:rPr>
              <a:t>4  Operator</a:t>
            </a:r>
          </a:p>
        </p:txBody>
      </p:sp>
      <p:sp>
        <p:nvSpPr>
          <p:cNvPr id="15" name="">
            <a:extLst xmlns:a="http://schemas.openxmlformats.org/drawingml/2006/main">
              <a:ext uri="{FF2B5EF4-FFF2-40B4-BE49-F238E27FC236}">
                <a16:creationId xmlns:a16="http://schemas.microsoft.com/office/drawing/2014/main" id="{D2DADD78-2AC1-4D88-B70C-E1363F16EE0B}"/>
              </a:ext>
            </a:extLst>
          </p:cNvPr>
          <p:cNvSpPr>
            <a:spLocks xmlns:a="http://schemas.openxmlformats.org/drawingml/2006/main" noGrp="1"/>
          </p:cNvSpPr>
          <p:nvPr/>
        </p:nvSpPr>
        <p:spPr>
          <a:xfrm xmlns:a="http://schemas.openxmlformats.org/drawingml/2006/main">
            <a:off x="9553575" y="2476500"/>
            <a:ext cx="1847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Approve backup schedule or flag a capacity gap</a:t>
            </a:r>
          </a:p>
        </p:txBody>
      </p:sp>
      <p:sp>
        <p:nvSpPr>
          <p:cNvPr id="16" name="">
            <a:extLst xmlns:a="http://schemas.openxmlformats.org/drawingml/2006/main">
              <a:ext uri="{FF2B5EF4-FFF2-40B4-BE49-F238E27FC236}">
                <a16:creationId xmlns:a16="http://schemas.microsoft.com/office/drawing/2014/main" id="{28CF5680-D3A4-44F3-ABB6-8A9ABA108CB5}"/>
              </a:ext>
            </a:extLst>
          </p:cNvPr>
          <p:cNvSpPr>
            <a:spLocks xmlns:a="http://schemas.openxmlformats.org/drawingml/2006/main" noGrp="1"/>
          </p:cNvSpPr>
          <p:nvPr/>
        </p:nvSpPr>
        <p:spPr>
          <a:xfrm xmlns:a="http://schemas.openxmlformats.org/drawingml/2006/main">
            <a:off x="2800350" y="2676525"/>
            <a:ext cx="466725" cy="0"/>
          </a:xfrm>
          <a:prstGeom xmlns:a="http://schemas.openxmlformats.org/drawingml/2006/main" prst="line">
            <a:avLst/>
          </a:prstGeom>
          <a:ln xmlns:a="http://schemas.openxmlformats.org/drawingml/2006/main" w="28575">
            <a:solidFill>
              <a:srgbClr val="4E7D61"/>
            </a:solidFill>
          </a:ln>
        </p:spPr>
      </p:sp>
      <p:sp>
        <p:nvSpPr>
          <p:cNvPr id="17" name="">
            <a:extLst xmlns:a="http://schemas.openxmlformats.org/drawingml/2006/main">
              <a:ext uri="{FF2B5EF4-FFF2-40B4-BE49-F238E27FC236}">
                <a16:creationId xmlns:a16="http://schemas.microsoft.com/office/drawing/2014/main" id="{FCFBEC03-E5FB-48FA-A06B-CC0B319B7505}"/>
              </a:ext>
            </a:extLst>
          </p:cNvPr>
          <p:cNvSpPr>
            <a:spLocks xmlns:a="http://schemas.openxmlformats.org/drawingml/2006/main" noGrp="1"/>
          </p:cNvSpPr>
          <p:nvPr/>
        </p:nvSpPr>
        <p:spPr>
          <a:xfrm xmlns:a="http://schemas.openxmlformats.org/drawingml/2006/main">
            <a:off x="3152775" y="24288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18" name="">
            <a:extLst xmlns:a="http://schemas.openxmlformats.org/drawingml/2006/main">
              <a:ext uri="{FF2B5EF4-FFF2-40B4-BE49-F238E27FC236}">
                <a16:creationId xmlns:a16="http://schemas.microsoft.com/office/drawing/2014/main" id="{CE488667-9EB3-4677-87B2-BFF22DF484E3}"/>
              </a:ext>
            </a:extLst>
          </p:cNvPr>
          <p:cNvSpPr>
            <a:spLocks xmlns:a="http://schemas.openxmlformats.org/drawingml/2006/main" noGrp="1"/>
          </p:cNvSpPr>
          <p:nvPr/>
        </p:nvSpPr>
        <p:spPr>
          <a:xfrm xmlns:a="http://schemas.openxmlformats.org/drawingml/2006/main">
            <a:off x="5772150" y="2676525"/>
            <a:ext cx="466725" cy="0"/>
          </a:xfrm>
          <a:prstGeom xmlns:a="http://schemas.openxmlformats.org/drawingml/2006/main" prst="line">
            <a:avLst/>
          </a:prstGeom>
          <a:ln xmlns:a="http://schemas.openxmlformats.org/drawingml/2006/main" w="28575">
            <a:solidFill>
              <a:srgbClr val="4E7D61"/>
            </a:solidFill>
          </a:ln>
        </p:spPr>
      </p:sp>
      <p:sp>
        <p:nvSpPr>
          <p:cNvPr id="19" name="">
            <a:extLst xmlns:a="http://schemas.openxmlformats.org/drawingml/2006/main">
              <a:ext uri="{FF2B5EF4-FFF2-40B4-BE49-F238E27FC236}">
                <a16:creationId xmlns:a16="http://schemas.microsoft.com/office/drawing/2014/main" id="{BAB17680-69CF-4C77-890F-3BFB3AE232B8}"/>
              </a:ext>
            </a:extLst>
          </p:cNvPr>
          <p:cNvSpPr>
            <a:spLocks xmlns:a="http://schemas.openxmlformats.org/drawingml/2006/main" noGrp="1"/>
          </p:cNvSpPr>
          <p:nvPr/>
        </p:nvSpPr>
        <p:spPr>
          <a:xfrm xmlns:a="http://schemas.openxmlformats.org/drawingml/2006/main">
            <a:off x="6124575" y="24288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20" name="">
            <a:extLst xmlns:a="http://schemas.openxmlformats.org/drawingml/2006/main">
              <a:ext uri="{FF2B5EF4-FFF2-40B4-BE49-F238E27FC236}">
                <a16:creationId xmlns:a16="http://schemas.microsoft.com/office/drawing/2014/main" id="{A7229D1D-0965-4EEA-81AF-484463F27458}"/>
              </a:ext>
            </a:extLst>
          </p:cNvPr>
          <p:cNvSpPr>
            <a:spLocks xmlns:a="http://schemas.openxmlformats.org/drawingml/2006/main" noGrp="1"/>
          </p:cNvSpPr>
          <p:nvPr/>
        </p:nvSpPr>
        <p:spPr>
          <a:xfrm xmlns:a="http://schemas.openxmlformats.org/drawingml/2006/main">
            <a:off x="8791575" y="2676525"/>
            <a:ext cx="466725" cy="0"/>
          </a:xfrm>
          <a:prstGeom xmlns:a="http://schemas.openxmlformats.org/drawingml/2006/main" prst="line">
            <a:avLst/>
          </a:prstGeom>
          <a:ln xmlns:a="http://schemas.openxmlformats.org/drawingml/2006/main" w="28575">
            <a:solidFill>
              <a:srgbClr val="4E7D61"/>
            </a:solidFill>
          </a:ln>
        </p:spPr>
      </p:sp>
      <p:sp>
        <p:nvSpPr>
          <p:cNvPr id="21" name="">
            <a:extLst xmlns:a="http://schemas.openxmlformats.org/drawingml/2006/main">
              <a:ext uri="{FF2B5EF4-FFF2-40B4-BE49-F238E27FC236}">
                <a16:creationId xmlns:a16="http://schemas.microsoft.com/office/drawing/2014/main" id="{DFB1BDC3-1743-476C-A0A1-9D69D49FF996}"/>
              </a:ext>
            </a:extLst>
          </p:cNvPr>
          <p:cNvSpPr>
            <a:spLocks xmlns:a="http://schemas.openxmlformats.org/drawingml/2006/main" noGrp="1"/>
          </p:cNvSpPr>
          <p:nvPr/>
        </p:nvSpPr>
        <p:spPr>
          <a:xfrm xmlns:a="http://schemas.openxmlformats.org/drawingml/2006/main">
            <a:off x="9144000" y="24288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22" name="">
            <a:extLst xmlns:a="http://schemas.openxmlformats.org/drawingml/2006/main">
              <a:ext uri="{FF2B5EF4-FFF2-40B4-BE49-F238E27FC236}">
                <a16:creationId xmlns:a16="http://schemas.microsoft.com/office/drawing/2014/main" id="{8A71F4EB-5777-4E0D-9535-EBE9D78E254D}"/>
              </a:ext>
            </a:extLst>
          </p:cNvPr>
          <p:cNvSpPr>
            <a:spLocks xmlns:a="http://schemas.openxmlformats.org/drawingml/2006/main" noGrp="1"/>
          </p:cNvSpPr>
          <p:nvPr/>
        </p:nvSpPr>
        <p:spPr>
          <a:xfrm xmlns:a="http://schemas.openxmlformats.org/drawingml/2006/main">
            <a:off x="609600" y="40957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4E7D61"/>
                </a:solidFill>
                <a:latin typeface="Calibri"/>
                <a:ea typeface="Calibri"/>
                <a:cs typeface="Calibri"/>
              </a:defRPr>
            </a:pPr>
            <a:r>
              <a:rPr sz="2025" b="1">
                <a:solidFill>
                  <a:srgbClr val="4E7D61"/>
                </a:solidFill>
                <a:latin typeface="Calibri"/>
                <a:ea typeface="Calibri"/>
                <a:cs typeface="Calibri"/>
              </a:rPr>
              <a:t>Raw time series stay at each site</a:t>
            </a:r>
          </a:p>
        </p:txBody>
      </p:sp>
      <p:sp>
        <p:nvSpPr>
          <p:cNvPr id="23" name="">
            <a:extLst xmlns:a="http://schemas.openxmlformats.org/drawingml/2006/main">
              <a:ext uri="{FF2B5EF4-FFF2-40B4-BE49-F238E27FC236}">
                <a16:creationId xmlns:a16="http://schemas.microsoft.com/office/drawing/2014/main" id="{589920AB-17D1-4C67-B602-51E5C21A41E3}"/>
              </a:ext>
            </a:extLst>
          </p:cNvPr>
          <p:cNvSpPr>
            <a:spLocks xmlns:a="http://schemas.openxmlformats.org/drawingml/2006/main" noGrp="1"/>
          </p:cNvSpPr>
          <p:nvPr/>
        </p:nvSpPr>
        <p:spPr>
          <a:xfrm xmlns:a="http://schemas.openxmlformats.org/drawingml/2006/main">
            <a:off x="4400550" y="40957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73B35"/>
                </a:solidFill>
                <a:latin typeface="Calibri"/>
                <a:ea typeface="Calibri"/>
                <a:cs typeface="Calibri"/>
              </a:defRPr>
            </a:pPr>
            <a:r>
              <a:rPr sz="2025" b="1">
                <a:solidFill>
                  <a:srgbClr val="073B35"/>
                </a:solidFill>
                <a:latin typeface="Calibri"/>
                <a:ea typeface="Calibri"/>
                <a:cs typeface="Calibri"/>
              </a:rPr>
              <a:t>Model updates cross the network</a:t>
            </a:r>
          </a:p>
        </p:txBody>
      </p:sp>
      <p:sp>
        <p:nvSpPr>
          <p:cNvPr id="24" name="">
            <a:extLst xmlns:a="http://schemas.openxmlformats.org/drawingml/2006/main">
              <a:ext uri="{FF2B5EF4-FFF2-40B4-BE49-F238E27FC236}">
                <a16:creationId xmlns:a16="http://schemas.microsoft.com/office/drawing/2014/main" id="{E0A52AA5-4334-4903-89BB-9795B12F2816}"/>
              </a:ext>
            </a:extLst>
          </p:cNvPr>
          <p:cNvSpPr>
            <a:spLocks xmlns:a="http://schemas.openxmlformats.org/drawingml/2006/main" noGrp="1"/>
          </p:cNvSpPr>
          <p:nvPr/>
        </p:nvSpPr>
        <p:spPr>
          <a:xfrm xmlns:a="http://schemas.openxmlformats.org/drawingml/2006/main">
            <a:off x="8239125" y="40957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4E7D61"/>
                </a:solidFill>
                <a:latin typeface="Calibri"/>
                <a:ea typeface="Calibri"/>
                <a:cs typeface="Calibri"/>
              </a:defRPr>
            </a:pPr>
            <a:r>
              <a:rPr sz="2025" b="1">
                <a:solidFill>
                  <a:srgbClr val="4E7D61"/>
                </a:solidFill>
                <a:latin typeface="Calibri"/>
                <a:ea typeface="Calibri"/>
                <a:cs typeface="Calibri"/>
              </a:rPr>
              <a:t>Dispatch remains human-approved</a:t>
            </a:r>
          </a:p>
        </p:txBody>
      </p:sp>
      <p:sp>
        <p:nvSpPr>
          <p:cNvPr id="25" name="">
            <a:extLst xmlns:a="http://schemas.openxmlformats.org/drawingml/2006/main">
              <a:ext uri="{FF2B5EF4-FFF2-40B4-BE49-F238E27FC236}">
                <a16:creationId xmlns:a16="http://schemas.microsoft.com/office/drawing/2014/main" id="{09D9F300-8C42-4A2C-B326-B61AAF428270}"/>
              </a:ext>
            </a:extLst>
          </p:cNvPr>
          <p:cNvSpPr>
            <a:spLocks xmlns:a="http://schemas.openxmlformats.org/drawingml/2006/main" noGrp="1"/>
          </p:cNvSpPr>
          <p:nvPr/>
        </p:nvSpPr>
        <p:spPr>
          <a:xfrm xmlns:a="http://schemas.openxmlformats.org/drawingml/2006/main">
            <a:off x="609600" y="50387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Layperson view</a:t>
            </a:r>
          </a:p>
        </p:txBody>
      </p:sp>
      <p:sp>
        <p:nvSpPr>
          <p:cNvPr id="26" name="">
            <a:extLst xmlns:a="http://schemas.openxmlformats.org/drawingml/2006/main">
              <a:ext uri="{FF2B5EF4-FFF2-40B4-BE49-F238E27FC236}">
                <a16:creationId xmlns:a16="http://schemas.microsoft.com/office/drawing/2014/main" id="{374088A1-578C-4B37-91C5-A6227EDD1C40}"/>
              </a:ext>
            </a:extLst>
          </p:cNvPr>
          <p:cNvSpPr>
            <a:spLocks xmlns:a="http://schemas.openxmlformats.org/drawingml/2006/main" noGrp="1"/>
          </p:cNvSpPr>
          <p:nvPr/>
        </p:nvSpPr>
        <p:spPr>
          <a:xfrm xmlns:a="http://schemas.openxmlformats.org/drawingml/2006/main">
            <a:off x="609600" y="54673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73B35"/>
                </a:solidFill>
                <a:latin typeface="Calibri"/>
                <a:ea typeface="Calibri"/>
                <a:cs typeface="Calibri"/>
              </a:defRPr>
            </a:pPr>
            <a:r>
              <a:rPr sz="2175" b="1">
                <a:solidFill>
                  <a:srgbClr val="073B35"/>
                </a:solidFill>
                <a:latin typeface="Calibri"/>
                <a:ea typeface="Calibri"/>
                <a:cs typeface="Calibri"/>
              </a:rPr>
              <a:t>“Cloud risk increased. Schedule 8.4 MW. Asset limits leave a 0.7 MW warning.”</a:t>
            </a:r>
          </a:p>
        </p:txBody>
      </p:sp>
    </p:spTree>
    <p:extLst>
      <p:ext uri="{BB962C8B-B14F-4D97-AF65-F5344CB8AC3E}">
        <p14:creationId xmlns:p14="http://schemas.microsoft.com/office/powerpoint/2010/main" val="2048524720"/>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30EA4B0-400C-4174-9C40-2BDAF9473547}"/>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100 local learners, one constrained decision</a:t>
            </a:r>
          </a:p>
        </p:txBody>
      </p:sp>
      <p:sp>
        <p:nvSpPr>
          <p:cNvPr id="2" name="">
            <a:extLst xmlns:a="http://schemas.openxmlformats.org/drawingml/2006/main">
              <a:ext uri="{FF2B5EF4-FFF2-40B4-BE49-F238E27FC236}">
                <a16:creationId xmlns:a16="http://schemas.microsoft.com/office/drawing/2014/main" id="{CCF374F1-870A-458F-96C6-C0133AC1FE0A}"/>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479FF356-8CF7-44C1-B11B-CA932B0D1F43}"/>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04</a:t>
            </a:r>
          </a:p>
        </p:txBody>
      </p:sp>
      <p:sp>
        <p:nvSpPr>
          <p:cNvPr id="4" name="">
            <a:extLst xmlns:a="http://schemas.openxmlformats.org/drawingml/2006/main">
              <a:ext uri="{FF2B5EF4-FFF2-40B4-BE49-F238E27FC236}">
                <a16:creationId xmlns:a16="http://schemas.microsoft.com/office/drawing/2014/main" id="{FCEB63E6-8640-4ABB-88A5-46072298AC7E}"/>
              </a:ext>
            </a:extLst>
          </p:cNvPr>
          <p:cNvSpPr>
            <a:spLocks xmlns:a="http://schemas.openxmlformats.org/drawingml/2006/main" noGrp="1"/>
          </p:cNvSpPr>
          <p:nvPr/>
        </p:nvSpPr>
        <p:spPr>
          <a:xfrm xmlns:a="http://schemas.openxmlformats.org/drawingml/2006/main">
            <a:off x="609600" y="16097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FEDERATED FORECASTING  /  75%</a:t>
            </a:r>
          </a:p>
        </p:txBody>
      </p:sp>
      <p:sp>
        <p:nvSpPr>
          <p:cNvPr id="5" name="">
            <a:extLst xmlns:a="http://schemas.openxmlformats.org/drawingml/2006/main">
              <a:ext uri="{FF2B5EF4-FFF2-40B4-BE49-F238E27FC236}">
                <a16:creationId xmlns:a16="http://schemas.microsoft.com/office/drawing/2014/main" id="{E9019CEE-49D2-4B04-90D3-984F177A0669}"/>
              </a:ext>
            </a:extLst>
          </p:cNvPr>
          <p:cNvSpPr>
            <a:spLocks xmlns:a="http://schemas.openxmlformats.org/drawingml/2006/main" noGrp="1"/>
          </p:cNvSpPr>
          <p:nvPr/>
        </p:nvSpPr>
        <p:spPr>
          <a:xfrm xmlns:a="http://schemas.openxmlformats.org/drawingml/2006/main">
            <a:off x="609600" y="2162175"/>
            <a:ext cx="2857500" cy="1285875"/>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6" name="">
            <a:extLst xmlns:a="http://schemas.openxmlformats.org/drawingml/2006/main">
              <a:ext uri="{FF2B5EF4-FFF2-40B4-BE49-F238E27FC236}">
                <a16:creationId xmlns:a16="http://schemas.microsoft.com/office/drawing/2014/main" id="{A4361185-03D1-461C-ABD3-04517A17882D}"/>
              </a:ext>
            </a:extLst>
          </p:cNvPr>
          <p:cNvSpPr>
            <a:spLocks xmlns:a="http://schemas.openxmlformats.org/drawingml/2006/main" noGrp="1"/>
          </p:cNvSpPr>
          <p:nvPr/>
        </p:nvSpPr>
        <p:spPr>
          <a:xfrm xmlns:a="http://schemas.openxmlformats.org/drawingml/2006/main">
            <a:off x="781050" y="2276475"/>
            <a:ext cx="2514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Solar sites</a:t>
            </a:r>
          </a:p>
        </p:txBody>
      </p:sp>
      <p:sp>
        <p:nvSpPr>
          <p:cNvPr id="7" name="">
            <a:extLst xmlns:a="http://schemas.openxmlformats.org/drawingml/2006/main">
              <a:ext uri="{FF2B5EF4-FFF2-40B4-BE49-F238E27FC236}">
                <a16:creationId xmlns:a16="http://schemas.microsoft.com/office/drawing/2014/main" id="{DDEDA39F-F8F5-43A4-A299-873C0DCDE634}"/>
              </a:ext>
            </a:extLst>
          </p:cNvPr>
          <p:cNvSpPr>
            <a:spLocks xmlns:a="http://schemas.openxmlformats.org/drawingml/2006/main" noGrp="1"/>
          </p:cNvSpPr>
          <p:nvPr/>
        </p:nvSpPr>
        <p:spPr>
          <a:xfrm xmlns:a="http://schemas.openxmlformats.org/drawingml/2006/main">
            <a:off x="781050" y="2657475"/>
            <a:ext cx="2514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Past PV + weather</a:t>
            </a:r>
          </a:p>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Local MLP / GRU / LSTM</a:t>
            </a:r>
          </a:p>
        </p:txBody>
      </p:sp>
      <p:sp>
        <p:nvSpPr>
          <p:cNvPr id="8" name="">
            <a:extLst xmlns:a="http://schemas.openxmlformats.org/drawingml/2006/main">
              <a:ext uri="{FF2B5EF4-FFF2-40B4-BE49-F238E27FC236}">
                <a16:creationId xmlns:a16="http://schemas.microsoft.com/office/drawing/2014/main" id="{95208CD1-F5AD-4F59-A0BB-DEB43770DC78}"/>
              </a:ext>
            </a:extLst>
          </p:cNvPr>
          <p:cNvSpPr>
            <a:spLocks xmlns:a="http://schemas.openxmlformats.org/drawingml/2006/main" noGrp="1"/>
          </p:cNvSpPr>
          <p:nvPr/>
        </p:nvSpPr>
        <p:spPr>
          <a:xfrm xmlns:a="http://schemas.openxmlformats.org/drawingml/2006/main">
            <a:off x="4295775" y="2162175"/>
            <a:ext cx="3286125" cy="1285875"/>
          </a:xfrm>
          <a:prstGeom xmlns:a="http://schemas.openxmlformats.org/drawingml/2006/main" prst="rect">
            <a:avLst/>
          </a:prstGeom>
          <a:solidFill xmlns:a="http://schemas.openxmlformats.org/drawingml/2006/main">
            <a:srgbClr val="092F2C"/>
          </a:solidFill>
          <a:ln xmlns:a="http://schemas.openxmlformats.org/drawingml/2006/main" w="9525">
            <a:solidFill>
              <a:srgbClr val="092F2C"/>
            </a:solidFill>
          </a:ln>
        </p:spPr>
      </p:sp>
      <p:sp>
        <p:nvSpPr>
          <p:cNvPr id="9" name="">
            <a:extLst xmlns:a="http://schemas.openxmlformats.org/drawingml/2006/main">
              <a:ext uri="{FF2B5EF4-FFF2-40B4-BE49-F238E27FC236}">
                <a16:creationId xmlns:a16="http://schemas.microsoft.com/office/drawing/2014/main" id="{1E066D23-97BF-47D4-88CF-FC14B939B765}"/>
              </a:ext>
            </a:extLst>
          </p:cNvPr>
          <p:cNvSpPr>
            <a:spLocks xmlns:a="http://schemas.openxmlformats.org/drawingml/2006/main" noGrp="1"/>
          </p:cNvSpPr>
          <p:nvPr/>
        </p:nvSpPr>
        <p:spPr>
          <a:xfrm xmlns:a="http://schemas.openxmlformats.org/drawingml/2006/main">
            <a:off x="4467225" y="2276475"/>
            <a:ext cx="2943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Calibri"/>
                <a:ea typeface="Calibri"/>
                <a:cs typeface="Calibri"/>
              </a:defRPr>
            </a:pPr>
            <a:r>
              <a:rPr sz="1875" b="1">
                <a:solidFill>
                  <a:srgbClr val="FFFFFF"/>
                </a:solidFill>
                <a:latin typeface="Calibri"/>
                <a:ea typeface="Calibri"/>
                <a:cs typeface="Calibri"/>
              </a:rPr>
              <a:t>Reliability-aware FL</a:t>
            </a:r>
          </a:p>
        </p:txBody>
      </p:sp>
      <p:sp>
        <p:nvSpPr>
          <p:cNvPr id="10" name="">
            <a:extLst xmlns:a="http://schemas.openxmlformats.org/drawingml/2006/main">
              <a:ext uri="{FF2B5EF4-FFF2-40B4-BE49-F238E27FC236}">
                <a16:creationId xmlns:a16="http://schemas.microsoft.com/office/drawing/2014/main" id="{9FCE5674-5A7C-4CA9-9157-727608C0C0BA}"/>
              </a:ext>
            </a:extLst>
          </p:cNvPr>
          <p:cNvSpPr>
            <a:spLocks xmlns:a="http://schemas.openxmlformats.org/drawingml/2006/main" noGrp="1"/>
          </p:cNvSpPr>
          <p:nvPr/>
        </p:nvSpPr>
        <p:spPr>
          <a:xfrm xmlns:a="http://schemas.openxmlformats.org/drawingml/2006/main">
            <a:off x="4467225" y="2657475"/>
            <a:ext cx="2943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FedAvg × data quality × trust</a:t>
            </a:r>
          </a:p>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Event-aware participation</a:t>
            </a:r>
          </a:p>
        </p:txBody>
      </p:sp>
      <p:sp>
        <p:nvSpPr>
          <p:cNvPr id="11" name="">
            <a:extLst xmlns:a="http://schemas.openxmlformats.org/drawingml/2006/main">
              <a:ext uri="{FF2B5EF4-FFF2-40B4-BE49-F238E27FC236}">
                <a16:creationId xmlns:a16="http://schemas.microsoft.com/office/drawing/2014/main" id="{C53B43B0-40C8-4EA0-81FA-B61F3A20D59A}"/>
              </a:ext>
            </a:extLst>
          </p:cNvPr>
          <p:cNvSpPr>
            <a:spLocks xmlns:a="http://schemas.openxmlformats.org/drawingml/2006/main" noGrp="1"/>
          </p:cNvSpPr>
          <p:nvPr/>
        </p:nvSpPr>
        <p:spPr>
          <a:xfrm xmlns:a="http://schemas.openxmlformats.org/drawingml/2006/main">
            <a:off x="8410575" y="2162175"/>
            <a:ext cx="3143250" cy="1285875"/>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12" name="">
            <a:extLst xmlns:a="http://schemas.openxmlformats.org/drawingml/2006/main">
              <a:ext uri="{FF2B5EF4-FFF2-40B4-BE49-F238E27FC236}">
                <a16:creationId xmlns:a16="http://schemas.microsoft.com/office/drawing/2014/main" id="{2A02592A-6FC3-4CE2-B2EB-8F2F2DB93E56}"/>
              </a:ext>
            </a:extLst>
          </p:cNvPr>
          <p:cNvSpPr>
            <a:spLocks xmlns:a="http://schemas.openxmlformats.org/drawingml/2006/main" noGrp="1"/>
          </p:cNvSpPr>
          <p:nvPr/>
        </p:nvSpPr>
        <p:spPr>
          <a:xfrm xmlns:a="http://schemas.openxmlformats.org/drawingml/2006/main">
            <a:off x="8582025" y="2276475"/>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Shared forecast model</a:t>
            </a:r>
          </a:p>
        </p:txBody>
      </p:sp>
      <p:sp>
        <p:nvSpPr>
          <p:cNvPr id="13" name="">
            <a:extLst xmlns:a="http://schemas.openxmlformats.org/drawingml/2006/main">
              <a:ext uri="{FF2B5EF4-FFF2-40B4-BE49-F238E27FC236}">
                <a16:creationId xmlns:a16="http://schemas.microsoft.com/office/drawing/2014/main" id="{F077A505-871C-44BE-9107-1A41314F8827}"/>
              </a:ext>
            </a:extLst>
          </p:cNvPr>
          <p:cNvSpPr>
            <a:spLocks xmlns:a="http://schemas.openxmlformats.org/drawingml/2006/main" noGrp="1"/>
          </p:cNvSpPr>
          <p:nvPr/>
        </p:nvSpPr>
        <p:spPr>
          <a:xfrm xmlns:a="http://schemas.openxmlformats.org/drawingml/2006/main">
            <a:off x="8582025" y="2657475"/>
            <a:ext cx="2800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30-minute horizon</a:t>
            </a:r>
          </a:p>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No pooled raw histories</a:t>
            </a:r>
          </a:p>
        </p:txBody>
      </p:sp>
      <p:sp>
        <p:nvSpPr>
          <p:cNvPr id="14" name="">
            <a:extLst xmlns:a="http://schemas.openxmlformats.org/drawingml/2006/main">
              <a:ext uri="{FF2B5EF4-FFF2-40B4-BE49-F238E27FC236}">
                <a16:creationId xmlns:a16="http://schemas.microsoft.com/office/drawing/2014/main" id="{2A8316BC-5710-44EC-AD62-8CB930DE32F8}"/>
              </a:ext>
            </a:extLst>
          </p:cNvPr>
          <p:cNvSpPr>
            <a:spLocks xmlns:a="http://schemas.openxmlformats.org/drawingml/2006/main" noGrp="1"/>
          </p:cNvSpPr>
          <p:nvPr/>
        </p:nvSpPr>
        <p:spPr>
          <a:xfrm xmlns:a="http://schemas.openxmlformats.org/drawingml/2006/main">
            <a:off x="3467100" y="2819400"/>
            <a:ext cx="704850" cy="0"/>
          </a:xfrm>
          <a:prstGeom xmlns:a="http://schemas.openxmlformats.org/drawingml/2006/main" prst="line">
            <a:avLst/>
          </a:prstGeom>
          <a:ln xmlns:a="http://schemas.openxmlformats.org/drawingml/2006/main" w="28575">
            <a:solidFill>
              <a:srgbClr val="4E7D61"/>
            </a:solidFill>
          </a:ln>
        </p:spPr>
      </p:sp>
      <p:sp>
        <p:nvSpPr>
          <p:cNvPr id="15" name="">
            <a:extLst xmlns:a="http://schemas.openxmlformats.org/drawingml/2006/main">
              <a:ext uri="{FF2B5EF4-FFF2-40B4-BE49-F238E27FC236}">
                <a16:creationId xmlns:a16="http://schemas.microsoft.com/office/drawing/2014/main" id="{B37C08C1-5597-4328-8C19-469906C421BD}"/>
              </a:ext>
            </a:extLst>
          </p:cNvPr>
          <p:cNvSpPr>
            <a:spLocks xmlns:a="http://schemas.openxmlformats.org/drawingml/2006/main" noGrp="1"/>
          </p:cNvSpPr>
          <p:nvPr/>
        </p:nvSpPr>
        <p:spPr>
          <a:xfrm xmlns:a="http://schemas.openxmlformats.org/drawingml/2006/main">
            <a:off x="4057650" y="2571750"/>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16" name="">
            <a:extLst xmlns:a="http://schemas.openxmlformats.org/drawingml/2006/main">
              <a:ext uri="{FF2B5EF4-FFF2-40B4-BE49-F238E27FC236}">
                <a16:creationId xmlns:a16="http://schemas.microsoft.com/office/drawing/2014/main" id="{A7CE6FF0-DB85-40DD-B628-49BC3EAEBC2C}"/>
              </a:ext>
            </a:extLst>
          </p:cNvPr>
          <p:cNvSpPr>
            <a:spLocks xmlns:a="http://schemas.openxmlformats.org/drawingml/2006/main" noGrp="1"/>
          </p:cNvSpPr>
          <p:nvPr/>
        </p:nvSpPr>
        <p:spPr>
          <a:xfrm xmlns:a="http://schemas.openxmlformats.org/drawingml/2006/main">
            <a:off x="7581900" y="2819400"/>
            <a:ext cx="704850" cy="0"/>
          </a:xfrm>
          <a:prstGeom xmlns:a="http://schemas.openxmlformats.org/drawingml/2006/main" prst="line">
            <a:avLst/>
          </a:prstGeom>
          <a:ln xmlns:a="http://schemas.openxmlformats.org/drawingml/2006/main" w="28575">
            <a:solidFill>
              <a:srgbClr val="4E7D61"/>
            </a:solidFill>
          </a:ln>
        </p:spPr>
      </p:sp>
      <p:sp>
        <p:nvSpPr>
          <p:cNvPr id="17" name="">
            <a:extLst xmlns:a="http://schemas.openxmlformats.org/drawingml/2006/main">
              <a:ext uri="{FF2B5EF4-FFF2-40B4-BE49-F238E27FC236}">
                <a16:creationId xmlns:a16="http://schemas.microsoft.com/office/drawing/2014/main" id="{1C865CDF-99F0-41D2-8E3E-C3698A3EA3C7}"/>
              </a:ext>
            </a:extLst>
          </p:cNvPr>
          <p:cNvSpPr>
            <a:spLocks xmlns:a="http://schemas.openxmlformats.org/drawingml/2006/main" noGrp="1"/>
          </p:cNvSpPr>
          <p:nvPr/>
        </p:nvSpPr>
        <p:spPr>
          <a:xfrm xmlns:a="http://schemas.openxmlformats.org/drawingml/2006/main">
            <a:off x="8172450" y="2571750"/>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18" name="">
            <a:extLst xmlns:a="http://schemas.openxmlformats.org/drawingml/2006/main">
              <a:ext uri="{FF2B5EF4-FFF2-40B4-BE49-F238E27FC236}">
                <a16:creationId xmlns:a16="http://schemas.microsoft.com/office/drawing/2014/main" id="{6F50A7E1-6429-4D4F-950B-3105D0DA300A}"/>
              </a:ext>
            </a:extLst>
          </p:cNvPr>
          <p:cNvSpPr>
            <a:spLocks xmlns:a="http://schemas.openxmlformats.org/drawingml/2006/main" noGrp="1"/>
          </p:cNvSpPr>
          <p:nvPr/>
        </p:nvSpPr>
        <p:spPr>
          <a:xfrm xmlns:a="http://schemas.openxmlformats.org/drawingml/2006/main">
            <a:off x="609600" y="3857625"/>
            <a:ext cx="10953750" cy="0"/>
          </a:xfrm>
          <a:prstGeom xmlns:a="http://schemas.openxmlformats.org/drawingml/2006/main" prst="line">
            <a:avLst/>
          </a:prstGeom>
          <a:ln xmlns:a="http://schemas.openxmlformats.org/drawingml/2006/main" w="19050">
            <a:solidFill>
              <a:srgbClr val="58716A"/>
            </a:solidFill>
          </a:ln>
        </p:spPr>
      </p:sp>
      <p:sp>
        <p:nvSpPr>
          <p:cNvPr id="19" name="">
            <a:extLst xmlns:a="http://schemas.openxmlformats.org/drawingml/2006/main">
              <a:ext uri="{FF2B5EF4-FFF2-40B4-BE49-F238E27FC236}">
                <a16:creationId xmlns:a16="http://schemas.microsoft.com/office/drawing/2014/main" id="{E09708BB-D6FA-4F22-A9F8-F69888E1D0D2}"/>
              </a:ext>
            </a:extLst>
          </p:cNvPr>
          <p:cNvSpPr>
            <a:spLocks xmlns:a="http://schemas.openxmlformats.org/drawingml/2006/main" noGrp="1"/>
          </p:cNvSpPr>
          <p:nvPr/>
        </p:nvSpPr>
        <p:spPr>
          <a:xfrm xmlns:a="http://schemas.openxmlformats.org/drawingml/2006/main">
            <a:off x="609600" y="4171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RESERVE SCHEDULING  /  25%</a:t>
            </a:r>
          </a:p>
        </p:txBody>
      </p:sp>
      <p:sp>
        <p:nvSpPr>
          <p:cNvPr id="20" name="">
            <a:extLst xmlns:a="http://schemas.openxmlformats.org/drawingml/2006/main">
              <a:ext uri="{FF2B5EF4-FFF2-40B4-BE49-F238E27FC236}">
                <a16:creationId xmlns:a16="http://schemas.microsoft.com/office/drawing/2014/main" id="{17EE2BA4-A7C2-4F2D-9649-4374E44CF314}"/>
              </a:ext>
            </a:extLst>
          </p:cNvPr>
          <p:cNvSpPr>
            <a:spLocks xmlns:a="http://schemas.openxmlformats.org/drawingml/2006/main" noGrp="1"/>
          </p:cNvSpPr>
          <p:nvPr/>
        </p:nvSpPr>
        <p:spPr>
          <a:xfrm xmlns:a="http://schemas.openxmlformats.org/drawingml/2006/main">
            <a:off x="609600" y="4695825"/>
            <a:ext cx="2857500" cy="1143000"/>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21" name="">
            <a:extLst xmlns:a="http://schemas.openxmlformats.org/drawingml/2006/main">
              <a:ext uri="{FF2B5EF4-FFF2-40B4-BE49-F238E27FC236}">
                <a16:creationId xmlns:a16="http://schemas.microsoft.com/office/drawing/2014/main" id="{D5ED89CE-E8DD-49EB-9CFC-D4E8FB8BA5A9}"/>
              </a:ext>
            </a:extLst>
          </p:cNvPr>
          <p:cNvSpPr>
            <a:spLocks xmlns:a="http://schemas.openxmlformats.org/drawingml/2006/main" noGrp="1"/>
          </p:cNvSpPr>
          <p:nvPr/>
        </p:nvSpPr>
        <p:spPr>
          <a:xfrm xmlns:a="http://schemas.openxmlformats.org/drawingml/2006/main">
            <a:off x="781050" y="4810125"/>
            <a:ext cx="2514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Node inputs</a:t>
            </a:r>
          </a:p>
        </p:txBody>
      </p:sp>
      <p:sp>
        <p:nvSpPr>
          <p:cNvPr id="22" name="">
            <a:extLst xmlns:a="http://schemas.openxmlformats.org/drawingml/2006/main">
              <a:ext uri="{FF2B5EF4-FFF2-40B4-BE49-F238E27FC236}">
                <a16:creationId xmlns:a16="http://schemas.microsoft.com/office/drawing/2014/main" id="{7F5A12AE-3F2A-45F3-8D63-64159490DC1E}"/>
              </a:ext>
            </a:extLst>
          </p:cNvPr>
          <p:cNvSpPr>
            <a:spLocks xmlns:a="http://schemas.openxmlformats.org/drawingml/2006/main" noGrp="1"/>
          </p:cNvSpPr>
          <p:nvPr/>
        </p:nvSpPr>
        <p:spPr>
          <a:xfrm xmlns:a="http://schemas.openxmlformats.org/drawingml/2006/main">
            <a:off x="781050" y="5191125"/>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Aggregate forecast</a:t>
            </a:r>
          </a:p>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Demand + asset limits</a:t>
            </a:r>
          </a:p>
        </p:txBody>
      </p:sp>
      <p:sp>
        <p:nvSpPr>
          <p:cNvPr id="23" name="">
            <a:extLst xmlns:a="http://schemas.openxmlformats.org/drawingml/2006/main">
              <a:ext uri="{FF2B5EF4-FFF2-40B4-BE49-F238E27FC236}">
                <a16:creationId xmlns:a16="http://schemas.microsoft.com/office/drawing/2014/main" id="{CEDD1AEE-CAFD-489F-8046-7225E1A7376B}"/>
              </a:ext>
            </a:extLst>
          </p:cNvPr>
          <p:cNvSpPr>
            <a:spLocks xmlns:a="http://schemas.openxmlformats.org/drawingml/2006/main" noGrp="1"/>
          </p:cNvSpPr>
          <p:nvPr/>
        </p:nvSpPr>
        <p:spPr>
          <a:xfrm xmlns:a="http://schemas.openxmlformats.org/drawingml/2006/main">
            <a:off x="4295775" y="4695825"/>
            <a:ext cx="3286125" cy="1143000"/>
          </a:xfrm>
          <a:prstGeom xmlns:a="http://schemas.openxmlformats.org/drawingml/2006/main" prst="rect">
            <a:avLst/>
          </a:prstGeom>
          <a:solidFill xmlns:a="http://schemas.openxmlformats.org/drawingml/2006/main">
            <a:srgbClr val="092F2C"/>
          </a:solidFill>
          <a:ln xmlns:a="http://schemas.openxmlformats.org/drawingml/2006/main" w="9525">
            <a:solidFill>
              <a:srgbClr val="092F2C"/>
            </a:solidFill>
          </a:ln>
        </p:spPr>
      </p:sp>
      <p:sp>
        <p:nvSpPr>
          <p:cNvPr id="24" name="">
            <a:extLst xmlns:a="http://schemas.openxmlformats.org/drawingml/2006/main">
              <a:ext uri="{FF2B5EF4-FFF2-40B4-BE49-F238E27FC236}">
                <a16:creationId xmlns:a16="http://schemas.microsoft.com/office/drawing/2014/main" id="{3A22596E-8E3F-46E5-B96B-10867183818D}"/>
              </a:ext>
            </a:extLst>
          </p:cNvPr>
          <p:cNvSpPr>
            <a:spLocks xmlns:a="http://schemas.openxmlformats.org/drawingml/2006/main" noGrp="1"/>
          </p:cNvSpPr>
          <p:nvPr/>
        </p:nvSpPr>
        <p:spPr>
          <a:xfrm xmlns:a="http://schemas.openxmlformats.org/drawingml/2006/main">
            <a:off x="4467225" y="4810125"/>
            <a:ext cx="2943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Calibri"/>
                <a:ea typeface="Calibri"/>
                <a:cs typeface="Calibri"/>
              </a:defRPr>
            </a:pPr>
            <a:r>
              <a:rPr sz="1875" b="1">
                <a:solidFill>
                  <a:srgbClr val="FFFFFF"/>
                </a:solidFill>
                <a:latin typeface="Calibri"/>
                <a:ea typeface="Calibri"/>
                <a:cs typeface="Calibri"/>
              </a:rPr>
              <a:t>Causal margin</a:t>
            </a:r>
          </a:p>
        </p:txBody>
      </p:sp>
      <p:sp>
        <p:nvSpPr>
          <p:cNvPr id="25" name="">
            <a:extLst xmlns:a="http://schemas.openxmlformats.org/drawingml/2006/main">
              <a:ext uri="{FF2B5EF4-FFF2-40B4-BE49-F238E27FC236}">
                <a16:creationId xmlns:a16="http://schemas.microsoft.com/office/drawing/2014/main" id="{5302FA73-B97A-445D-A904-4CA829BDC157}"/>
              </a:ext>
            </a:extLst>
          </p:cNvPr>
          <p:cNvSpPr>
            <a:spLocks xmlns:a="http://schemas.openxmlformats.org/drawingml/2006/main" noGrp="1"/>
          </p:cNvSpPr>
          <p:nvPr/>
        </p:nvSpPr>
        <p:spPr>
          <a:xfrm xmlns:a="http://schemas.openxmlformats.org/drawingml/2006/main">
            <a:off x="4467225" y="5191125"/>
            <a:ext cx="2943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Gaussian n-sigma</a:t>
            </a:r>
          </a:p>
          <a:p xmlns:a="http://schemas.openxmlformats.org/drawingml/2006/main">
            <a:pPr algn="l">
              <a:defRPr sz="1425" b="0">
                <a:solidFill>
                  <a:srgbClr val="D9E8E0"/>
                </a:solidFill>
                <a:latin typeface="Calibri"/>
                <a:ea typeface="Calibri"/>
                <a:cs typeface="Calibri"/>
              </a:defRPr>
            </a:pPr>
            <a:r>
              <a:rPr sz="1425" b="0">
                <a:solidFill>
                  <a:srgbClr val="D9E8E0"/>
                </a:solidFill>
                <a:latin typeface="Calibri"/>
                <a:ea typeface="Calibri"/>
                <a:cs typeface="Calibri"/>
              </a:rPr>
              <a:t>or empirical tail</a:t>
            </a:r>
          </a:p>
        </p:txBody>
      </p:sp>
      <p:sp>
        <p:nvSpPr>
          <p:cNvPr id="26" name="">
            <a:extLst xmlns:a="http://schemas.openxmlformats.org/drawingml/2006/main">
              <a:ext uri="{FF2B5EF4-FFF2-40B4-BE49-F238E27FC236}">
                <a16:creationId xmlns:a16="http://schemas.microsoft.com/office/drawing/2014/main" id="{2003DCB2-CC60-4632-B8B2-214DF9124772}"/>
              </a:ext>
            </a:extLst>
          </p:cNvPr>
          <p:cNvSpPr>
            <a:spLocks xmlns:a="http://schemas.openxmlformats.org/drawingml/2006/main" noGrp="1"/>
          </p:cNvSpPr>
          <p:nvPr/>
        </p:nvSpPr>
        <p:spPr>
          <a:xfrm xmlns:a="http://schemas.openxmlformats.org/drawingml/2006/main">
            <a:off x="8410575" y="4695825"/>
            <a:ext cx="3143250" cy="1143000"/>
          </a:xfrm>
          <a:prstGeom xmlns:a="http://schemas.openxmlformats.org/drawingml/2006/main" prst="rect">
            <a:avLst/>
          </a:prstGeom>
          <a:solidFill xmlns:a="http://schemas.openxmlformats.org/drawingml/2006/main">
            <a:srgbClr val="DDEBD8"/>
          </a:solidFill>
          <a:ln xmlns:a="http://schemas.openxmlformats.org/drawingml/2006/main" w="9525">
            <a:solidFill>
              <a:srgbClr val="CBD8CF"/>
            </a:solidFill>
          </a:ln>
        </p:spPr>
      </p:sp>
      <p:sp>
        <p:nvSpPr>
          <p:cNvPr id="27" name="">
            <a:extLst xmlns:a="http://schemas.openxmlformats.org/drawingml/2006/main">
              <a:ext uri="{FF2B5EF4-FFF2-40B4-BE49-F238E27FC236}">
                <a16:creationId xmlns:a16="http://schemas.microsoft.com/office/drawing/2014/main" id="{29B8363E-1BF7-47A1-9A69-6E0F60488116}"/>
              </a:ext>
            </a:extLst>
          </p:cNvPr>
          <p:cNvSpPr>
            <a:spLocks xmlns:a="http://schemas.openxmlformats.org/drawingml/2006/main" noGrp="1"/>
          </p:cNvSpPr>
          <p:nvPr/>
        </p:nvSpPr>
        <p:spPr>
          <a:xfrm xmlns:a="http://schemas.openxmlformats.org/drawingml/2006/main">
            <a:off x="8582025" y="4810125"/>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Daily linear program</a:t>
            </a:r>
          </a:p>
        </p:txBody>
      </p:sp>
      <p:sp>
        <p:nvSpPr>
          <p:cNvPr id="28" name="">
            <a:extLst xmlns:a="http://schemas.openxmlformats.org/drawingml/2006/main">
              <a:ext uri="{FF2B5EF4-FFF2-40B4-BE49-F238E27FC236}">
                <a16:creationId xmlns:a16="http://schemas.microsoft.com/office/drawing/2014/main" id="{069D344F-5424-4E28-A9BB-70DDB2BE2644}"/>
              </a:ext>
            </a:extLst>
          </p:cNvPr>
          <p:cNvSpPr>
            <a:spLocks xmlns:a="http://schemas.openxmlformats.org/drawingml/2006/main" noGrp="1"/>
          </p:cNvSpPr>
          <p:nvPr/>
        </p:nvSpPr>
        <p:spPr>
          <a:xfrm xmlns:a="http://schemas.openxmlformats.org/drawingml/2006/main">
            <a:off x="8582025" y="5191125"/>
            <a:ext cx="280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Grid import + backup</a:t>
            </a:r>
          </a:p>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Capacity warning</a:t>
            </a:r>
          </a:p>
        </p:txBody>
      </p:sp>
      <p:sp>
        <p:nvSpPr>
          <p:cNvPr id="29" name="">
            <a:extLst xmlns:a="http://schemas.openxmlformats.org/drawingml/2006/main">
              <a:ext uri="{FF2B5EF4-FFF2-40B4-BE49-F238E27FC236}">
                <a16:creationId xmlns:a16="http://schemas.microsoft.com/office/drawing/2014/main" id="{68092B1B-4191-4803-B88C-BC7AFC1C2DC7}"/>
              </a:ext>
            </a:extLst>
          </p:cNvPr>
          <p:cNvSpPr>
            <a:spLocks xmlns:a="http://schemas.openxmlformats.org/drawingml/2006/main" noGrp="1"/>
          </p:cNvSpPr>
          <p:nvPr/>
        </p:nvSpPr>
        <p:spPr>
          <a:xfrm xmlns:a="http://schemas.openxmlformats.org/drawingml/2006/main">
            <a:off x="3467100" y="5286375"/>
            <a:ext cx="704850" cy="0"/>
          </a:xfrm>
          <a:prstGeom xmlns:a="http://schemas.openxmlformats.org/drawingml/2006/main" prst="line">
            <a:avLst/>
          </a:prstGeom>
          <a:ln xmlns:a="http://schemas.openxmlformats.org/drawingml/2006/main" w="28575">
            <a:solidFill>
              <a:srgbClr val="4E7D61"/>
            </a:solidFill>
          </a:ln>
        </p:spPr>
      </p:sp>
      <p:sp>
        <p:nvSpPr>
          <p:cNvPr id="30" name="">
            <a:extLst xmlns:a="http://schemas.openxmlformats.org/drawingml/2006/main">
              <a:ext uri="{FF2B5EF4-FFF2-40B4-BE49-F238E27FC236}">
                <a16:creationId xmlns:a16="http://schemas.microsoft.com/office/drawing/2014/main" id="{9E618D2C-682C-4A84-9CAB-A0EFCCA8221F}"/>
              </a:ext>
            </a:extLst>
          </p:cNvPr>
          <p:cNvSpPr>
            <a:spLocks xmlns:a="http://schemas.openxmlformats.org/drawingml/2006/main" noGrp="1"/>
          </p:cNvSpPr>
          <p:nvPr/>
        </p:nvSpPr>
        <p:spPr>
          <a:xfrm xmlns:a="http://schemas.openxmlformats.org/drawingml/2006/main">
            <a:off x="4057650" y="503872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
        <p:nvSpPr>
          <p:cNvPr id="31" name="">
            <a:extLst xmlns:a="http://schemas.openxmlformats.org/drawingml/2006/main">
              <a:ext uri="{FF2B5EF4-FFF2-40B4-BE49-F238E27FC236}">
                <a16:creationId xmlns:a16="http://schemas.microsoft.com/office/drawing/2014/main" id="{B398813A-169A-42CD-B844-868DC602787F}"/>
              </a:ext>
            </a:extLst>
          </p:cNvPr>
          <p:cNvSpPr>
            <a:spLocks xmlns:a="http://schemas.openxmlformats.org/drawingml/2006/main" noGrp="1"/>
          </p:cNvSpPr>
          <p:nvPr/>
        </p:nvSpPr>
        <p:spPr>
          <a:xfrm xmlns:a="http://schemas.openxmlformats.org/drawingml/2006/main">
            <a:off x="7581900" y="5286375"/>
            <a:ext cx="704850" cy="0"/>
          </a:xfrm>
          <a:prstGeom xmlns:a="http://schemas.openxmlformats.org/drawingml/2006/main" prst="line">
            <a:avLst/>
          </a:prstGeom>
          <a:ln xmlns:a="http://schemas.openxmlformats.org/drawingml/2006/main" w="28575">
            <a:solidFill>
              <a:srgbClr val="4E7D61"/>
            </a:solidFill>
          </a:ln>
        </p:spPr>
      </p:sp>
      <p:sp>
        <p:nvSpPr>
          <p:cNvPr id="32" name="">
            <a:extLst xmlns:a="http://schemas.openxmlformats.org/drawingml/2006/main">
              <a:ext uri="{FF2B5EF4-FFF2-40B4-BE49-F238E27FC236}">
                <a16:creationId xmlns:a16="http://schemas.microsoft.com/office/drawing/2014/main" id="{4AE27795-3EF2-458B-84AB-E3154F3620F8}"/>
              </a:ext>
            </a:extLst>
          </p:cNvPr>
          <p:cNvSpPr>
            <a:spLocks xmlns:a="http://schemas.openxmlformats.org/drawingml/2006/main" noGrp="1"/>
          </p:cNvSpPr>
          <p:nvPr/>
        </p:nvSpPr>
        <p:spPr>
          <a:xfrm xmlns:a="http://schemas.openxmlformats.org/drawingml/2006/main">
            <a:off x="8172450" y="503872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4E7D61"/>
                </a:solidFill>
                <a:latin typeface="Calibri"/>
                <a:ea typeface="Calibri"/>
                <a:cs typeface="Calibri"/>
              </a:defRPr>
            </a:pPr>
            <a:r>
              <a:rPr sz="2925" b="1">
                <a:solidFill>
                  <a:srgbClr val="4E7D61"/>
                </a:solidFill>
                <a:latin typeface="Calibri"/>
                <a:ea typeface="Calibri"/>
                <a:cs typeface="Calibri"/>
              </a:rPr>
              <a:t>›</a:t>
            </a:r>
          </a:p>
        </p:txBody>
      </p:sp>
    </p:spTree>
    <p:extLst>
      <p:ext uri="{BB962C8B-B14F-4D97-AF65-F5344CB8AC3E}">
        <p14:creationId xmlns:p14="http://schemas.microsoft.com/office/powerpoint/2010/main" val="441283483"/>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DE7E26-9162-4E40-A7B3-EE1E6A2C7C8F}"/>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Federated accuracy survives bad site data</a:t>
            </a:r>
          </a:p>
        </p:txBody>
      </p:sp>
      <p:sp>
        <p:nvSpPr>
          <p:cNvPr id="2" name="">
            <a:extLst xmlns:a="http://schemas.openxmlformats.org/drawingml/2006/main">
              <a:ext uri="{FF2B5EF4-FFF2-40B4-BE49-F238E27FC236}">
                <a16:creationId xmlns:a16="http://schemas.microsoft.com/office/drawing/2014/main" id="{D862890E-0315-41A6-BCDC-D8A8CC47160A}"/>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C13582D0-770F-4E80-B62D-85E3A05697F2}"/>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05</a:t>
            </a:r>
          </a:p>
        </p:txBody>
      </p:sp>
      <p:graphicFrame>
        <p:nvGraphicFramePr>
          <p:cNvPr id="14" name="Chart"/>
          <p:cNvGraphicFramePr/>
          <p:nvPr/>
        </p:nvGraphicFramePr>
        <p:xfrm>
          <a:off xmlns:a="http://schemas.openxmlformats.org/drawingml/2006/main" x="552450" y="1762125"/>
          <a:ext xmlns:a="http://schemas.openxmlformats.org/drawingml/2006/main" cx="6429375" cy="3429000"/>
        </p:xfrm>
        <a:graphic xmlns:a="http://schemas.openxmlformats.org/drawingml/2006/main">
          <a:graphicData uri="http://schemas.openxmlformats.org/drawingml/2006/chart">
            <c:chart xmlns:r="http://schemas.openxmlformats.org/officeDocument/2006/relationships" xmlns:c="http://schemas.openxmlformats.org/drawingml/2006/chart" r:id="R8bd16b50e3004864"/>
          </a:graphicData>
        </a:graphic>
      </p:graphicFrame>
      <p:sp>
        <p:nvSpPr>
          <p:cNvPr id="5" name="">
            <a:extLst xmlns:a="http://schemas.openxmlformats.org/drawingml/2006/main">
              <a:ext uri="{FF2B5EF4-FFF2-40B4-BE49-F238E27FC236}">
                <a16:creationId xmlns:a16="http://schemas.microsoft.com/office/drawing/2014/main" id="{CD036B18-4FBF-4C60-A7C7-F6552936F925}"/>
              </a:ext>
            </a:extLst>
          </p:cNvPr>
          <p:cNvSpPr>
            <a:spLocks xmlns:a="http://schemas.openxmlformats.org/drawingml/2006/main" noGrp="1"/>
          </p:cNvSpPr>
          <p:nvPr/>
        </p:nvSpPr>
        <p:spPr>
          <a:xfrm xmlns:a="http://schemas.openxmlformats.org/drawingml/2006/main">
            <a:off x="7524750" y="1828800"/>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58716A"/>
                </a:solidFill>
                <a:latin typeface="Calibri"/>
                <a:ea typeface="Calibri"/>
                <a:cs typeface="Calibri"/>
              </a:defRPr>
            </a:pPr>
            <a:r>
              <a:rPr sz="1650" b="1">
                <a:solidFill>
                  <a:srgbClr val="58716A"/>
                </a:solidFill>
                <a:latin typeface="Calibri"/>
                <a:ea typeface="Calibri"/>
                <a:cs typeface="Calibri"/>
              </a:rPr>
              <a:t>Stale sensors at 2 of 4 sites</a:t>
            </a:r>
          </a:p>
        </p:txBody>
      </p:sp>
      <p:sp>
        <p:nvSpPr>
          <p:cNvPr id="6" name="">
            <a:extLst xmlns:a="http://schemas.openxmlformats.org/drawingml/2006/main">
              <a:ext uri="{FF2B5EF4-FFF2-40B4-BE49-F238E27FC236}">
                <a16:creationId xmlns:a16="http://schemas.microsoft.com/office/drawing/2014/main" id="{6498B44D-5D62-496B-B9EC-31138B105B79}"/>
              </a:ext>
            </a:extLst>
          </p:cNvPr>
          <p:cNvSpPr>
            <a:spLocks xmlns:a="http://schemas.openxmlformats.org/drawingml/2006/main" noGrp="1"/>
          </p:cNvSpPr>
          <p:nvPr/>
        </p:nvSpPr>
        <p:spPr>
          <a:xfrm xmlns:a="http://schemas.openxmlformats.org/drawingml/2006/main">
            <a:off x="7524750" y="24193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BB5B52"/>
                </a:solidFill>
                <a:latin typeface="Calibri"/>
                <a:ea typeface="Calibri"/>
                <a:cs typeface="Calibri"/>
              </a:defRPr>
            </a:pPr>
            <a:r>
              <a:rPr sz="4200" b="1">
                <a:solidFill>
                  <a:srgbClr val="BB5B52"/>
                </a:solidFill>
                <a:latin typeface="Calibri"/>
                <a:ea typeface="Calibri"/>
                <a:cs typeface="Calibri"/>
              </a:rPr>
              <a:t>+8.9%</a:t>
            </a:r>
          </a:p>
        </p:txBody>
      </p:sp>
      <p:sp>
        <p:nvSpPr>
          <p:cNvPr id="7" name="">
            <a:extLst xmlns:a="http://schemas.openxmlformats.org/drawingml/2006/main">
              <a:ext uri="{FF2B5EF4-FFF2-40B4-BE49-F238E27FC236}">
                <a16:creationId xmlns:a16="http://schemas.microsoft.com/office/drawing/2014/main" id="{B6A97ED3-F6BC-4DB3-8599-0FB19A69CF52}"/>
              </a:ext>
            </a:extLst>
          </p:cNvPr>
          <p:cNvSpPr>
            <a:spLocks xmlns:a="http://schemas.openxmlformats.org/drawingml/2006/main" noGrp="1"/>
          </p:cNvSpPr>
          <p:nvPr/>
        </p:nvSpPr>
        <p:spPr>
          <a:xfrm xmlns:a="http://schemas.openxmlformats.org/drawingml/2006/main">
            <a:off x="7524750" y="32004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FedAvg damage to healthy sites</a:t>
            </a:r>
          </a:p>
        </p:txBody>
      </p:sp>
      <p:sp>
        <p:nvSpPr>
          <p:cNvPr id="8" name="">
            <a:extLst xmlns:a="http://schemas.openxmlformats.org/drawingml/2006/main">
              <a:ext uri="{FF2B5EF4-FFF2-40B4-BE49-F238E27FC236}">
                <a16:creationId xmlns:a16="http://schemas.microsoft.com/office/drawing/2014/main" id="{21F0E26D-0017-4652-AF8B-43CE09660923}"/>
              </a:ext>
            </a:extLst>
          </p:cNvPr>
          <p:cNvSpPr>
            <a:spLocks xmlns:a="http://schemas.openxmlformats.org/drawingml/2006/main" noGrp="1"/>
          </p:cNvSpPr>
          <p:nvPr/>
        </p:nvSpPr>
        <p:spPr>
          <a:xfrm xmlns:a="http://schemas.openxmlformats.org/drawingml/2006/main">
            <a:off x="7524750" y="40957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4E7D61"/>
                </a:solidFill>
                <a:latin typeface="Calibri"/>
                <a:ea typeface="Calibri"/>
                <a:cs typeface="Calibri"/>
              </a:defRPr>
            </a:pPr>
            <a:r>
              <a:rPr sz="4200" b="1">
                <a:solidFill>
                  <a:srgbClr val="4E7D61"/>
                </a:solidFill>
                <a:latin typeface="Calibri"/>
                <a:ea typeface="Calibri"/>
                <a:cs typeface="Calibri"/>
              </a:rPr>
              <a:t>+0.4%</a:t>
            </a:r>
          </a:p>
        </p:txBody>
      </p:sp>
      <p:sp>
        <p:nvSpPr>
          <p:cNvPr id="9" name="">
            <a:extLst xmlns:a="http://schemas.openxmlformats.org/drawingml/2006/main">
              <a:ext uri="{FF2B5EF4-FFF2-40B4-BE49-F238E27FC236}">
                <a16:creationId xmlns:a16="http://schemas.microsoft.com/office/drawing/2014/main" id="{289B0060-2DD4-447D-96B2-4FD3987162EF}"/>
              </a:ext>
            </a:extLst>
          </p:cNvPr>
          <p:cNvSpPr>
            <a:spLocks xmlns:a="http://schemas.openxmlformats.org/drawingml/2006/main" noGrp="1"/>
          </p:cNvSpPr>
          <p:nvPr/>
        </p:nvSpPr>
        <p:spPr>
          <a:xfrm xmlns:a="http://schemas.openxmlformats.org/drawingml/2006/main">
            <a:off x="7524750" y="4876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GridMesh damage to healthy sites</a:t>
            </a:r>
          </a:p>
        </p:txBody>
      </p:sp>
      <p:sp>
        <p:nvSpPr>
          <p:cNvPr id="10" name="">
            <a:extLst xmlns:a="http://schemas.openxmlformats.org/drawingml/2006/main">
              <a:ext uri="{FF2B5EF4-FFF2-40B4-BE49-F238E27FC236}">
                <a16:creationId xmlns:a16="http://schemas.microsoft.com/office/drawing/2014/main" id="{24523743-542B-4143-8F2D-2C9D867E1697}"/>
              </a:ext>
            </a:extLst>
          </p:cNvPr>
          <p:cNvSpPr>
            <a:spLocks xmlns:a="http://schemas.openxmlformats.org/drawingml/2006/main" noGrp="1"/>
          </p:cNvSpPr>
          <p:nvPr/>
        </p:nvSpPr>
        <p:spPr>
          <a:xfrm xmlns:a="http://schemas.openxmlformats.org/drawingml/2006/main">
            <a:off x="609600" y="5857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8716A"/>
                </a:solidFill>
                <a:latin typeface="Calibri"/>
                <a:ea typeface="Calibri"/>
                <a:cs typeface="Calibri"/>
              </a:defRPr>
            </a:pPr>
            <a:r>
              <a:rPr sz="1500" b="0">
                <a:solidFill>
                  <a:srgbClr val="58716A"/>
                </a:solidFill>
                <a:latin typeface="Calibri"/>
                <a:ea typeface="Calibri"/>
                <a:cs typeface="Calibri"/>
              </a:rPr>
              <a:t>Five-seed headline. MLP selected over implemented GRU/LSTM in a separate 3-round screen.</a:t>
            </a:r>
          </a:p>
        </p:txBody>
      </p:sp>
    </p:spTree>
    <p:extLst>
      <p:ext uri="{BB962C8B-B14F-4D97-AF65-F5344CB8AC3E}">
        <p14:creationId xmlns:p14="http://schemas.microsoft.com/office/powerpoint/2010/main" val="520643326"/>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597393-A07D-4E78-8406-3DF282939B67}"/>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Scaling cuts traffic before it cuts accuracy</a:t>
            </a:r>
          </a:p>
        </p:txBody>
      </p:sp>
      <p:sp>
        <p:nvSpPr>
          <p:cNvPr id="2" name="">
            <a:extLst xmlns:a="http://schemas.openxmlformats.org/drawingml/2006/main">
              <a:ext uri="{FF2B5EF4-FFF2-40B4-BE49-F238E27FC236}">
                <a16:creationId xmlns:a16="http://schemas.microsoft.com/office/drawing/2014/main" id="{A411CD10-6F43-4CFA-BE8B-7DFDFC582343}"/>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56BB0E2C-CFED-430C-A1B2-CABD16A0A62D}"/>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06</a:t>
            </a:r>
          </a:p>
        </p:txBody>
      </p:sp>
      <p:sp>
        <p:nvSpPr>
          <p:cNvPr id="4" name="">
            <a:extLst xmlns:a="http://schemas.openxmlformats.org/drawingml/2006/main">
              <a:ext uri="{FF2B5EF4-FFF2-40B4-BE49-F238E27FC236}">
                <a16:creationId xmlns:a16="http://schemas.microsoft.com/office/drawing/2014/main" id="{8456B569-5803-4385-80DF-5929EE2AF2F6}"/>
              </a:ext>
            </a:extLst>
          </p:cNvPr>
          <p:cNvSpPr>
            <a:spLocks xmlns:a="http://schemas.openxmlformats.org/drawingml/2006/main" noGrp="1"/>
          </p:cNvSpPr>
          <p:nvPr/>
        </p:nvSpPr>
        <p:spPr>
          <a:xfrm xmlns:a="http://schemas.openxmlformats.org/drawingml/2006/main">
            <a:off x="609600" y="16287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Communication reduction</a:t>
            </a:r>
          </a:p>
        </p:txBody>
      </p:sp>
      <p:graphicFrame>
        <p:nvGraphicFramePr>
          <p:cNvPr id="16" name="Chart"/>
          <p:cNvGraphicFramePr/>
          <p:nvPr/>
        </p:nvGraphicFramePr>
        <p:xfrm>
          <a:off xmlns:a="http://schemas.openxmlformats.org/drawingml/2006/main" x="552450" y="2133600"/>
          <a:ext xmlns:a="http://schemas.openxmlformats.org/drawingml/2006/main" cx="6572250" cy="3143250"/>
        </p:xfrm>
        <a:graphic xmlns:a="http://schemas.openxmlformats.org/drawingml/2006/main">
          <a:graphicData uri="http://schemas.openxmlformats.org/drawingml/2006/chart">
            <c:chart xmlns:r="http://schemas.openxmlformats.org/officeDocument/2006/relationships" xmlns:c="http://schemas.openxmlformats.org/drawingml/2006/chart" r:id="R775896a956a24987"/>
          </a:graphicData>
        </a:graphic>
      </p:graphicFrame>
      <p:sp>
        <p:nvSpPr>
          <p:cNvPr id="6" name="">
            <a:extLst xmlns:a="http://schemas.openxmlformats.org/drawingml/2006/main">
              <a:ext uri="{FF2B5EF4-FFF2-40B4-BE49-F238E27FC236}">
                <a16:creationId xmlns:a16="http://schemas.microsoft.com/office/drawing/2014/main" id="{D6C11CBE-3487-4E8D-851C-06FD49511FCB}"/>
              </a:ext>
            </a:extLst>
          </p:cNvPr>
          <p:cNvSpPr>
            <a:spLocks xmlns:a="http://schemas.openxmlformats.org/drawingml/2006/main" noGrp="1"/>
          </p:cNvSpPr>
          <p:nvPr/>
        </p:nvSpPr>
        <p:spPr>
          <a:xfrm xmlns:a="http://schemas.openxmlformats.org/drawingml/2006/main">
            <a:off x="7715250" y="21431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58716A"/>
                </a:solidFill>
                <a:latin typeface="Calibri"/>
                <a:ea typeface="Calibri"/>
                <a:cs typeface="Calibri"/>
              </a:defRPr>
            </a:pPr>
            <a:r>
              <a:rPr sz="1500" b="1">
                <a:solidFill>
                  <a:srgbClr val="58716A"/>
                </a:solidFill>
                <a:latin typeface="Calibri"/>
                <a:ea typeface="Calibri"/>
                <a:cs typeface="Calibri"/>
              </a:rPr>
              <a:t>100-site scale test</a:t>
            </a:r>
          </a:p>
        </p:txBody>
      </p:sp>
      <p:sp>
        <p:nvSpPr>
          <p:cNvPr id="7" name="">
            <a:extLst xmlns:a="http://schemas.openxmlformats.org/drawingml/2006/main">
              <a:ext uri="{FF2B5EF4-FFF2-40B4-BE49-F238E27FC236}">
                <a16:creationId xmlns:a16="http://schemas.microsoft.com/office/drawing/2014/main" id="{B796C8A5-1066-4C38-826C-FAC95B6AD421}"/>
              </a:ext>
            </a:extLst>
          </p:cNvPr>
          <p:cNvSpPr>
            <a:spLocks xmlns:a="http://schemas.openxmlformats.org/drawingml/2006/main" noGrp="1"/>
          </p:cNvSpPr>
          <p:nvPr/>
        </p:nvSpPr>
        <p:spPr>
          <a:xfrm xmlns:a="http://schemas.openxmlformats.org/drawingml/2006/main">
            <a:off x="7715250" y="264795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4E7D61"/>
                </a:solidFill>
                <a:latin typeface="Calibri"/>
                <a:ea typeface="Calibri"/>
                <a:cs typeface="Calibri"/>
              </a:defRPr>
            </a:pPr>
            <a:r>
              <a:rPr sz="4350" b="1">
                <a:solidFill>
                  <a:srgbClr val="4E7D61"/>
                </a:solidFill>
                <a:latin typeface="Calibri"/>
                <a:ea typeface="Calibri"/>
                <a:cs typeface="Calibri"/>
              </a:rPr>
              <a:t>−41%</a:t>
            </a:r>
          </a:p>
        </p:txBody>
      </p:sp>
      <p:sp>
        <p:nvSpPr>
          <p:cNvPr id="8" name="">
            <a:extLst xmlns:a="http://schemas.openxmlformats.org/drawingml/2006/main">
              <a:ext uri="{FF2B5EF4-FFF2-40B4-BE49-F238E27FC236}">
                <a16:creationId xmlns:a16="http://schemas.microsoft.com/office/drawing/2014/main" id="{C66D6E5C-1D21-467B-9448-2E31AABD3EC6}"/>
              </a:ext>
            </a:extLst>
          </p:cNvPr>
          <p:cNvSpPr>
            <a:spLocks xmlns:a="http://schemas.openxmlformats.org/drawingml/2006/main" noGrp="1"/>
          </p:cNvSpPr>
          <p:nvPr/>
        </p:nvSpPr>
        <p:spPr>
          <a:xfrm xmlns:a="http://schemas.openxmlformats.org/drawingml/2006/main">
            <a:off x="7715250" y="344805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73B35"/>
                </a:solidFill>
                <a:latin typeface="Calibri"/>
                <a:ea typeface="Calibri"/>
                <a:cs typeface="Calibri"/>
              </a:defRPr>
            </a:pPr>
            <a:r>
              <a:rPr sz="1950" b="0">
                <a:solidFill>
                  <a:srgbClr val="073B35"/>
                </a:solidFill>
                <a:latin typeface="Calibri"/>
                <a:ea typeface="Calibri"/>
                <a:cs typeface="Calibri"/>
              </a:rPr>
              <a:t>traffic per round</a:t>
            </a:r>
          </a:p>
        </p:txBody>
      </p:sp>
      <p:sp>
        <p:nvSpPr>
          <p:cNvPr id="9" name="">
            <a:extLst xmlns:a="http://schemas.openxmlformats.org/drawingml/2006/main">
              <a:ext uri="{FF2B5EF4-FFF2-40B4-BE49-F238E27FC236}">
                <a16:creationId xmlns:a16="http://schemas.microsoft.com/office/drawing/2014/main" id="{83597EBE-39C8-41E5-BAB3-E74FB31D6A39}"/>
              </a:ext>
            </a:extLst>
          </p:cNvPr>
          <p:cNvSpPr>
            <a:spLocks xmlns:a="http://schemas.openxmlformats.org/drawingml/2006/main" noGrp="1"/>
          </p:cNvSpPr>
          <p:nvPr/>
        </p:nvSpPr>
        <p:spPr>
          <a:xfrm xmlns:a="http://schemas.openxmlformats.org/drawingml/2006/main">
            <a:off x="7715250" y="424815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73B35"/>
                </a:solidFill>
                <a:latin typeface="Calibri"/>
                <a:ea typeface="Calibri"/>
                <a:cs typeface="Calibri"/>
              </a:defRPr>
            </a:pPr>
            <a:r>
              <a:rPr sz="2250" b="1">
                <a:solidFill>
                  <a:srgbClr val="073B35"/>
                </a:solidFill>
                <a:latin typeface="Calibri"/>
                <a:ea typeface="Calibri"/>
                <a:cs typeface="Calibri"/>
              </a:rPr>
              <a:t>0.0649 RMSE</a:t>
            </a:r>
          </a:p>
        </p:txBody>
      </p:sp>
      <p:sp>
        <p:nvSpPr>
          <p:cNvPr id="10" name="">
            <a:extLst xmlns:a="http://schemas.openxmlformats.org/drawingml/2006/main">
              <a:ext uri="{FF2B5EF4-FFF2-40B4-BE49-F238E27FC236}">
                <a16:creationId xmlns:a16="http://schemas.microsoft.com/office/drawing/2014/main" id="{20C3DD94-CB7F-4047-82DA-280359DD9745}"/>
              </a:ext>
            </a:extLst>
          </p:cNvPr>
          <p:cNvSpPr>
            <a:spLocks xmlns:a="http://schemas.openxmlformats.org/drawingml/2006/main" noGrp="1"/>
          </p:cNvSpPr>
          <p:nvPr/>
        </p:nvSpPr>
        <p:spPr>
          <a:xfrm xmlns:a="http://schemas.openxmlformats.org/drawingml/2006/main">
            <a:off x="7715250" y="4743450"/>
            <a:ext cx="3714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716A"/>
                </a:solidFill>
                <a:latin typeface="Calibri"/>
                <a:ea typeface="Calibri"/>
                <a:cs typeface="Calibri"/>
              </a:defRPr>
            </a:pPr>
            <a:r>
              <a:rPr sz="1725" b="0">
                <a:solidFill>
                  <a:srgbClr val="58716A"/>
                </a:solidFill>
                <a:latin typeface="Calibri"/>
                <a:ea typeface="Calibri"/>
                <a:cs typeface="Calibri"/>
              </a:rPr>
              <a:t>with event-aware participation</a:t>
            </a:r>
          </a:p>
        </p:txBody>
      </p:sp>
      <p:sp>
        <p:nvSpPr>
          <p:cNvPr id="11" name="">
            <a:extLst xmlns:a="http://schemas.openxmlformats.org/drawingml/2006/main">
              <a:ext uri="{FF2B5EF4-FFF2-40B4-BE49-F238E27FC236}">
                <a16:creationId xmlns:a16="http://schemas.microsoft.com/office/drawing/2014/main" id="{80038494-274C-4540-916C-F74AB7438017}"/>
              </a:ext>
            </a:extLst>
          </p:cNvPr>
          <p:cNvSpPr>
            <a:spLocks xmlns:a="http://schemas.openxmlformats.org/drawingml/2006/main" noGrp="1"/>
          </p:cNvSpPr>
          <p:nvPr/>
        </p:nvSpPr>
        <p:spPr>
          <a:xfrm xmlns:a="http://schemas.openxmlformats.org/drawingml/2006/main">
            <a:off x="609600" y="58769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58716A"/>
                </a:solidFill>
                <a:latin typeface="Calibri"/>
                <a:ea typeface="Calibri"/>
                <a:cs typeface="Calibri"/>
              </a:defRPr>
            </a:pPr>
            <a:r>
              <a:rPr sz="1575" b="0">
                <a:solidFill>
                  <a:srgbClr val="58716A"/>
                </a:solidFill>
                <a:latin typeface="Calibri"/>
                <a:ea typeface="Calibri"/>
                <a:cs typeface="Calibri"/>
              </a:rPr>
              <a:t>Stable sites skip some rounds. Drifting sites always participate.</a:t>
            </a:r>
          </a:p>
        </p:txBody>
      </p:sp>
    </p:spTree>
    <p:extLst>
      <p:ext uri="{BB962C8B-B14F-4D97-AF65-F5344CB8AC3E}">
        <p14:creationId xmlns:p14="http://schemas.microsoft.com/office/powerpoint/2010/main" val="1576516016"/>
      </p:ext>
    </p:extLst>
  </p:cSld>
</p:sld>
</file>

<file path=ppt/slides/slide7.xml><?xml version="1.0" encoding="utf-8"?>
<p:sld xmlns:p="http://schemas.openxmlformats.org/presentationml/2006/main">
  <p:cSld>
    <p:bg>
      <p:bgPr>
        <a:solidFill xmlns:a="http://schemas.openxmlformats.org/drawingml/2006/main">
          <a:srgbClr val="092F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EA2E6D-B90D-4EE0-98A1-77B12C782C19}"/>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The paper supplies the margin, not the full schedule</a:t>
            </a:r>
          </a:p>
        </p:txBody>
      </p:sp>
      <p:sp>
        <p:nvSpPr>
          <p:cNvPr id="2" name="">
            <a:extLst xmlns:a="http://schemas.openxmlformats.org/drawingml/2006/main">
              <a:ext uri="{FF2B5EF4-FFF2-40B4-BE49-F238E27FC236}">
                <a16:creationId xmlns:a16="http://schemas.microsoft.com/office/drawing/2014/main" id="{B9B67E71-D14A-4050-9E1A-69C7FF85F8A2}"/>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BBD0C5"/>
                </a:solidFill>
                <a:latin typeface="Calibri"/>
                <a:ea typeface="Calibri"/>
                <a:cs typeface="Calibri"/>
              </a:defRPr>
            </a:pPr>
            <a:r>
              <a:rPr sz="975" b="0">
                <a:solidFill>
                  <a:srgbClr val="BBD0C5"/>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34395F83-A415-49F7-A7E6-D9AB27814B07}"/>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BCE56D"/>
                </a:solidFill>
                <a:latin typeface="Calibri"/>
                <a:ea typeface="Calibri"/>
                <a:cs typeface="Calibri"/>
              </a:defRPr>
            </a:pPr>
            <a:r>
              <a:rPr sz="1200" b="1">
                <a:solidFill>
                  <a:srgbClr val="BCE56D"/>
                </a:solidFill>
                <a:latin typeface="Calibri"/>
                <a:ea typeface="Calibri"/>
                <a:cs typeface="Calibri"/>
              </a:rPr>
              <a:t>07</a:t>
            </a:r>
          </a:p>
        </p:txBody>
      </p:sp>
      <p:sp>
        <p:nvSpPr>
          <p:cNvPr id="4" name="">
            <a:extLst xmlns:a="http://schemas.openxmlformats.org/drawingml/2006/main">
              <a:ext uri="{FF2B5EF4-FFF2-40B4-BE49-F238E27FC236}">
                <a16:creationId xmlns:a16="http://schemas.microsoft.com/office/drawing/2014/main" id="{CE68C777-B12B-4187-B494-495AFD1A3840}"/>
              </a:ext>
            </a:extLst>
          </p:cNvPr>
          <p:cNvSpPr>
            <a:spLocks xmlns:a="http://schemas.openxmlformats.org/drawingml/2006/main" noGrp="1"/>
          </p:cNvSpPr>
          <p:nvPr/>
        </p:nvSpPr>
        <p:spPr>
          <a:xfrm xmlns:a="http://schemas.openxmlformats.org/drawingml/2006/main">
            <a:off x="609600" y="1647825"/>
            <a:ext cx="409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Forecast error</a:t>
            </a:r>
          </a:p>
        </p:txBody>
      </p:sp>
      <p:sp>
        <p:nvSpPr>
          <p:cNvPr id="5" name="">
            <a:extLst xmlns:a="http://schemas.openxmlformats.org/drawingml/2006/main">
              <a:ext uri="{FF2B5EF4-FFF2-40B4-BE49-F238E27FC236}">
                <a16:creationId xmlns:a16="http://schemas.microsoft.com/office/drawing/2014/main" id="{908B1D02-C159-43AF-85F3-88911EF4FE84}"/>
              </a:ext>
            </a:extLst>
          </p:cNvPr>
          <p:cNvSpPr>
            <a:spLocks xmlns:a="http://schemas.openxmlformats.org/drawingml/2006/main" noGrp="1"/>
          </p:cNvSpPr>
          <p:nvPr/>
        </p:nvSpPr>
        <p:spPr>
          <a:xfrm xmlns:a="http://schemas.openxmlformats.org/drawingml/2006/main">
            <a:off x="609600" y="207645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eₜ = actualₜ − forecastₜ</a:t>
            </a:r>
          </a:p>
        </p:txBody>
      </p:sp>
      <p:sp>
        <p:nvSpPr>
          <p:cNvPr id="6" name="">
            <a:extLst xmlns:a="http://schemas.openxmlformats.org/drawingml/2006/main">
              <a:ext uri="{FF2B5EF4-FFF2-40B4-BE49-F238E27FC236}">
                <a16:creationId xmlns:a16="http://schemas.microsoft.com/office/drawing/2014/main" id="{38ECC592-1ACD-4A07-BB76-EC5DF8394CEB}"/>
              </a:ext>
            </a:extLst>
          </p:cNvPr>
          <p:cNvSpPr>
            <a:spLocks xmlns:a="http://schemas.openxmlformats.org/drawingml/2006/main" noGrp="1"/>
          </p:cNvSpPr>
          <p:nvPr/>
        </p:nvSpPr>
        <p:spPr>
          <a:xfrm xmlns:a="http://schemas.openxmlformats.org/drawingml/2006/main">
            <a:off x="609600" y="3105150"/>
            <a:ext cx="409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Causal Gaussian margin</a:t>
            </a:r>
          </a:p>
        </p:txBody>
      </p:sp>
      <p:sp>
        <p:nvSpPr>
          <p:cNvPr id="7" name="">
            <a:extLst xmlns:a="http://schemas.openxmlformats.org/drawingml/2006/main">
              <a:ext uri="{FF2B5EF4-FFF2-40B4-BE49-F238E27FC236}">
                <a16:creationId xmlns:a16="http://schemas.microsoft.com/office/drawing/2014/main" id="{7ACB613C-D0DB-4C40-B59B-3B5B9F0F88F4}"/>
              </a:ext>
            </a:extLst>
          </p:cNvPr>
          <p:cNvSpPr>
            <a:spLocks xmlns:a="http://schemas.openxmlformats.org/drawingml/2006/main" noGrp="1"/>
          </p:cNvSpPr>
          <p:nvPr/>
        </p:nvSpPr>
        <p:spPr>
          <a:xfrm xmlns:a="http://schemas.openxmlformats.org/drawingml/2006/main">
            <a:off x="609600" y="353377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mₜ = max{ Φ⁻¹(1−δ) σₜ − μₜ , 0 }</a:t>
            </a:r>
          </a:p>
        </p:txBody>
      </p:sp>
      <p:sp>
        <p:nvSpPr>
          <p:cNvPr id="8" name="">
            <a:extLst xmlns:a="http://schemas.openxmlformats.org/drawingml/2006/main">
              <a:ext uri="{FF2B5EF4-FFF2-40B4-BE49-F238E27FC236}">
                <a16:creationId xmlns:a16="http://schemas.microsoft.com/office/drawing/2014/main" id="{982FF4CE-52F6-4483-92F9-254B5FB73787}"/>
              </a:ext>
            </a:extLst>
          </p:cNvPr>
          <p:cNvSpPr>
            <a:spLocks xmlns:a="http://schemas.openxmlformats.org/drawingml/2006/main" noGrp="1"/>
          </p:cNvSpPr>
          <p:nvPr/>
        </p:nvSpPr>
        <p:spPr>
          <a:xfrm xmlns:a="http://schemas.openxmlformats.org/drawingml/2006/main">
            <a:off x="609600" y="4648200"/>
            <a:ext cx="409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Non-Gaussian check</a:t>
            </a:r>
          </a:p>
        </p:txBody>
      </p:sp>
      <p:sp>
        <p:nvSpPr>
          <p:cNvPr id="9" name="">
            <a:extLst xmlns:a="http://schemas.openxmlformats.org/drawingml/2006/main">
              <a:ext uri="{FF2B5EF4-FFF2-40B4-BE49-F238E27FC236}">
                <a16:creationId xmlns:a16="http://schemas.microsoft.com/office/drawing/2014/main" id="{EA0939A5-E7A1-4F9E-A2AE-10A328998062}"/>
              </a:ext>
            </a:extLst>
          </p:cNvPr>
          <p:cNvSpPr>
            <a:spLocks xmlns:a="http://schemas.openxmlformats.org/drawingml/2006/main" noGrp="1"/>
          </p:cNvSpPr>
          <p:nvPr/>
        </p:nvSpPr>
        <p:spPr>
          <a:xfrm xmlns:a="http://schemas.openxmlformats.org/drawingml/2006/main">
            <a:off x="609600" y="50768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mₜ = max{ Q₁₋δ(forecast − actual), 0 }</a:t>
            </a:r>
          </a:p>
        </p:txBody>
      </p:sp>
      <p:sp>
        <p:nvSpPr>
          <p:cNvPr id="10" name="">
            <a:extLst xmlns:a="http://schemas.openxmlformats.org/drawingml/2006/main">
              <a:ext uri="{FF2B5EF4-FFF2-40B4-BE49-F238E27FC236}">
                <a16:creationId xmlns:a16="http://schemas.microsoft.com/office/drawing/2014/main" id="{104D36F7-2811-4BAD-87DE-53DAE19E94E4}"/>
              </a:ext>
            </a:extLst>
          </p:cNvPr>
          <p:cNvSpPr>
            <a:spLocks xmlns:a="http://schemas.openxmlformats.org/drawingml/2006/main" noGrp="1"/>
          </p:cNvSpPr>
          <p:nvPr/>
        </p:nvSpPr>
        <p:spPr>
          <a:xfrm xmlns:a="http://schemas.openxmlformats.org/drawingml/2006/main">
            <a:off x="609600" y="60102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DCE9E2"/>
                </a:solidFill>
                <a:latin typeface="Calibri"/>
                <a:ea typeface="Calibri"/>
                <a:cs typeface="Calibri"/>
              </a:defRPr>
            </a:pPr>
            <a:r>
              <a:rPr sz="1575" b="0">
                <a:solidFill>
                  <a:srgbClr val="DCE9E2"/>
                </a:solidFill>
                <a:latin typeface="Calibri"/>
                <a:ea typeface="Calibri"/>
                <a:cs typeface="Calibri"/>
              </a:rPr>
              <a:t>A 95% margin target does not override backup power or energy limits.</a:t>
            </a:r>
          </a:p>
        </p:txBody>
      </p:sp>
    </p:spTree>
    <p:extLst>
      <p:ext uri="{BB962C8B-B14F-4D97-AF65-F5344CB8AC3E}">
        <p14:creationId xmlns:p14="http://schemas.microsoft.com/office/powerpoint/2010/main" val="1695125071"/>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25EB40C-1C43-46BF-A5C0-7472E28F59CB}"/>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A small linear program makes asset limits explicit</a:t>
            </a:r>
          </a:p>
        </p:txBody>
      </p:sp>
      <p:sp>
        <p:nvSpPr>
          <p:cNvPr id="2" name="">
            <a:extLst xmlns:a="http://schemas.openxmlformats.org/drawingml/2006/main">
              <a:ext uri="{FF2B5EF4-FFF2-40B4-BE49-F238E27FC236}">
                <a16:creationId xmlns:a16="http://schemas.microsoft.com/office/drawing/2014/main" id="{B6F140FB-5A6B-49AE-8E51-B614B0D9D24D}"/>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0090699B-7FE7-4565-8B47-D64A28884DE6}"/>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08</a:t>
            </a:r>
          </a:p>
        </p:txBody>
      </p:sp>
      <p:sp>
        <p:nvSpPr>
          <p:cNvPr id="4" name="">
            <a:extLst xmlns:a="http://schemas.openxmlformats.org/drawingml/2006/main">
              <a:ext uri="{FF2B5EF4-FFF2-40B4-BE49-F238E27FC236}">
                <a16:creationId xmlns:a16="http://schemas.microsoft.com/office/drawing/2014/main" id="{27C5F39B-C071-4688-8B40-6BAFF845B149}"/>
              </a:ext>
            </a:extLst>
          </p:cNvPr>
          <p:cNvSpPr>
            <a:spLocks xmlns:a="http://schemas.openxmlformats.org/drawingml/2006/main" noGrp="1"/>
          </p:cNvSpPr>
          <p:nvPr/>
        </p:nvSpPr>
        <p:spPr>
          <a:xfrm xmlns:a="http://schemas.openxmlformats.org/drawingml/2006/main">
            <a:off x="609600" y="162877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1  Expected gap</a:t>
            </a:r>
          </a:p>
        </p:txBody>
      </p:sp>
      <p:sp>
        <p:nvSpPr>
          <p:cNvPr id="5" name="">
            <a:extLst xmlns:a="http://schemas.openxmlformats.org/drawingml/2006/main">
              <a:ext uri="{FF2B5EF4-FFF2-40B4-BE49-F238E27FC236}">
                <a16:creationId xmlns:a16="http://schemas.microsoft.com/office/drawing/2014/main" id="{BAB11561-F2DB-4E08-9291-998B5450634C}"/>
              </a:ext>
            </a:extLst>
          </p:cNvPr>
          <p:cNvSpPr>
            <a:spLocks xmlns:a="http://schemas.openxmlformats.org/drawingml/2006/main" noGrp="1"/>
          </p:cNvSpPr>
          <p:nvPr/>
        </p:nvSpPr>
        <p:spPr>
          <a:xfrm xmlns:a="http://schemas.openxmlformats.org/drawingml/2006/main">
            <a:off x="609600" y="20478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73B35"/>
                </a:solidFill>
                <a:latin typeface="Calibri"/>
                <a:ea typeface="Calibri"/>
                <a:cs typeface="Calibri"/>
              </a:defRPr>
            </a:pPr>
            <a:r>
              <a:rPr sz="2175" b="1">
                <a:solidFill>
                  <a:srgbClr val="073B35"/>
                </a:solidFill>
                <a:latin typeface="Calibri"/>
                <a:ea typeface="Calibri"/>
                <a:cs typeface="Calibri"/>
              </a:rPr>
              <a:t>gₜ = max(Dₜ − Gₜ − R̂ₜ, 0)</a:t>
            </a:r>
          </a:p>
        </p:txBody>
      </p:sp>
      <p:sp>
        <p:nvSpPr>
          <p:cNvPr id="6" name="">
            <a:extLst xmlns:a="http://schemas.openxmlformats.org/drawingml/2006/main">
              <a:ext uri="{FF2B5EF4-FFF2-40B4-BE49-F238E27FC236}">
                <a16:creationId xmlns:a16="http://schemas.microsoft.com/office/drawing/2014/main" id="{2B2809BE-0BD4-49BA-ADE5-B6E84D6F1E20}"/>
              </a:ext>
            </a:extLst>
          </p:cNvPr>
          <p:cNvSpPr>
            <a:spLocks xmlns:a="http://schemas.openxmlformats.org/drawingml/2006/main" noGrp="1"/>
          </p:cNvSpPr>
          <p:nvPr/>
        </p:nvSpPr>
        <p:spPr>
          <a:xfrm xmlns:a="http://schemas.openxmlformats.org/drawingml/2006/main">
            <a:off x="609600" y="27908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2  Requirement</a:t>
            </a:r>
          </a:p>
        </p:txBody>
      </p:sp>
      <p:sp>
        <p:nvSpPr>
          <p:cNvPr id="7" name="">
            <a:extLst xmlns:a="http://schemas.openxmlformats.org/drawingml/2006/main">
              <a:ext uri="{FF2B5EF4-FFF2-40B4-BE49-F238E27FC236}">
                <a16:creationId xmlns:a16="http://schemas.microsoft.com/office/drawing/2014/main" id="{65F60348-58DB-4198-8072-937025D8534B}"/>
              </a:ext>
            </a:extLst>
          </p:cNvPr>
          <p:cNvSpPr>
            <a:spLocks xmlns:a="http://schemas.openxmlformats.org/drawingml/2006/main" noGrp="1"/>
          </p:cNvSpPr>
          <p:nvPr/>
        </p:nvSpPr>
        <p:spPr>
          <a:xfrm xmlns:a="http://schemas.openxmlformats.org/drawingml/2006/main">
            <a:off x="609600" y="32099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73B35"/>
                </a:solidFill>
                <a:latin typeface="Calibri"/>
                <a:ea typeface="Calibri"/>
                <a:cs typeface="Calibri"/>
              </a:defRPr>
            </a:pPr>
            <a:r>
              <a:rPr sz="2325" b="1">
                <a:solidFill>
                  <a:srgbClr val="073B35"/>
                </a:solidFill>
                <a:latin typeface="Calibri"/>
                <a:ea typeface="Calibri"/>
                <a:cs typeface="Calibri"/>
              </a:rPr>
              <a:t>bₜ = gₜ + mₜ</a:t>
            </a:r>
          </a:p>
        </p:txBody>
      </p:sp>
      <p:sp>
        <p:nvSpPr>
          <p:cNvPr id="8" name="">
            <a:extLst xmlns:a="http://schemas.openxmlformats.org/drawingml/2006/main">
              <a:ext uri="{FF2B5EF4-FFF2-40B4-BE49-F238E27FC236}">
                <a16:creationId xmlns:a16="http://schemas.microsoft.com/office/drawing/2014/main" id="{D0764B4B-B418-4824-BDB8-402F4FE21FAB}"/>
              </a:ext>
            </a:extLst>
          </p:cNvPr>
          <p:cNvSpPr>
            <a:spLocks xmlns:a="http://schemas.openxmlformats.org/drawingml/2006/main" noGrp="1"/>
          </p:cNvSpPr>
          <p:nvPr/>
        </p:nvSpPr>
        <p:spPr>
          <a:xfrm xmlns:a="http://schemas.openxmlformats.org/drawingml/2006/main">
            <a:off x="609600" y="39624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3  Daily decision</a:t>
            </a:r>
          </a:p>
        </p:txBody>
      </p:sp>
      <p:sp>
        <p:nvSpPr>
          <p:cNvPr id="9" name="">
            <a:extLst xmlns:a="http://schemas.openxmlformats.org/drawingml/2006/main">
              <a:ext uri="{FF2B5EF4-FFF2-40B4-BE49-F238E27FC236}">
                <a16:creationId xmlns:a16="http://schemas.microsoft.com/office/drawing/2014/main" id="{F88C0D29-4C7D-4C58-AE1B-3683D5778889}"/>
              </a:ext>
            </a:extLst>
          </p:cNvPr>
          <p:cNvSpPr>
            <a:spLocks xmlns:a="http://schemas.openxmlformats.org/drawingml/2006/main" noGrp="1"/>
          </p:cNvSpPr>
          <p:nvPr/>
        </p:nvSpPr>
        <p:spPr>
          <a:xfrm xmlns:a="http://schemas.openxmlformats.org/drawingml/2006/main">
            <a:off x="609600" y="4381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73B35"/>
                </a:solidFill>
                <a:latin typeface="Calibri"/>
                <a:ea typeface="Calibri"/>
                <a:cs typeface="Calibri"/>
              </a:defRPr>
            </a:pPr>
            <a:r>
              <a:rPr sz="2325" b="1">
                <a:solidFill>
                  <a:srgbClr val="073B35"/>
                </a:solidFill>
                <a:latin typeface="Calibri"/>
                <a:ea typeface="Calibri"/>
                <a:cs typeface="Calibri"/>
              </a:rPr>
              <a:t>min  Σ Δt(cqₜ + cₜuₜ)</a:t>
            </a:r>
          </a:p>
        </p:txBody>
      </p:sp>
      <p:sp>
        <p:nvSpPr>
          <p:cNvPr id="10" name="">
            <a:extLst xmlns:a="http://schemas.openxmlformats.org/drawingml/2006/main">
              <a:ext uri="{FF2B5EF4-FFF2-40B4-BE49-F238E27FC236}">
                <a16:creationId xmlns:a16="http://schemas.microsoft.com/office/drawing/2014/main" id="{2819AD44-00DA-41BC-8B7E-3F7F56BB336B}"/>
              </a:ext>
            </a:extLst>
          </p:cNvPr>
          <p:cNvSpPr>
            <a:spLocks xmlns:a="http://schemas.openxmlformats.org/drawingml/2006/main" noGrp="1"/>
          </p:cNvSpPr>
          <p:nvPr/>
        </p:nvSpPr>
        <p:spPr>
          <a:xfrm xmlns:a="http://schemas.openxmlformats.org/drawingml/2006/main">
            <a:off x="5924550" y="1619250"/>
            <a:ext cx="0" cy="4095750"/>
          </a:xfrm>
          <a:prstGeom xmlns:a="http://schemas.openxmlformats.org/drawingml/2006/main" prst="line">
            <a:avLst/>
          </a:prstGeom>
          <a:ln xmlns:a="http://schemas.openxmlformats.org/drawingml/2006/main" w="19050">
            <a:solidFill>
              <a:srgbClr val="CBD8CF"/>
            </a:solidFill>
          </a:ln>
        </p:spPr>
      </p:sp>
      <p:sp>
        <p:nvSpPr>
          <p:cNvPr id="11" name="">
            <a:extLst xmlns:a="http://schemas.openxmlformats.org/drawingml/2006/main">
              <a:ext uri="{FF2B5EF4-FFF2-40B4-BE49-F238E27FC236}">
                <a16:creationId xmlns:a16="http://schemas.microsoft.com/office/drawing/2014/main" id="{2CBECDD1-3329-4DD0-B950-C2106C61A037}"/>
              </a:ext>
            </a:extLst>
          </p:cNvPr>
          <p:cNvSpPr>
            <a:spLocks xmlns:a="http://schemas.openxmlformats.org/drawingml/2006/main" noGrp="1"/>
          </p:cNvSpPr>
          <p:nvPr/>
        </p:nvSpPr>
        <p:spPr>
          <a:xfrm xmlns:a="http://schemas.openxmlformats.org/drawingml/2006/main">
            <a:off x="6524625" y="16478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Subject to</a:t>
            </a:r>
          </a:p>
        </p:txBody>
      </p:sp>
      <p:sp>
        <p:nvSpPr>
          <p:cNvPr id="12" name="">
            <a:extLst xmlns:a="http://schemas.openxmlformats.org/drawingml/2006/main">
              <a:ext uri="{FF2B5EF4-FFF2-40B4-BE49-F238E27FC236}">
                <a16:creationId xmlns:a16="http://schemas.microsoft.com/office/drawing/2014/main" id="{925A4AB9-CE2F-497D-9FAA-449A9A872B45}"/>
              </a:ext>
            </a:extLst>
          </p:cNvPr>
          <p:cNvSpPr>
            <a:spLocks xmlns:a="http://schemas.openxmlformats.org/drawingml/2006/main" noGrp="1"/>
          </p:cNvSpPr>
          <p:nvPr/>
        </p:nvSpPr>
        <p:spPr>
          <a:xfrm xmlns:a="http://schemas.openxmlformats.org/drawingml/2006/main">
            <a:off x="6524625" y="2124075"/>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73B35"/>
                </a:solidFill>
                <a:latin typeface="Calibri"/>
                <a:ea typeface="Calibri"/>
                <a:cs typeface="Calibri"/>
              </a:defRPr>
            </a:pPr>
            <a:r>
              <a:rPr sz="2400" b="0">
                <a:solidFill>
                  <a:srgbClr val="073B35"/>
                </a:solidFill>
                <a:latin typeface="Calibri"/>
                <a:ea typeface="Calibri"/>
                <a:cs typeface="Calibri"/>
              </a:rPr>
              <a:t>qₜ + uₜ ≥ bₜ</a:t>
            </a:r>
          </a:p>
          <a:p xmlns:a="http://schemas.openxmlformats.org/drawingml/2006/main">
            <a:pPr algn="l">
              <a:defRPr sz="2400" b="0">
                <a:solidFill>
                  <a:srgbClr val="073B35"/>
                </a:solidFill>
                <a:latin typeface="Calibri"/>
                <a:ea typeface="Calibri"/>
                <a:cs typeface="Calibri"/>
              </a:defRPr>
            </a:pPr>
            <a:r>
              <a:rPr sz="2400" b="0">
                <a:solidFill>
                  <a:srgbClr val="073B35"/>
                </a:solidFill>
                <a:latin typeface="Calibri"/>
                <a:ea typeface="Calibri"/>
                <a:cs typeface="Calibri"/>
              </a:rPr>
              <a:t>0 ≤ qₜ ≤ Pmax</a:t>
            </a:r>
          </a:p>
          <a:p xmlns:a="http://schemas.openxmlformats.org/drawingml/2006/main">
            <a:pPr algn="l">
              <a:defRPr sz="2400" b="0">
                <a:solidFill>
                  <a:srgbClr val="073B35"/>
                </a:solidFill>
                <a:latin typeface="Calibri"/>
                <a:ea typeface="Calibri"/>
                <a:cs typeface="Calibri"/>
              </a:defRPr>
            </a:pPr>
            <a:r>
              <a:rPr sz="2400" b="0">
                <a:solidFill>
                  <a:srgbClr val="073B35"/>
                </a:solidFill>
                <a:latin typeface="Calibri"/>
                <a:ea typeface="Calibri"/>
                <a:cs typeface="Calibri"/>
              </a:rPr>
              <a:t>Σ qₜ Δt ≤ Emax</a:t>
            </a:r>
          </a:p>
          <a:p xmlns:a="http://schemas.openxmlformats.org/drawingml/2006/main">
            <a:pPr algn="l">
              <a:defRPr sz="2400" b="0">
                <a:solidFill>
                  <a:srgbClr val="073B35"/>
                </a:solidFill>
                <a:latin typeface="Calibri"/>
                <a:ea typeface="Calibri"/>
                <a:cs typeface="Calibri"/>
              </a:defRPr>
            </a:pPr>
            <a:r>
              <a:rPr sz="2400" b="0">
                <a:solidFill>
                  <a:srgbClr val="073B35"/>
                </a:solidFill>
                <a:latin typeface="Calibri"/>
                <a:ea typeface="Calibri"/>
                <a:cs typeface="Calibri"/>
              </a:rPr>
              <a:t>uₜ ≥ 0</a:t>
            </a:r>
          </a:p>
        </p:txBody>
      </p:sp>
      <p:sp>
        <p:nvSpPr>
          <p:cNvPr id="13" name="">
            <a:extLst xmlns:a="http://schemas.openxmlformats.org/drawingml/2006/main">
              <a:ext uri="{FF2B5EF4-FFF2-40B4-BE49-F238E27FC236}">
                <a16:creationId xmlns:a16="http://schemas.microsoft.com/office/drawing/2014/main" id="{9AF2A508-51D7-405D-9163-9AA59FC2F147}"/>
              </a:ext>
            </a:extLst>
          </p:cNvPr>
          <p:cNvSpPr>
            <a:spLocks xmlns:a="http://schemas.openxmlformats.org/drawingml/2006/main" noGrp="1"/>
          </p:cNvSpPr>
          <p:nvPr/>
        </p:nvSpPr>
        <p:spPr>
          <a:xfrm xmlns:a="http://schemas.openxmlformats.org/drawingml/2006/main">
            <a:off x="6524625" y="4438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Operator output</a:t>
            </a:r>
          </a:p>
        </p:txBody>
      </p:sp>
      <p:sp>
        <p:nvSpPr>
          <p:cNvPr id="14" name="">
            <a:extLst xmlns:a="http://schemas.openxmlformats.org/drawingml/2006/main">
              <a:ext uri="{FF2B5EF4-FFF2-40B4-BE49-F238E27FC236}">
                <a16:creationId xmlns:a16="http://schemas.microsoft.com/office/drawing/2014/main" id="{BED5C56D-B06A-4F2C-861C-0DB14AC881FF}"/>
              </a:ext>
            </a:extLst>
          </p:cNvPr>
          <p:cNvSpPr>
            <a:spLocks xmlns:a="http://schemas.openxmlformats.org/drawingml/2006/main" noGrp="1"/>
          </p:cNvSpPr>
          <p:nvPr/>
        </p:nvSpPr>
        <p:spPr>
          <a:xfrm xmlns:a="http://schemas.openxmlformats.org/drawingml/2006/main">
            <a:off x="6524625" y="487680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E7D61"/>
                </a:solidFill>
                <a:latin typeface="Calibri"/>
                <a:ea typeface="Calibri"/>
                <a:cs typeface="Calibri"/>
              </a:defRPr>
            </a:pPr>
            <a:r>
              <a:rPr sz="2175" b="1">
                <a:solidFill>
                  <a:srgbClr val="4E7D61"/>
                </a:solidFill>
                <a:latin typeface="Calibri"/>
                <a:ea typeface="Calibri"/>
                <a:cs typeface="Calibri"/>
              </a:rPr>
              <a:t>Grid import + scheduled backup</a:t>
            </a:r>
          </a:p>
          <a:p xmlns:a="http://schemas.openxmlformats.org/drawingml/2006/main">
            <a:pPr algn="l">
              <a:defRPr sz="2175" b="1">
                <a:solidFill>
                  <a:srgbClr val="4E7D61"/>
                </a:solidFill>
                <a:latin typeface="Calibri"/>
                <a:ea typeface="Calibri"/>
                <a:cs typeface="Calibri"/>
              </a:defRPr>
            </a:pPr>
            <a:r>
              <a:rPr sz="2175" b="1">
                <a:solidFill>
                  <a:srgbClr val="4E7D61"/>
                </a:solidFill>
                <a:latin typeface="Calibri"/>
                <a:ea typeface="Calibri"/>
                <a:cs typeface="Calibri"/>
              </a:rPr>
              <a:t>+ visible capacity warning</a:t>
            </a:r>
          </a:p>
        </p:txBody>
      </p:sp>
      <p:sp>
        <p:nvSpPr>
          <p:cNvPr id="15" name="">
            <a:extLst xmlns:a="http://schemas.openxmlformats.org/drawingml/2006/main">
              <a:ext uri="{FF2B5EF4-FFF2-40B4-BE49-F238E27FC236}">
                <a16:creationId xmlns:a16="http://schemas.microsoft.com/office/drawing/2014/main" id="{23BF72D3-7C1B-4224-ABFA-D8B7A6A29A0E}"/>
              </a:ext>
            </a:extLst>
          </p:cNvPr>
          <p:cNvSpPr>
            <a:spLocks xmlns:a="http://schemas.openxmlformats.org/drawingml/2006/main" noGrp="1"/>
          </p:cNvSpPr>
          <p:nvPr/>
        </p:nvSpPr>
        <p:spPr>
          <a:xfrm xmlns:a="http://schemas.openxmlformats.org/drawingml/2006/main">
            <a:off x="609600" y="60388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Implemented with SciPy HiGHS. Limits and costs are configurable assumptions.</a:t>
            </a:r>
          </a:p>
        </p:txBody>
      </p:sp>
    </p:spTree>
    <p:extLst>
      <p:ext uri="{BB962C8B-B14F-4D97-AF65-F5344CB8AC3E}">
        <p14:creationId xmlns:p14="http://schemas.microsoft.com/office/powerpoint/2010/main" val="119612031"/>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2E65D4-DD7A-475E-84FD-4E770D19B383}"/>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Constrained scheduling improves both cost and reliability</a:t>
            </a:r>
          </a:p>
        </p:txBody>
      </p:sp>
      <p:sp>
        <p:nvSpPr>
          <p:cNvPr id="2" name="">
            <a:extLst xmlns:a="http://schemas.openxmlformats.org/drawingml/2006/main">
              <a:ext uri="{FF2B5EF4-FFF2-40B4-BE49-F238E27FC236}">
                <a16:creationId xmlns:a16="http://schemas.microsoft.com/office/drawing/2014/main" id="{01071312-C454-445A-89F0-5962C8AA8772}"/>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C5A9A1B8-B3B0-4321-A75D-9B9611C8A234}"/>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09</a:t>
            </a:r>
          </a:p>
        </p:txBody>
      </p:sp>
      <p:sp>
        <p:nvSpPr>
          <p:cNvPr id="4" name="">
            <a:extLst xmlns:a="http://schemas.openxmlformats.org/drawingml/2006/main">
              <a:ext uri="{FF2B5EF4-FFF2-40B4-BE49-F238E27FC236}">
                <a16:creationId xmlns:a16="http://schemas.microsoft.com/office/drawing/2014/main" id="{4CF50DA1-3C0A-4575-9C7B-E2E8F3E303D9}"/>
              </a:ext>
            </a:extLst>
          </p:cNvPr>
          <p:cNvSpPr>
            <a:spLocks xmlns:a="http://schemas.openxmlformats.org/drawingml/2006/main" noGrp="1"/>
          </p:cNvSpPr>
          <p:nvPr/>
        </p:nvSpPr>
        <p:spPr>
          <a:xfrm xmlns:a="http://schemas.openxmlformats.org/drawingml/2006/main">
            <a:off x="609600" y="15430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Five-seed means  /  simulation</a:t>
            </a:r>
          </a:p>
        </p:txBody>
      </p:sp>
      <p:graphicFrame>
        <p:nvGraphicFramePr>
          <p:cNvPr id="17" name="Chart"/>
          <p:cNvGraphicFramePr/>
          <p:nvPr/>
        </p:nvGraphicFramePr>
        <p:xfrm>
          <a:off xmlns:a="http://schemas.openxmlformats.org/drawingml/2006/main" x="523875" y="2066925"/>
          <a:ext xmlns:a="http://schemas.openxmlformats.org/drawingml/2006/main" cx="6238875" cy="3238500"/>
        </p:xfrm>
        <a:graphic xmlns:a="http://schemas.openxmlformats.org/drawingml/2006/main">
          <a:graphicData uri="http://schemas.openxmlformats.org/drawingml/2006/chart">
            <c:chart xmlns:r="http://schemas.openxmlformats.org/officeDocument/2006/relationships" xmlns:c="http://schemas.openxmlformats.org/drawingml/2006/chart" r:id="Rd1e7098efe2a46b0"/>
          </a:graphicData>
        </a:graphic>
      </p:graphicFrame>
      <p:sp>
        <p:nvSpPr>
          <p:cNvPr id="6" name="">
            <a:extLst xmlns:a="http://schemas.openxmlformats.org/drawingml/2006/main">
              <a:ext uri="{FF2B5EF4-FFF2-40B4-BE49-F238E27FC236}">
                <a16:creationId xmlns:a16="http://schemas.microsoft.com/office/drawing/2014/main" id="{E24DC191-7735-4281-B6AB-6CB2BC7B4F8C}"/>
              </a:ext>
            </a:extLst>
          </p:cNvPr>
          <p:cNvSpPr>
            <a:spLocks xmlns:a="http://schemas.openxmlformats.org/drawingml/2006/main" noGrp="1"/>
          </p:cNvSpPr>
          <p:nvPr/>
        </p:nvSpPr>
        <p:spPr>
          <a:xfrm xmlns:a="http://schemas.openxmlformats.org/drawingml/2006/main">
            <a:off x="7315200" y="200025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4E7D61"/>
                </a:solidFill>
                <a:latin typeface="Calibri"/>
                <a:ea typeface="Calibri"/>
                <a:cs typeface="Calibri"/>
              </a:defRPr>
            </a:pPr>
            <a:r>
              <a:rPr sz="3900" b="1">
                <a:solidFill>
                  <a:srgbClr val="4E7D61"/>
                </a:solidFill>
                <a:latin typeface="Calibri"/>
                <a:ea typeface="Calibri"/>
                <a:cs typeface="Calibri"/>
              </a:rPr>
              <a:t>−34.9%</a:t>
            </a:r>
          </a:p>
        </p:txBody>
      </p:sp>
      <p:sp>
        <p:nvSpPr>
          <p:cNvPr id="7" name="">
            <a:extLst xmlns:a="http://schemas.openxmlformats.org/drawingml/2006/main">
              <a:ext uri="{FF2B5EF4-FFF2-40B4-BE49-F238E27FC236}">
                <a16:creationId xmlns:a16="http://schemas.microsoft.com/office/drawing/2014/main" id="{6E191519-7ED5-46DC-89C1-B17A3B22B3B6}"/>
              </a:ext>
            </a:extLst>
          </p:cNvPr>
          <p:cNvSpPr>
            <a:spLocks xmlns:a="http://schemas.openxmlformats.org/drawingml/2006/main" noGrp="1"/>
          </p:cNvSpPr>
          <p:nvPr/>
        </p:nvSpPr>
        <p:spPr>
          <a:xfrm xmlns:a="http://schemas.openxmlformats.org/drawingml/2006/main">
            <a:off x="7315200" y="26574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scheduled backup</a:t>
            </a:r>
          </a:p>
        </p:txBody>
      </p:sp>
      <p:sp>
        <p:nvSpPr>
          <p:cNvPr id="8" name="">
            <a:extLst xmlns:a="http://schemas.openxmlformats.org/drawingml/2006/main">
              <a:ext uri="{FF2B5EF4-FFF2-40B4-BE49-F238E27FC236}">
                <a16:creationId xmlns:a16="http://schemas.microsoft.com/office/drawing/2014/main" id="{59A3FC0F-8A56-4C13-A5A4-A7BEE3C65C7A}"/>
              </a:ext>
            </a:extLst>
          </p:cNvPr>
          <p:cNvSpPr>
            <a:spLocks xmlns:a="http://schemas.openxmlformats.org/drawingml/2006/main" noGrp="1"/>
          </p:cNvSpPr>
          <p:nvPr/>
        </p:nvSpPr>
        <p:spPr>
          <a:xfrm xmlns:a="http://schemas.openxmlformats.org/drawingml/2006/main">
            <a:off x="7315200" y="337185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4E7D61"/>
                </a:solidFill>
                <a:latin typeface="Calibri"/>
                <a:ea typeface="Calibri"/>
                <a:cs typeface="Calibri"/>
              </a:defRPr>
            </a:pPr>
            <a:r>
              <a:rPr sz="3900" b="1">
                <a:solidFill>
                  <a:srgbClr val="4E7D61"/>
                </a:solidFill>
                <a:latin typeface="Calibri"/>
                <a:ea typeface="Calibri"/>
                <a:cs typeface="Calibri"/>
              </a:rPr>
              <a:t>−10.3%</a:t>
            </a:r>
          </a:p>
        </p:txBody>
      </p:sp>
      <p:sp>
        <p:nvSpPr>
          <p:cNvPr id="9" name="">
            <a:extLst xmlns:a="http://schemas.openxmlformats.org/drawingml/2006/main">
              <a:ext uri="{FF2B5EF4-FFF2-40B4-BE49-F238E27FC236}">
                <a16:creationId xmlns:a16="http://schemas.microsoft.com/office/drawing/2014/main" id="{F714C851-EC09-4134-9A85-C4D3F85E2472}"/>
              </a:ext>
            </a:extLst>
          </p:cNvPr>
          <p:cNvSpPr>
            <a:spLocks xmlns:a="http://schemas.openxmlformats.org/drawingml/2006/main" noGrp="1"/>
          </p:cNvSpPr>
          <p:nvPr/>
        </p:nvSpPr>
        <p:spPr>
          <a:xfrm xmlns:a="http://schemas.openxmlformats.org/drawingml/2006/main">
            <a:off x="7315200" y="40290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unserved energy</a:t>
            </a:r>
          </a:p>
        </p:txBody>
      </p:sp>
      <p:sp>
        <p:nvSpPr>
          <p:cNvPr id="10" name="">
            <a:extLst xmlns:a="http://schemas.openxmlformats.org/drawingml/2006/main">
              <a:ext uri="{FF2B5EF4-FFF2-40B4-BE49-F238E27FC236}">
                <a16:creationId xmlns:a16="http://schemas.microsoft.com/office/drawing/2014/main" id="{26DE1450-3E79-4A7A-8086-517198D6EEE9}"/>
              </a:ext>
            </a:extLst>
          </p:cNvPr>
          <p:cNvSpPr>
            <a:spLocks xmlns:a="http://schemas.openxmlformats.org/drawingml/2006/main" noGrp="1"/>
          </p:cNvSpPr>
          <p:nvPr/>
        </p:nvSpPr>
        <p:spPr>
          <a:xfrm xmlns:a="http://schemas.openxmlformats.org/drawingml/2006/main">
            <a:off x="7315200" y="474345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4E7D61"/>
                </a:solidFill>
                <a:latin typeface="Calibri"/>
                <a:ea typeface="Calibri"/>
                <a:cs typeface="Calibri"/>
              </a:defRPr>
            </a:pPr>
            <a:r>
              <a:rPr sz="3900" b="1">
                <a:solidFill>
                  <a:srgbClr val="4E7D61"/>
                </a:solidFill>
                <a:latin typeface="Calibri"/>
                <a:ea typeface="Calibri"/>
                <a:cs typeface="Calibri"/>
              </a:rPr>
              <a:t>−17.2%</a:t>
            </a:r>
          </a:p>
        </p:txBody>
      </p:sp>
      <p:sp>
        <p:nvSpPr>
          <p:cNvPr id="11" name="">
            <a:extLst xmlns:a="http://schemas.openxmlformats.org/drawingml/2006/main">
              <a:ext uri="{FF2B5EF4-FFF2-40B4-BE49-F238E27FC236}">
                <a16:creationId xmlns:a16="http://schemas.microsoft.com/office/drawing/2014/main" id="{AA69ADC0-4CC7-44D6-B2C6-C36BD4FC6209}"/>
              </a:ext>
            </a:extLst>
          </p:cNvPr>
          <p:cNvSpPr>
            <a:spLocks xmlns:a="http://schemas.openxmlformats.org/drawingml/2006/main" noGrp="1"/>
          </p:cNvSpPr>
          <p:nvPr/>
        </p:nvSpPr>
        <p:spPr>
          <a:xfrm xmlns:a="http://schemas.openxmlformats.org/drawingml/2006/main">
            <a:off x="7315200" y="54006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73B35"/>
                </a:solidFill>
                <a:latin typeface="Calibri"/>
                <a:ea typeface="Calibri"/>
                <a:cs typeface="Calibri"/>
              </a:defRPr>
            </a:pPr>
            <a:r>
              <a:rPr sz="1800" b="0">
                <a:solidFill>
                  <a:srgbClr val="073B35"/>
                </a:solidFill>
                <a:latin typeface="Calibri"/>
                <a:ea typeface="Calibri"/>
                <a:cs typeface="Calibri"/>
              </a:rPr>
              <a:t>assumed total cost</a:t>
            </a:r>
          </a:p>
        </p:txBody>
      </p:sp>
      <p:sp>
        <p:nvSpPr>
          <p:cNvPr id="12" name="">
            <a:extLst xmlns:a="http://schemas.openxmlformats.org/drawingml/2006/main">
              <a:ext uri="{FF2B5EF4-FFF2-40B4-BE49-F238E27FC236}">
                <a16:creationId xmlns:a16="http://schemas.microsoft.com/office/drawing/2014/main" id="{2610039D-1C9A-492A-9F0F-E0604252F57A}"/>
              </a:ext>
            </a:extLst>
          </p:cNvPr>
          <p:cNvSpPr>
            <a:spLocks xmlns:a="http://schemas.openxmlformats.org/drawingml/2006/main" noGrp="1"/>
          </p:cNvSpPr>
          <p:nvPr/>
        </p:nvSpPr>
        <p:spPr>
          <a:xfrm xmlns:a="http://schemas.openxmlformats.org/drawingml/2006/main">
            <a:off x="609600" y="595312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8716A"/>
                </a:solidFill>
                <a:latin typeface="Calibri"/>
                <a:ea typeface="Calibri"/>
                <a:cs typeface="Calibri"/>
              </a:defRPr>
            </a:pPr>
            <a:r>
              <a:rPr sz="1425" b="0">
                <a:solidFill>
                  <a:srgbClr val="58716A"/>
                </a:solidFill>
                <a:latin typeface="Calibri"/>
                <a:ea typeface="Calibri"/>
                <a:cs typeface="Calibri"/>
              </a:rPr>
              <a:t>Nominal margin coverage and feeder availability are reported separately.</a:t>
            </a:r>
          </a:p>
        </p:txBody>
      </p:sp>
    </p:spTree>
    <p:extLst>
      <p:ext uri="{BB962C8B-B14F-4D97-AF65-F5344CB8AC3E}">
        <p14:creationId xmlns:p14="http://schemas.microsoft.com/office/powerpoint/2010/main" val="710331792"/>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E6594B-FF94-442A-8C3F-6A34B799CEFC}"/>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Purpose translated into measurable value</a:t>
            </a:r>
          </a:p>
        </p:txBody>
      </p:sp>
      <p:sp>
        <p:nvSpPr>
          <p:cNvPr id="2" name="">
            <a:extLst xmlns:a="http://schemas.openxmlformats.org/drawingml/2006/main">
              <a:ext uri="{FF2B5EF4-FFF2-40B4-BE49-F238E27FC236}">
                <a16:creationId xmlns:a16="http://schemas.microsoft.com/office/drawing/2014/main" id="{619DD06A-00D3-4A5F-9A24-80AB6E57400A}"/>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467C6A22-3F43-438A-9D83-B9799AA0BC7C}"/>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10</a:t>
            </a:r>
          </a:p>
        </p:txBody>
      </p:sp>
      <p:graphicFrame>
        <p:nvGraphicFramePr>
          <p:cNvPr id="10" name=""/>
          <p:cNvGraphicFramePr/>
          <p:nvPr/>
        </p:nvGraphicFramePr>
        <p:xfrm>
          <a:off xmlns:a="http://schemas.openxmlformats.org/drawingml/2006/main" x="609600" y="1657350"/>
          <a:ext xmlns:a="http://schemas.openxmlformats.org/drawingml/2006/main" cx="10953750" cy="3190875"/>
        </p:xfrm>
        <a:graphic xmlns:a="http://schemas.openxmlformats.org/drawingml/2006/main">
          <a:graphicData uri="http://schemas.openxmlformats.org/drawingml/2006/table">
            <a:tbl>
              <a:tblPr/>
              <a:tblGrid>
                <a:gridCol w="2381250"/>
                <a:gridCol w="4905375"/>
                <a:gridCol w="3667125"/>
              </a:tblGrid>
              <a:tr h="638175">
                <a:tc>
                  <a:txBody>
                    <a:bodyPr/>
                    <a:lstStyle/>
                    <a:p>
                      <a:r>
                        <a:rPr sz="1500" b="1">
                          <a:solidFill>
                            <a:srgbClr val="FFFFFF"/>
                          </a:solidFill>
                          <a:latin typeface="Calibri"/>
                          <a:ea typeface="Calibri"/>
                          <a:cs typeface="Calibri"/>
                        </a:rPr>
                        <a:t>Judge lens</a:t>
                      </a:r>
                    </a:p>
                  </a:txBody>
                  <a:tcPr marL="91440" marR="91440" marT="45720" marB="45720">
                    <a:solidFill>
                      <a:srgbClr val="092F2C"/>
                    </a:solidFill>
                  </a:tcPr>
                </a:tc>
                <a:tc>
                  <a:txBody>
                    <a:bodyPr/>
                    <a:lstStyle/>
                    <a:p>
                      <a:r>
                        <a:rPr sz="1500" b="1">
                          <a:solidFill>
                            <a:srgbClr val="FFFFFF"/>
                          </a:solidFill>
                          <a:latin typeface="Calibri"/>
                          <a:ea typeface="Calibri"/>
                          <a:cs typeface="Calibri"/>
                        </a:rPr>
                        <a:t>What GridMesh shows</a:t>
                      </a:r>
                    </a:p>
                  </a:txBody>
                  <a:tcPr marL="91440" marR="91440" marT="45720" marB="45720">
                    <a:solidFill>
                      <a:srgbClr val="092F2C"/>
                    </a:solidFill>
                  </a:tcPr>
                </a:tc>
                <a:tc>
                  <a:txBody>
                    <a:bodyPr/>
                    <a:lstStyle/>
                    <a:p>
                      <a:r>
                        <a:rPr sz="1500" b="1">
                          <a:solidFill>
                            <a:srgbClr val="FFFFFF"/>
                          </a:solidFill>
                          <a:latin typeface="Calibri"/>
                          <a:ea typeface="Calibri"/>
                          <a:cs typeface="Calibri"/>
                        </a:rPr>
                        <a:t>Metric or gate</a:t>
                      </a:r>
                    </a:p>
                  </a:txBody>
                  <a:tcPr marL="91440" marR="91440" marT="45720" marB="45720">
                    <a:solidFill>
                      <a:srgbClr val="092F2C"/>
                    </a:solidFill>
                  </a:tcPr>
                </a:tc>
              </a:tr>
              <a:tr h="638175">
                <a:tc>
                  <a:txBody>
                    <a:bodyPr/>
                    <a:lstStyle/>
                    <a:p>
                      <a:r>
                        <a:rPr sz="1500" b="0">
                          <a:solidFill>
                            <a:srgbClr val="073B35"/>
                          </a:solidFill>
                          <a:latin typeface="Calibri"/>
                          <a:ea typeface="Calibri"/>
                          <a:cs typeface="Calibri"/>
                        </a:rPr>
                        <a:t>Efficiency</a:t>
                      </a:r>
                    </a:p>
                  </a:txBody>
                  <a:tcPr marL="91440" marR="91440" marT="45720" marB="45720">
                    <a:solidFill>
                      <a:srgbClr val="FFFFFF"/>
                    </a:solidFill>
                  </a:tcPr>
                </a:tc>
                <a:tc>
                  <a:txBody>
                    <a:bodyPr/>
                    <a:lstStyle/>
                    <a:p>
                      <a:r>
                        <a:rPr sz="1500" b="0">
                          <a:solidFill>
                            <a:srgbClr val="073B35"/>
                          </a:solidFill>
                          <a:latin typeface="Calibri"/>
                          <a:ea typeface="Calibri"/>
                          <a:cs typeface="Calibri"/>
                        </a:rPr>
                        <a:t>Less network traffic and less scheduled backup</a:t>
                      </a:r>
                    </a:p>
                  </a:txBody>
                  <a:tcPr marL="91440" marR="91440" marT="45720" marB="45720">
                    <a:solidFill>
                      <a:srgbClr val="FFFFFF"/>
                    </a:solidFill>
                  </a:tcPr>
                </a:tc>
                <a:tc>
                  <a:txBody>
                    <a:bodyPr/>
                    <a:lstStyle/>
                    <a:p>
                      <a:r>
                        <a:rPr sz="1500" b="0">
                          <a:solidFill>
                            <a:srgbClr val="073B35"/>
                          </a:solidFill>
                          <a:latin typeface="Calibri"/>
                          <a:ea typeface="Calibri"/>
                          <a:cs typeface="Calibri"/>
                        </a:rPr>
                        <a:t>−41% traffic at 100 sites; −34.9% backup</a:t>
                      </a:r>
                    </a:p>
                  </a:txBody>
                  <a:tcPr marL="91440" marR="91440" marT="45720" marB="45720">
                    <a:solidFill>
                      <a:srgbClr val="FFFFFF"/>
                    </a:solidFill>
                  </a:tcPr>
                </a:tc>
              </a:tr>
              <a:tr h="638175">
                <a:tc>
                  <a:txBody>
                    <a:bodyPr/>
                    <a:lstStyle/>
                    <a:p>
                      <a:r>
                        <a:rPr sz="1500" b="0">
                          <a:solidFill>
                            <a:srgbClr val="073B35"/>
                          </a:solidFill>
                          <a:latin typeface="Calibri"/>
                          <a:ea typeface="Calibri"/>
                          <a:cs typeface="Calibri"/>
                        </a:rPr>
                        <a:t>Sustainability</a:t>
                      </a:r>
                    </a:p>
                  </a:txBody>
                  <a:tcPr marL="91440" marR="91440" marT="45720" marB="45720">
                    <a:solidFill>
                      <a:srgbClr val="EBF0E7"/>
                    </a:solidFill>
                  </a:tcPr>
                </a:tc>
                <a:tc>
                  <a:txBody>
                    <a:bodyPr/>
                    <a:lstStyle/>
                    <a:p>
                      <a:r>
                        <a:rPr sz="1500" b="0">
                          <a:solidFill>
                            <a:srgbClr val="073B35"/>
                          </a:solidFill>
                          <a:latin typeface="Calibri"/>
                          <a:ea typeface="Calibri"/>
                          <a:cs typeface="Calibri"/>
                        </a:rPr>
                        <a:t>More dependable solar integration</a:t>
                      </a:r>
                    </a:p>
                  </a:txBody>
                  <a:tcPr marL="91440" marR="91440" marT="45720" marB="45720">
                    <a:solidFill>
                      <a:srgbClr val="EBF0E7"/>
                    </a:solidFill>
                  </a:tcPr>
                </a:tc>
                <a:tc>
                  <a:txBody>
                    <a:bodyPr/>
                    <a:lstStyle/>
                    <a:p>
                      <a:r>
                        <a:rPr sz="1500" b="0">
                          <a:solidFill>
                            <a:srgbClr val="073B35"/>
                          </a:solidFill>
                          <a:latin typeface="Calibri"/>
                          <a:ea typeface="Calibri"/>
                          <a:cs typeface="Calibri"/>
                        </a:rPr>
                        <a:t>Pilot: avoided fossil backup / curtailment</a:t>
                      </a:r>
                    </a:p>
                  </a:txBody>
                  <a:tcPr marL="91440" marR="91440" marT="45720" marB="45720">
                    <a:solidFill>
                      <a:srgbClr val="EBF0E7"/>
                    </a:solidFill>
                  </a:tcPr>
                </a:tc>
              </a:tr>
              <a:tr h="638175">
                <a:tc>
                  <a:txBody>
                    <a:bodyPr/>
                    <a:lstStyle/>
                    <a:p>
                      <a:r>
                        <a:rPr sz="1500" b="0">
                          <a:solidFill>
                            <a:srgbClr val="073B35"/>
                          </a:solidFill>
                          <a:latin typeface="Calibri"/>
                          <a:ea typeface="Calibri"/>
                          <a:cs typeface="Calibri"/>
                        </a:rPr>
                        <a:t>Accessibility</a:t>
                      </a:r>
                    </a:p>
                  </a:txBody>
                  <a:tcPr marL="91440" marR="91440" marT="45720" marB="45720">
                    <a:solidFill>
                      <a:srgbClr val="FFFFFF"/>
                    </a:solidFill>
                  </a:tcPr>
                </a:tc>
                <a:tc>
                  <a:txBody>
                    <a:bodyPr/>
                    <a:lstStyle/>
                    <a:p>
                      <a:r>
                        <a:rPr sz="1500" b="0">
                          <a:solidFill>
                            <a:srgbClr val="073B35"/>
                          </a:solidFill>
                          <a:latin typeface="Calibri"/>
                          <a:ea typeface="Calibri"/>
                          <a:cs typeface="Calibri"/>
                        </a:rPr>
                        <a:t>Local data and plain operator warnings</a:t>
                      </a:r>
                    </a:p>
                  </a:txBody>
                  <a:tcPr marL="91440" marR="91440" marT="45720" marB="45720">
                    <a:solidFill>
                      <a:srgbClr val="FFFFFF"/>
                    </a:solidFill>
                  </a:tcPr>
                </a:tc>
                <a:tc>
                  <a:txBody>
                    <a:bodyPr/>
                    <a:lstStyle/>
                    <a:p>
                      <a:r>
                        <a:rPr sz="1500" b="0">
                          <a:solidFill>
                            <a:srgbClr val="073B35"/>
                          </a:solidFill>
                          <a:latin typeface="Calibri"/>
                          <a:ea typeface="Calibri"/>
                          <a:cs typeface="Calibri"/>
                        </a:rPr>
                        <a:t>₹46.50/month software hypothesis at 100 homes</a:t>
                      </a:r>
                    </a:p>
                  </a:txBody>
                  <a:tcPr marL="91440" marR="91440" marT="45720" marB="45720">
                    <a:solidFill>
                      <a:srgbClr val="FFFFFF"/>
                    </a:solidFill>
                  </a:tcPr>
                </a:tc>
              </a:tr>
              <a:tr h="638175">
                <a:tc>
                  <a:txBody>
                    <a:bodyPr/>
                    <a:lstStyle/>
                    <a:p>
                      <a:r>
                        <a:rPr sz="1500" b="0">
                          <a:solidFill>
                            <a:srgbClr val="073B35"/>
                          </a:solidFill>
                          <a:latin typeface="Calibri"/>
                          <a:ea typeface="Calibri"/>
                          <a:cs typeface="Calibri"/>
                        </a:rPr>
                        <a:t>Scalability</a:t>
                      </a:r>
                    </a:p>
                  </a:txBody>
                  <a:tcPr marL="91440" marR="91440" marT="45720" marB="45720">
                    <a:solidFill>
                      <a:srgbClr val="EBF0E7"/>
                    </a:solidFill>
                  </a:tcPr>
                </a:tc>
                <a:tc>
                  <a:txBody>
                    <a:bodyPr/>
                    <a:lstStyle/>
                    <a:p>
                      <a:r>
                        <a:rPr sz="1500" b="0">
                          <a:solidFill>
                            <a:srgbClr val="073B35"/>
                          </a:solidFill>
                          <a:latin typeface="Calibri"/>
                          <a:ea typeface="Calibri"/>
                          <a:cs typeface="Calibri"/>
                        </a:rPr>
                        <a:t>Repeatable node with sampled clients</a:t>
                      </a:r>
                    </a:p>
                  </a:txBody>
                  <a:tcPr marL="91440" marR="91440" marT="45720" marB="45720">
                    <a:solidFill>
                      <a:srgbClr val="EBF0E7"/>
                    </a:solidFill>
                  </a:tcPr>
                </a:tc>
                <a:tc>
                  <a:txBody>
                    <a:bodyPr/>
                    <a:lstStyle/>
                    <a:p>
                      <a:r>
                        <a:rPr sz="1500" b="0">
                          <a:solidFill>
                            <a:srgbClr val="073B35"/>
                          </a:solidFill>
                          <a:latin typeface="Calibri"/>
                          <a:ea typeface="Calibri"/>
                          <a:cs typeface="Calibri"/>
                        </a:rPr>
                        <a:t>4-site evidence; 100-site scale simulation</a:t>
                      </a:r>
                    </a:p>
                  </a:txBody>
                  <a:tcPr marL="91440" marR="91440" marT="45720" marB="45720">
                    <a:solidFill>
                      <a:srgbClr val="EBF0E7"/>
                    </a:solidFill>
                  </a:tcPr>
                </a:tc>
              </a:tr>
            </a:tbl>
          </a:graphicData>
        </a:graphic>
      </p:graphicFrame>
      <p:sp>
        <p:nvSpPr>
          <p:cNvPr id="5" name="">
            <a:extLst xmlns:a="http://schemas.openxmlformats.org/drawingml/2006/main">
              <a:ext uri="{FF2B5EF4-FFF2-40B4-BE49-F238E27FC236}">
                <a16:creationId xmlns:a16="http://schemas.microsoft.com/office/drawing/2014/main" id="{F6DD563E-2C36-4DE9-9A7B-98059CD2F738}"/>
              </a:ext>
            </a:extLst>
          </p:cNvPr>
          <p:cNvSpPr>
            <a:spLocks xmlns:a="http://schemas.openxmlformats.org/drawingml/2006/main" noGrp="1"/>
          </p:cNvSpPr>
          <p:nvPr/>
        </p:nvSpPr>
        <p:spPr>
          <a:xfrm xmlns:a="http://schemas.openxmlformats.org/drawingml/2006/main">
            <a:off x="609600" y="52101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8716A"/>
                </a:solidFill>
                <a:latin typeface="Calibri"/>
                <a:ea typeface="Calibri"/>
                <a:cs typeface="Calibri"/>
              </a:defRPr>
            </a:pPr>
            <a:r>
              <a:rPr sz="1350" b="1">
                <a:solidFill>
                  <a:srgbClr val="58716A"/>
                </a:solidFill>
                <a:latin typeface="Calibri"/>
                <a:ea typeface="Calibri"/>
                <a:cs typeface="Calibri"/>
              </a:rPr>
              <a:t>Ownership</a:t>
            </a:r>
          </a:p>
        </p:txBody>
      </p:sp>
      <p:sp>
        <p:nvSpPr>
          <p:cNvPr id="6" name="">
            <a:extLst xmlns:a="http://schemas.openxmlformats.org/drawingml/2006/main">
              <a:ext uri="{FF2B5EF4-FFF2-40B4-BE49-F238E27FC236}">
                <a16:creationId xmlns:a16="http://schemas.microsoft.com/office/drawing/2014/main" id="{0D548558-F0DE-4C0D-848B-09A31C812436}"/>
              </a:ext>
            </a:extLst>
          </p:cNvPr>
          <p:cNvSpPr>
            <a:spLocks xmlns:a="http://schemas.openxmlformats.org/drawingml/2006/main" noGrp="1"/>
          </p:cNvSpPr>
          <p:nvPr/>
        </p:nvSpPr>
        <p:spPr>
          <a:xfrm xmlns:a="http://schemas.openxmlformats.org/drawingml/2006/main">
            <a:off x="609600" y="55911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73B35"/>
                </a:solidFill>
                <a:latin typeface="Calibri"/>
                <a:ea typeface="Calibri"/>
                <a:cs typeface="Calibri"/>
              </a:defRPr>
            </a:pPr>
            <a:r>
              <a:rPr sz="1875" b="1">
                <a:solidFill>
                  <a:srgbClr val="073B35"/>
                </a:solidFill>
                <a:latin typeface="Calibri"/>
                <a:ea typeface="Calibri"/>
                <a:cs typeface="Calibri"/>
              </a:rPr>
              <a:t>Community operator or ESCO runs the service; DISCOM receives aggregate risk and capacity alerts.</a:t>
            </a:r>
          </a:p>
        </p:txBody>
      </p:sp>
    </p:spTree>
    <p:extLst>
      <p:ext uri="{BB962C8B-B14F-4D97-AF65-F5344CB8AC3E}">
        <p14:creationId xmlns:p14="http://schemas.microsoft.com/office/powerpoint/2010/main" val="926707252"/>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B5E9D0-605E-4975-89E9-1CEB539FB730}"/>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73B35"/>
                </a:solidFill>
                <a:latin typeface="Calibri"/>
                <a:ea typeface="Calibri"/>
                <a:cs typeface="Calibri"/>
              </a:defRPr>
            </a:pPr>
            <a:r>
              <a:rPr sz="3150" b="1">
                <a:solidFill>
                  <a:srgbClr val="073B35"/>
                </a:solidFill>
                <a:latin typeface="Calibri"/>
                <a:ea typeface="Calibri"/>
                <a:cs typeface="Calibri"/>
              </a:rPr>
              <a:t>A focused module beside Schneider’s platforms</a:t>
            </a:r>
          </a:p>
        </p:txBody>
      </p:sp>
      <p:sp>
        <p:nvSpPr>
          <p:cNvPr id="2" name="">
            <a:extLst xmlns:a="http://schemas.openxmlformats.org/drawingml/2006/main">
              <a:ext uri="{FF2B5EF4-FFF2-40B4-BE49-F238E27FC236}">
                <a16:creationId xmlns:a16="http://schemas.microsoft.com/office/drawing/2014/main" id="{0BF8F96B-0E81-49E3-8F14-11BD8FEAF1CA}"/>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58716A"/>
                </a:solidFill>
                <a:latin typeface="Calibri"/>
                <a:ea typeface="Calibri"/>
                <a:cs typeface="Calibri"/>
              </a:defRPr>
            </a:pPr>
            <a:r>
              <a:rPr sz="975" b="0">
                <a:solidFill>
                  <a:srgbClr val="58716A"/>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37DDB223-AB10-40E6-B45A-DCDBB34AF776}"/>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58716A"/>
                </a:solidFill>
                <a:latin typeface="Calibri"/>
                <a:ea typeface="Calibri"/>
                <a:cs typeface="Calibri"/>
              </a:defRPr>
            </a:pPr>
            <a:r>
              <a:rPr sz="1200" b="1">
                <a:solidFill>
                  <a:srgbClr val="58716A"/>
                </a:solidFill>
                <a:latin typeface="Calibri"/>
                <a:ea typeface="Calibri"/>
                <a:cs typeface="Calibri"/>
              </a:rPr>
              <a:t>11</a:t>
            </a:r>
          </a:p>
        </p:txBody>
      </p:sp>
      <p:graphicFrame>
        <p:nvGraphicFramePr>
          <p:cNvPr id="10" name=""/>
          <p:cNvGraphicFramePr/>
          <p:nvPr/>
        </p:nvGraphicFramePr>
        <p:xfrm>
          <a:off xmlns:a="http://schemas.openxmlformats.org/drawingml/2006/main" x="609600" y="1733550"/>
          <a:ext xmlns:a="http://schemas.openxmlformats.org/drawingml/2006/main" cx="10953750" cy="3162300"/>
        </p:xfrm>
        <a:graphic xmlns:a="http://schemas.openxmlformats.org/drawingml/2006/main">
          <a:graphicData uri="http://schemas.openxmlformats.org/drawingml/2006/table">
            <a:tbl>
              <a:tblPr/>
              <a:tblGrid>
                <a:gridCol w="5381625"/>
                <a:gridCol w="5572125"/>
              </a:tblGrid>
              <a:tr h="632460">
                <a:tc>
                  <a:txBody>
                    <a:bodyPr/>
                    <a:lstStyle/>
                    <a:p>
                      <a:r>
                        <a:rPr sz="1650" b="1">
                          <a:solidFill>
                            <a:srgbClr val="FFFFFF"/>
                          </a:solidFill>
                          <a:latin typeface="Calibri"/>
                          <a:ea typeface="Calibri"/>
                          <a:cs typeface="Calibri"/>
                        </a:rPr>
                        <a:t>Established Schneider scope</a:t>
                      </a:r>
                    </a:p>
                  </a:txBody>
                  <a:tcPr marL="91440" marR="91440" marT="45720" marB="45720">
                    <a:solidFill>
                      <a:srgbClr val="092F2C"/>
                    </a:solidFill>
                  </a:tcPr>
                </a:tc>
                <a:tc>
                  <a:txBody>
                    <a:bodyPr/>
                    <a:lstStyle/>
                    <a:p>
                      <a:r>
                        <a:rPr sz="1650" b="1">
                          <a:solidFill>
                            <a:srgbClr val="FFFFFF"/>
                          </a:solidFill>
                          <a:latin typeface="Calibri"/>
                          <a:ea typeface="Calibri"/>
                          <a:cs typeface="Calibri"/>
                        </a:rPr>
                        <a:t>GridMesh proposal focus</a:t>
                      </a:r>
                    </a:p>
                  </a:txBody>
                  <a:tcPr marL="91440" marR="91440" marT="45720" marB="45720">
                    <a:solidFill>
                      <a:srgbClr val="092F2C"/>
                    </a:solidFill>
                  </a:tcPr>
                </a:tc>
              </a:tr>
              <a:tr h="632460">
                <a:tc>
                  <a:txBody>
                    <a:bodyPr/>
                    <a:lstStyle/>
                    <a:p>
                      <a:r>
                        <a:rPr sz="1650" b="0">
                          <a:solidFill>
                            <a:srgbClr val="073B35"/>
                          </a:solidFill>
                          <a:latin typeface="Calibri"/>
                          <a:ea typeface="Calibri"/>
                          <a:cs typeface="Calibri"/>
                        </a:rPr>
                        <a:t>DERMS coordinates distributed assets</a:t>
                      </a:r>
                    </a:p>
                  </a:txBody>
                  <a:tcPr marL="91440" marR="91440" marT="45720" marB="45720">
                    <a:solidFill>
                      <a:srgbClr val="FFFFFF"/>
                    </a:solidFill>
                  </a:tcPr>
                </a:tc>
                <a:tc>
                  <a:txBody>
                    <a:bodyPr/>
                    <a:lstStyle/>
                    <a:p>
                      <a:r>
                        <a:rPr sz="1650" b="0">
                          <a:solidFill>
                            <a:srgbClr val="073B35"/>
                          </a:solidFill>
                          <a:latin typeface="Calibri"/>
                          <a:ea typeface="Calibri"/>
                          <a:cs typeface="Calibri"/>
                        </a:rPr>
                        <a:t>Cross-owner federated forecast training</a:t>
                      </a:r>
                    </a:p>
                  </a:txBody>
                  <a:tcPr marL="91440" marR="91440" marT="45720" marB="45720">
                    <a:solidFill>
                      <a:srgbClr val="FFFFFF"/>
                    </a:solidFill>
                  </a:tcPr>
                </a:tc>
              </a:tr>
              <a:tr h="632460">
                <a:tc>
                  <a:txBody>
                    <a:bodyPr/>
                    <a:lstStyle/>
                    <a:p>
                      <a:r>
                        <a:rPr sz="1650" b="0">
                          <a:solidFill>
                            <a:srgbClr val="073B35"/>
                          </a:solidFill>
                          <a:latin typeface="Calibri"/>
                          <a:ea typeface="Calibri"/>
                          <a:cs typeface="Calibri"/>
                        </a:rPr>
                        <a:t>Microgrid Advisor forecasts and optimizes DER</a:t>
                      </a:r>
                    </a:p>
                  </a:txBody>
                  <a:tcPr marL="91440" marR="91440" marT="45720" marB="45720">
                    <a:solidFill>
                      <a:srgbClr val="EBF0E7"/>
                    </a:solidFill>
                  </a:tcPr>
                </a:tc>
                <a:tc>
                  <a:txBody>
                    <a:bodyPr/>
                    <a:lstStyle/>
                    <a:p>
                      <a:r>
                        <a:rPr sz="1650" b="0">
                          <a:solidFill>
                            <a:srgbClr val="073B35"/>
                          </a:solidFill>
                          <a:latin typeface="Calibri"/>
                          <a:ea typeface="Calibri"/>
                          <a:cs typeface="Calibri"/>
                        </a:rPr>
                        <a:t>Trust-weighted updates from imperfect sites</a:t>
                      </a:r>
                    </a:p>
                  </a:txBody>
                  <a:tcPr marL="91440" marR="91440" marT="45720" marB="45720">
                    <a:solidFill>
                      <a:srgbClr val="EBF0E7"/>
                    </a:solidFill>
                  </a:tcPr>
                </a:tc>
              </a:tr>
              <a:tr h="632460">
                <a:tc>
                  <a:txBody>
                    <a:bodyPr/>
                    <a:lstStyle/>
                    <a:p>
                      <a:r>
                        <a:rPr sz="1650" b="0">
                          <a:solidFill>
                            <a:srgbClr val="073B35"/>
                          </a:solidFill>
                          <a:latin typeface="Calibri"/>
                          <a:ea typeface="Calibri"/>
                          <a:cs typeface="Calibri"/>
                        </a:rPr>
                        <a:t>Microgrid Operation supports operational control</a:t>
                      </a:r>
                    </a:p>
                  </a:txBody>
                  <a:tcPr marL="91440" marR="91440" marT="45720" marB="45720">
                    <a:solidFill>
                      <a:srgbClr val="FFFFFF"/>
                    </a:solidFill>
                  </a:tcPr>
                </a:tc>
                <a:tc>
                  <a:txBody>
                    <a:bodyPr/>
                    <a:lstStyle/>
                    <a:p>
                      <a:r>
                        <a:rPr sz="1650" b="0">
                          <a:solidFill>
                            <a:srgbClr val="073B35"/>
                          </a:solidFill>
                          <a:latin typeface="Calibri"/>
                          <a:ea typeface="Calibri"/>
                          <a:cs typeface="Calibri"/>
                        </a:rPr>
                        <a:t>Human-approved reserve advice with visible gaps</a:t>
                      </a:r>
                    </a:p>
                  </a:txBody>
                  <a:tcPr marL="91440" marR="91440" marT="45720" marB="45720">
                    <a:solidFill>
                      <a:srgbClr val="FFFFFF"/>
                    </a:solidFill>
                  </a:tcPr>
                </a:tc>
              </a:tr>
              <a:tr h="632460">
                <a:tc>
                  <a:txBody>
                    <a:bodyPr/>
                    <a:lstStyle/>
                    <a:p>
                      <a:r>
                        <a:rPr sz="1650" b="0">
                          <a:solidFill>
                            <a:srgbClr val="073B35"/>
                          </a:solidFill>
                          <a:latin typeface="Calibri"/>
                          <a:ea typeface="Calibri"/>
                          <a:cs typeface="Calibri"/>
                        </a:rPr>
                        <a:t>Production platforms cover lifecycle and integration</a:t>
                      </a:r>
                    </a:p>
                  </a:txBody>
                  <a:tcPr marL="91440" marR="91440" marT="45720" marB="45720">
                    <a:solidFill>
                      <a:srgbClr val="EBF0E7"/>
                    </a:solidFill>
                  </a:tcPr>
                </a:tc>
                <a:tc>
                  <a:txBody>
                    <a:bodyPr/>
                    <a:lstStyle/>
                    <a:p>
                      <a:r>
                        <a:rPr sz="1650" b="0">
                          <a:solidFill>
                            <a:srgbClr val="073B35"/>
                          </a:solidFill>
                          <a:latin typeface="Calibri"/>
                          <a:ea typeface="Calibri"/>
                          <a:cs typeface="Calibri"/>
                        </a:rPr>
                        <a:t>Lightweight research module for small portfolios</a:t>
                      </a:r>
                    </a:p>
                  </a:txBody>
                  <a:tcPr marL="91440" marR="91440" marT="45720" marB="45720">
                    <a:solidFill>
                      <a:srgbClr val="EBF0E7"/>
                    </a:solidFill>
                  </a:tcPr>
                </a:tc>
              </a:tr>
            </a:tbl>
          </a:graphicData>
        </a:graphic>
      </p:graphicFrame>
      <p:sp>
        <p:nvSpPr>
          <p:cNvPr id="5" name="">
            <a:extLst xmlns:a="http://schemas.openxmlformats.org/drawingml/2006/main">
              <a:ext uri="{FF2B5EF4-FFF2-40B4-BE49-F238E27FC236}">
                <a16:creationId xmlns:a16="http://schemas.microsoft.com/office/drawing/2014/main" id="{D3FB4D1A-86FA-4716-96A4-FDFC69F0782A}"/>
              </a:ext>
            </a:extLst>
          </p:cNvPr>
          <p:cNvSpPr>
            <a:spLocks xmlns:a="http://schemas.openxmlformats.org/drawingml/2006/main" noGrp="1"/>
          </p:cNvSpPr>
          <p:nvPr/>
        </p:nvSpPr>
        <p:spPr>
          <a:xfrm xmlns:a="http://schemas.openxmlformats.org/drawingml/2006/main">
            <a:off x="609600" y="52578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58716A"/>
                </a:solidFill>
                <a:latin typeface="Calibri"/>
                <a:ea typeface="Calibri"/>
                <a:cs typeface="Calibri"/>
              </a:defRPr>
            </a:pPr>
            <a:r>
              <a:rPr sz="1425" b="1">
                <a:solidFill>
                  <a:srgbClr val="58716A"/>
                </a:solidFill>
                <a:latin typeface="Calibri"/>
                <a:ea typeface="Calibri"/>
                <a:cs typeface="Calibri"/>
              </a:rPr>
              <a:t>Positioning</a:t>
            </a:r>
          </a:p>
        </p:txBody>
      </p:sp>
      <p:sp>
        <p:nvSpPr>
          <p:cNvPr id="6" name="">
            <a:extLst xmlns:a="http://schemas.openxmlformats.org/drawingml/2006/main">
              <a:ext uri="{FF2B5EF4-FFF2-40B4-BE49-F238E27FC236}">
                <a16:creationId xmlns:a16="http://schemas.microsoft.com/office/drawing/2014/main" id="{81D2A25B-0689-496A-BC45-BCF4519AF0EC}"/>
              </a:ext>
            </a:extLst>
          </p:cNvPr>
          <p:cNvSpPr>
            <a:spLocks xmlns:a="http://schemas.openxmlformats.org/drawingml/2006/main" noGrp="1"/>
          </p:cNvSpPr>
          <p:nvPr/>
        </p:nvSpPr>
        <p:spPr>
          <a:xfrm xmlns:a="http://schemas.openxmlformats.org/drawingml/2006/main">
            <a:off x="609600" y="56769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4E7D61"/>
                </a:solidFill>
                <a:latin typeface="Calibri"/>
                <a:ea typeface="Calibri"/>
                <a:cs typeface="Calibri"/>
              </a:defRPr>
            </a:pPr>
            <a:r>
              <a:rPr sz="2025" b="1">
                <a:solidFill>
                  <a:srgbClr val="4E7D61"/>
                </a:solidFill>
                <a:latin typeface="Calibri"/>
                <a:ea typeface="Calibri"/>
                <a:cs typeface="Calibri"/>
              </a:rPr>
              <a:t>Complement, validate, then integrate. No replacement claim and no unsupported feature-exclusivity claim.</a:t>
            </a:r>
          </a:p>
        </p:txBody>
      </p:sp>
    </p:spTree>
    <p:extLst>
      <p:ext uri="{BB962C8B-B14F-4D97-AF65-F5344CB8AC3E}">
        <p14:creationId xmlns:p14="http://schemas.microsoft.com/office/powerpoint/2010/main" val="30638137"/>
      </p:ext>
    </p:extLst>
  </p:cSld>
</p:sld>
</file>

<file path=ppt/slides/slide12.xml><?xml version="1.0" encoding="utf-8"?>
<p:sld xmlns:p="http://schemas.openxmlformats.org/presentationml/2006/main">
  <p:cSld>
    <p:bg>
      <p:bgPr>
        <a:solidFill xmlns:a="http://schemas.openxmlformats.org/drawingml/2006/main">
          <a:srgbClr val="092F2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848565-E0EA-4C3B-B1BA-4C2468733E91}"/>
              </a:ext>
            </a:extLst>
          </p:cNvPr>
          <p:cNvSpPr>
            <a:spLocks xmlns:a="http://schemas.openxmlformats.org/drawingml/2006/main" noGrp="1"/>
          </p:cNvSpPr>
          <p:nvPr/>
        </p:nvSpPr>
        <p:spPr>
          <a:xfrm xmlns:a="http://schemas.openxmlformats.org/drawingml/2006/main">
            <a:off x="590550" y="514350"/>
            <a:ext cx="1100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Round-one ask and path to a pilot</a:t>
            </a:r>
          </a:p>
        </p:txBody>
      </p:sp>
      <p:sp>
        <p:nvSpPr>
          <p:cNvPr id="2" name="">
            <a:extLst xmlns:a="http://schemas.openxmlformats.org/drawingml/2006/main">
              <a:ext uri="{FF2B5EF4-FFF2-40B4-BE49-F238E27FC236}">
                <a16:creationId xmlns:a16="http://schemas.microsoft.com/office/drawing/2014/main" id="{DD0F8A9B-095C-4ABD-A0B2-E20C1EAFFB94}"/>
              </a:ext>
            </a:extLst>
          </p:cNvPr>
          <p:cNvSpPr>
            <a:spLocks xmlns:a="http://schemas.openxmlformats.org/drawingml/2006/main" noGrp="1"/>
          </p:cNvSpPr>
          <p:nvPr/>
        </p:nvSpPr>
        <p:spPr>
          <a:xfrm xmlns:a="http://schemas.openxmlformats.org/drawingml/2006/main">
            <a:off x="609600" y="64770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BBD0C5"/>
                </a:solidFill>
                <a:latin typeface="Calibri"/>
                <a:ea typeface="Calibri"/>
                <a:cs typeface="Calibri"/>
              </a:defRPr>
            </a:pPr>
            <a:r>
              <a:rPr sz="975" b="0">
                <a:solidFill>
                  <a:srgbClr val="BBD0C5"/>
                </a:solidFill>
                <a:latin typeface="Calibri"/>
                <a:ea typeface="Calibri"/>
                <a:cs typeface="Calibri"/>
              </a:rPr>
              <a:t>GRIDMESH / TEAM BP</a:t>
            </a:r>
          </a:p>
        </p:txBody>
      </p:sp>
      <p:sp>
        <p:nvSpPr>
          <p:cNvPr id="3" name="">
            <a:extLst xmlns:a="http://schemas.openxmlformats.org/drawingml/2006/main">
              <a:ext uri="{FF2B5EF4-FFF2-40B4-BE49-F238E27FC236}">
                <a16:creationId xmlns:a16="http://schemas.microsoft.com/office/drawing/2014/main" id="{F1B86BE8-6B78-4225-8CE2-BD1B492B12E9}"/>
              </a:ext>
            </a:extLst>
          </p:cNvPr>
          <p:cNvSpPr>
            <a:spLocks xmlns:a="http://schemas.openxmlformats.org/drawingml/2006/main" noGrp="1"/>
          </p:cNvSpPr>
          <p:nvPr/>
        </p:nvSpPr>
        <p:spPr>
          <a:xfrm xmlns:a="http://schemas.openxmlformats.org/drawingml/2006/main">
            <a:off x="1116330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1">
                <a:solidFill>
                  <a:srgbClr val="BCE56D"/>
                </a:solidFill>
                <a:latin typeface="Calibri"/>
                <a:ea typeface="Calibri"/>
                <a:cs typeface="Calibri"/>
              </a:defRPr>
            </a:pPr>
            <a:r>
              <a:rPr sz="1200" b="1">
                <a:solidFill>
                  <a:srgbClr val="BCE56D"/>
                </a:solidFill>
                <a:latin typeface="Calibri"/>
                <a:ea typeface="Calibri"/>
                <a:cs typeface="Calibri"/>
              </a:rPr>
              <a:t>12</a:t>
            </a:r>
          </a:p>
        </p:txBody>
      </p:sp>
      <p:sp>
        <p:nvSpPr>
          <p:cNvPr id="4" name="">
            <a:extLst xmlns:a="http://schemas.openxmlformats.org/drawingml/2006/main">
              <a:ext uri="{FF2B5EF4-FFF2-40B4-BE49-F238E27FC236}">
                <a16:creationId xmlns:a16="http://schemas.microsoft.com/office/drawing/2014/main" id="{E0514C8D-8864-46CA-8A8F-D9EBD9729E50}"/>
              </a:ext>
            </a:extLst>
          </p:cNvPr>
          <p:cNvSpPr>
            <a:spLocks xmlns:a="http://schemas.openxmlformats.org/drawingml/2006/main" noGrp="1"/>
          </p:cNvSpPr>
          <p:nvPr/>
        </p:nvSpPr>
        <p:spPr>
          <a:xfrm xmlns:a="http://schemas.openxmlformats.org/drawingml/2006/main">
            <a:off x="609600" y="1600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NOW</a:t>
            </a:r>
          </a:p>
        </p:txBody>
      </p:sp>
      <p:sp>
        <p:nvSpPr>
          <p:cNvPr id="5" name="">
            <a:extLst xmlns:a="http://schemas.openxmlformats.org/drawingml/2006/main">
              <a:ext uri="{FF2B5EF4-FFF2-40B4-BE49-F238E27FC236}">
                <a16:creationId xmlns:a16="http://schemas.microsoft.com/office/drawing/2014/main" id="{B67241EB-FA90-4C2A-BA16-9BC2C5122C5B}"/>
              </a:ext>
            </a:extLst>
          </p:cNvPr>
          <p:cNvSpPr>
            <a:spLocks xmlns:a="http://schemas.openxmlformats.org/drawingml/2006/main" noGrp="1"/>
          </p:cNvSpPr>
          <p:nvPr/>
        </p:nvSpPr>
        <p:spPr>
          <a:xfrm xmlns:a="http://schemas.openxmlformats.org/drawingml/2006/main">
            <a:off x="609600" y="2009775"/>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Audited simulator</a:t>
            </a:r>
          </a:p>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Dashboard</a:t>
            </a:r>
          </a:p>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Reproducible evidence</a:t>
            </a:r>
          </a:p>
        </p:txBody>
      </p:sp>
      <p:sp>
        <p:nvSpPr>
          <p:cNvPr id="6" name="">
            <a:extLst xmlns:a="http://schemas.openxmlformats.org/drawingml/2006/main">
              <a:ext uri="{FF2B5EF4-FFF2-40B4-BE49-F238E27FC236}">
                <a16:creationId xmlns:a16="http://schemas.microsoft.com/office/drawing/2014/main" id="{2888C50E-C0EC-4C42-B568-E7CA889FA6B0}"/>
              </a:ext>
            </a:extLst>
          </p:cNvPr>
          <p:cNvSpPr>
            <a:spLocks xmlns:a="http://schemas.openxmlformats.org/drawingml/2006/main" noGrp="1"/>
          </p:cNvSpPr>
          <p:nvPr/>
        </p:nvSpPr>
        <p:spPr>
          <a:xfrm xmlns:a="http://schemas.openxmlformats.org/drawingml/2006/main">
            <a:off x="4352925" y="1600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NEXT</a:t>
            </a:r>
          </a:p>
        </p:txBody>
      </p:sp>
      <p:sp>
        <p:nvSpPr>
          <p:cNvPr id="7" name="">
            <a:extLst xmlns:a="http://schemas.openxmlformats.org/drawingml/2006/main">
              <a:ext uri="{FF2B5EF4-FFF2-40B4-BE49-F238E27FC236}">
                <a16:creationId xmlns:a16="http://schemas.microsoft.com/office/drawing/2014/main" id="{D6B17FBD-C26A-4223-AF1E-4B9B729A0208}"/>
              </a:ext>
            </a:extLst>
          </p:cNvPr>
          <p:cNvSpPr>
            <a:spLocks xmlns:a="http://schemas.openxmlformats.org/drawingml/2006/main" noGrp="1"/>
          </p:cNvSpPr>
          <p:nvPr/>
        </p:nvSpPr>
        <p:spPr>
          <a:xfrm xmlns:a="http://schemas.openxmlformats.org/drawingml/2006/main">
            <a:off x="4352925" y="20097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Measured feeder data</a:t>
            </a:r>
          </a:p>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Security + privacy review</a:t>
            </a:r>
          </a:p>
          <a:p xmlns:a="http://schemas.openxmlformats.org/drawingml/2006/main">
            <a:pPr algn="l">
              <a:defRPr sz="2175" b="1">
                <a:solidFill>
                  <a:srgbClr val="FFFFFF"/>
                </a:solidFill>
                <a:latin typeface="Calibri"/>
                <a:ea typeface="Calibri"/>
                <a:cs typeface="Calibri"/>
              </a:defRPr>
            </a:pPr>
            <a:r>
              <a:rPr sz="2175" b="1">
                <a:solidFill>
                  <a:srgbClr val="FFFFFF"/>
                </a:solidFill>
                <a:latin typeface="Calibri"/>
                <a:ea typeface="Calibri"/>
                <a:cs typeface="Calibri"/>
              </a:rPr>
              <a:t>Shadow-mode pilot</a:t>
            </a:r>
          </a:p>
        </p:txBody>
      </p:sp>
      <p:sp>
        <p:nvSpPr>
          <p:cNvPr id="8" name="">
            <a:extLst xmlns:a="http://schemas.openxmlformats.org/drawingml/2006/main">
              <a:ext uri="{FF2B5EF4-FFF2-40B4-BE49-F238E27FC236}">
                <a16:creationId xmlns:a16="http://schemas.microsoft.com/office/drawing/2014/main" id="{2CE94CB5-80F7-4469-B33B-C2C80B759506}"/>
              </a:ext>
            </a:extLst>
          </p:cNvPr>
          <p:cNvSpPr>
            <a:spLocks xmlns:a="http://schemas.openxmlformats.org/drawingml/2006/main" noGrp="1"/>
          </p:cNvSpPr>
          <p:nvPr/>
        </p:nvSpPr>
        <p:spPr>
          <a:xfrm xmlns:a="http://schemas.openxmlformats.org/drawingml/2006/main">
            <a:off x="8248650" y="1600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BCE56D"/>
                </a:solidFill>
                <a:latin typeface="Calibri"/>
                <a:ea typeface="Calibri"/>
                <a:cs typeface="Calibri"/>
              </a:defRPr>
            </a:pPr>
            <a:r>
              <a:rPr sz="1350" b="1">
                <a:solidFill>
                  <a:srgbClr val="BCE56D"/>
                </a:solidFill>
                <a:latin typeface="Calibri"/>
                <a:ea typeface="Calibri"/>
                <a:cs typeface="Calibri"/>
              </a:rPr>
              <a:t>ASK</a:t>
            </a:r>
          </a:p>
        </p:txBody>
      </p:sp>
      <p:sp>
        <p:nvSpPr>
          <p:cNvPr id="9" name="">
            <a:extLst xmlns:a="http://schemas.openxmlformats.org/drawingml/2006/main">
              <a:ext uri="{FF2B5EF4-FFF2-40B4-BE49-F238E27FC236}">
                <a16:creationId xmlns:a16="http://schemas.microsoft.com/office/drawing/2014/main" id="{FF4A2038-FC08-4773-B590-CC1B56F791B2}"/>
              </a:ext>
            </a:extLst>
          </p:cNvPr>
          <p:cNvSpPr>
            <a:spLocks xmlns:a="http://schemas.openxmlformats.org/drawingml/2006/main" noGrp="1"/>
          </p:cNvSpPr>
          <p:nvPr/>
        </p:nvSpPr>
        <p:spPr>
          <a:xfrm xmlns:a="http://schemas.openxmlformats.org/drawingml/2006/main">
            <a:off x="8248650" y="20097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Advance GridMesh</a:t>
            </a:r>
          </a:p>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to prototype round</a:t>
            </a:r>
          </a:p>
        </p:txBody>
      </p:sp>
      <p:sp>
        <p:nvSpPr>
          <p:cNvPr id="10" name="">
            <a:extLst xmlns:a="http://schemas.openxmlformats.org/drawingml/2006/main">
              <a:ext uri="{FF2B5EF4-FFF2-40B4-BE49-F238E27FC236}">
                <a16:creationId xmlns:a16="http://schemas.microsoft.com/office/drawing/2014/main" id="{19714359-897D-44D4-B991-4CB60F13A56C}"/>
              </a:ext>
            </a:extLst>
          </p:cNvPr>
          <p:cNvSpPr>
            <a:spLocks xmlns:a="http://schemas.openxmlformats.org/drawingml/2006/main" noGrp="1"/>
          </p:cNvSpPr>
          <p:nvPr/>
        </p:nvSpPr>
        <p:spPr>
          <a:xfrm xmlns:a="http://schemas.openxmlformats.org/drawingml/2006/main">
            <a:off x="609600" y="3743325"/>
            <a:ext cx="10953750" cy="0"/>
          </a:xfrm>
          <a:prstGeom xmlns:a="http://schemas.openxmlformats.org/drawingml/2006/main" prst="line">
            <a:avLst/>
          </a:prstGeom>
          <a:ln xmlns:a="http://schemas.openxmlformats.org/drawingml/2006/main" w="19050">
            <a:solidFill>
              <a:srgbClr val="58756A"/>
            </a:solidFill>
          </a:ln>
        </p:spPr>
      </p:sp>
      <p:sp>
        <p:nvSpPr>
          <p:cNvPr id="11" name="">
            <a:extLst xmlns:a="http://schemas.openxmlformats.org/drawingml/2006/main">
              <a:ext uri="{FF2B5EF4-FFF2-40B4-BE49-F238E27FC236}">
                <a16:creationId xmlns:a16="http://schemas.microsoft.com/office/drawing/2014/main" id="{CD9DCEC1-F7E3-4ABB-A944-C8918CABF825}"/>
              </a:ext>
            </a:extLst>
          </p:cNvPr>
          <p:cNvSpPr>
            <a:spLocks xmlns:a="http://schemas.openxmlformats.org/drawingml/2006/main" noGrp="1"/>
          </p:cNvSpPr>
          <p:nvPr/>
        </p:nvSpPr>
        <p:spPr>
          <a:xfrm xmlns:a="http://schemas.openxmlformats.org/drawingml/2006/main">
            <a:off x="609600" y="40862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BCE56D"/>
                </a:solidFill>
                <a:latin typeface="Calibri"/>
                <a:ea typeface="Calibri"/>
                <a:cs typeface="Calibri"/>
              </a:defRPr>
            </a:pPr>
            <a:r>
              <a:rPr sz="1500" b="1">
                <a:solidFill>
                  <a:srgbClr val="BCE56D"/>
                </a:solidFill>
                <a:latin typeface="Calibri"/>
                <a:ea typeface="Calibri"/>
                <a:cs typeface="Calibri"/>
              </a:rPr>
              <a:t>Team BP</a:t>
            </a:r>
          </a:p>
        </p:txBody>
      </p:sp>
      <p:sp>
        <p:nvSpPr>
          <p:cNvPr id="12" name="">
            <a:extLst xmlns:a="http://schemas.openxmlformats.org/drawingml/2006/main">
              <a:ext uri="{FF2B5EF4-FFF2-40B4-BE49-F238E27FC236}">
                <a16:creationId xmlns:a16="http://schemas.microsoft.com/office/drawing/2014/main" id="{6C88A278-E846-49F1-AAF7-88F3B0E6BFBA}"/>
              </a:ext>
            </a:extLst>
          </p:cNvPr>
          <p:cNvSpPr>
            <a:spLocks xmlns:a="http://schemas.openxmlformats.org/drawingml/2006/main" noGrp="1"/>
          </p:cNvSpPr>
          <p:nvPr/>
        </p:nvSpPr>
        <p:spPr>
          <a:xfrm xmlns:a="http://schemas.openxmlformats.org/drawingml/2006/main">
            <a:off x="609600" y="4533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FFFFFF"/>
                </a:solidFill>
                <a:latin typeface="Calibri"/>
                <a:ea typeface="Calibri"/>
                <a:cs typeface="Calibri"/>
              </a:defRPr>
            </a:pPr>
            <a:r>
              <a:rPr sz="2025" b="1">
                <a:solidFill>
                  <a:srgbClr val="FFFFFF"/>
                </a:solidFill>
                <a:latin typeface="Calibri"/>
                <a:ea typeface="Calibri"/>
                <a:cs typeface="Calibri"/>
              </a:rPr>
              <a:t>Bhavesh M  ·  Ajay Javali  ·  Pragun Kirani  ·  Varshith M Gowda</a:t>
            </a:r>
          </a:p>
        </p:txBody>
      </p:sp>
      <p:sp>
        <p:nvSpPr>
          <p:cNvPr id="13" name="">
            <a:extLst xmlns:a="http://schemas.openxmlformats.org/drawingml/2006/main">
              <a:ext uri="{FF2B5EF4-FFF2-40B4-BE49-F238E27FC236}">
                <a16:creationId xmlns:a16="http://schemas.microsoft.com/office/drawing/2014/main" id="{DD0B9E54-FECF-4FAF-8238-8E391510DA84}"/>
              </a:ext>
            </a:extLst>
          </p:cNvPr>
          <p:cNvSpPr>
            <a:spLocks xmlns:a="http://schemas.openxmlformats.org/drawingml/2006/main" noGrp="1"/>
          </p:cNvSpPr>
          <p:nvPr/>
        </p:nvSpPr>
        <p:spPr>
          <a:xfrm xmlns:a="http://schemas.openxmlformats.org/drawingml/2006/main">
            <a:off x="609600" y="52863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BCE56D"/>
                </a:solidFill>
                <a:latin typeface="Calibri"/>
                <a:ea typeface="Calibri"/>
                <a:cs typeface="Calibri"/>
              </a:defRPr>
            </a:pPr>
            <a:r>
              <a:rPr sz="1500" b="1">
                <a:solidFill>
                  <a:srgbClr val="BCE56D"/>
                </a:solidFill>
                <a:latin typeface="Calibri"/>
                <a:ea typeface="Calibri"/>
                <a:cs typeface="Calibri"/>
              </a:rPr>
              <a:t>Mentors</a:t>
            </a:r>
          </a:p>
        </p:txBody>
      </p:sp>
      <p:sp>
        <p:nvSpPr>
          <p:cNvPr id="14" name="">
            <a:extLst xmlns:a="http://schemas.openxmlformats.org/drawingml/2006/main">
              <a:ext uri="{FF2B5EF4-FFF2-40B4-BE49-F238E27FC236}">
                <a16:creationId xmlns:a16="http://schemas.microsoft.com/office/drawing/2014/main" id="{E43D83A5-9776-48F4-A5B4-25585FEAC126}"/>
              </a:ext>
            </a:extLst>
          </p:cNvPr>
          <p:cNvSpPr>
            <a:spLocks xmlns:a="http://schemas.openxmlformats.org/drawingml/2006/main" noGrp="1"/>
          </p:cNvSpPr>
          <p:nvPr/>
        </p:nvSpPr>
        <p:spPr>
          <a:xfrm xmlns:a="http://schemas.openxmlformats.org/drawingml/2006/main">
            <a:off x="609600" y="57245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DCE9E2"/>
                </a:solidFill>
                <a:latin typeface="Calibri"/>
                <a:ea typeface="Calibri"/>
                <a:cs typeface="Calibri"/>
              </a:defRPr>
            </a:pPr>
            <a:r>
              <a:rPr sz="1875" b="0">
                <a:solidFill>
                  <a:srgbClr val="DCE9E2"/>
                </a:solidFill>
                <a:latin typeface="Calibri"/>
                <a:ea typeface="Calibri"/>
                <a:cs typeface="Calibri"/>
              </a:rPr>
              <a:t>Prof. Shrisha Rao  ·  Prof. Aswin Kannan</a:t>
            </a:r>
          </a:p>
        </p:txBody>
      </p:sp>
    </p:spTree>
    <p:extLst>
      <p:ext uri="{BB962C8B-B14F-4D97-AF65-F5344CB8AC3E}">
        <p14:creationId xmlns:p14="http://schemas.microsoft.com/office/powerpoint/2010/main" val="1656095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2026-10-02T14:13:26.2360000Z</dcterms:created>
  <dcterms:modified xsi:type="dcterms:W3CDTF">2026-10-02T14:13:26.2370000Z</dcterms:modified>
</coreProperties>
</file>