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bf8f0c47643496f" /><Relationship Type="http://schemas.openxmlformats.org/officeDocument/2006/relationships/extended-properties" Target="/docProps/app.xml" Id="Rdaedcf38d6804b8a" /><Relationship Type="http://schemas.openxmlformats.org/officeDocument/2006/relationships/officeDocument" Target="/ppt/presentation.xml" Id="Refe9f1a4fb934684" /></Relationships>
</file>

<file path=ppt/presentation.xml><?xml version="1.0" encoding="utf-8"?>
<p:presentation xmlns:p="http://schemas.openxmlformats.org/presentationml/2006/main">
  <p:sldMasterIdLst>
    <p:sldMasterId xmlns:r="http://schemas.openxmlformats.org/officeDocument/2006/relationships" id="2147483648" r:id="R7a8bf5316b574ba2"/>
  </p:sldMasterIdLst>
  <p:notesMasterIdLst>
    <p:notesMasterId xmlns:r="http://schemas.openxmlformats.org/officeDocument/2006/relationships" r:id="Ra43071baab414c44"/>
  </p:notesMasterIdLst>
  <p:sldIdLst>
    <p:sldId xmlns:r="http://schemas.openxmlformats.org/officeDocument/2006/relationships" id="256" r:id="Rc84207c1dbb04460"/>
    <p:sldId xmlns:r="http://schemas.openxmlformats.org/officeDocument/2006/relationships" id="257" r:id="R4462136e78314fea"/>
    <p:sldId xmlns:r="http://schemas.openxmlformats.org/officeDocument/2006/relationships" id="258" r:id="R9933d4953bca4912"/>
    <p:sldId xmlns:r="http://schemas.openxmlformats.org/officeDocument/2006/relationships" id="259" r:id="R4ab821a2c8374107"/>
    <p:sldId xmlns:r="http://schemas.openxmlformats.org/officeDocument/2006/relationships" id="260" r:id="R528f33cbf5394282"/>
    <p:sldId xmlns:r="http://schemas.openxmlformats.org/officeDocument/2006/relationships" id="261" r:id="R6c3aba6a953f4a04"/>
    <p:sldId xmlns:r="http://schemas.openxmlformats.org/officeDocument/2006/relationships" id="262" r:id="Rf0576991698143eb"/>
    <p:sldId xmlns:r="http://schemas.openxmlformats.org/officeDocument/2006/relationships" id="263" r:id="R7ef21e04dcbb4293"/>
    <p:sldId xmlns:r="http://schemas.openxmlformats.org/officeDocument/2006/relationships" id="264" r:id="R16d9bd6922b44592"/>
    <p:sldId xmlns:r="http://schemas.openxmlformats.org/officeDocument/2006/relationships" id="265" r:id="R638dde352330489f"/>
    <p:sldId xmlns:r="http://schemas.openxmlformats.org/officeDocument/2006/relationships" id="266" r:id="R035ba3a350554120"/>
    <p:sldId xmlns:r="http://schemas.openxmlformats.org/officeDocument/2006/relationships" id="267" r:id="R237faf6366a6418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78f22c803454df1" /><Relationship Type="http://schemas.openxmlformats.org/officeDocument/2006/relationships/slideMaster" Target="/ppt/slideMasters/slideMaster1.xml" Id="R7a8bf5316b574ba2" /><Relationship Type="http://schemas.openxmlformats.org/officeDocument/2006/relationships/notesMaster" Target="/ppt/notesMasters/notesMaster1.xml" Id="Ra43071baab414c44" /><Relationship Type="http://schemas.openxmlformats.org/officeDocument/2006/relationships/presProps" Target="/ppt/presProps.xml" Id="R44a7d960f78044a4" /><Relationship Type="http://schemas.openxmlformats.org/officeDocument/2006/relationships/tableStyles" Target="/ppt/tableStyles.xml" Id="R9d83cdf3471746f5" /><Relationship Type="http://schemas.openxmlformats.org/officeDocument/2006/relationships/slide" Target="/ppt/slides/slide1.xml" Id="Rc84207c1dbb04460" /><Relationship Type="http://schemas.openxmlformats.org/officeDocument/2006/relationships/slide" Target="/ppt/slides/slide2.xml" Id="R4462136e78314fea" /><Relationship Type="http://schemas.openxmlformats.org/officeDocument/2006/relationships/slide" Target="/ppt/slides/slide3.xml" Id="R9933d4953bca4912" /><Relationship Type="http://schemas.openxmlformats.org/officeDocument/2006/relationships/slide" Target="/ppt/slides/slide4.xml" Id="R4ab821a2c8374107" /><Relationship Type="http://schemas.openxmlformats.org/officeDocument/2006/relationships/slide" Target="/ppt/slides/slide5.xml" Id="R528f33cbf5394282" /><Relationship Type="http://schemas.openxmlformats.org/officeDocument/2006/relationships/slide" Target="/ppt/slides/slide6.xml" Id="R6c3aba6a953f4a04" /><Relationship Type="http://schemas.openxmlformats.org/officeDocument/2006/relationships/slide" Target="/ppt/slides/slide7.xml" Id="Rf0576991698143eb" /><Relationship Type="http://schemas.openxmlformats.org/officeDocument/2006/relationships/slide" Target="/ppt/slides/slide8.xml" Id="R7ef21e04dcbb4293" /><Relationship Type="http://schemas.openxmlformats.org/officeDocument/2006/relationships/slide" Target="/ppt/slides/slide9.xml" Id="R16d9bd6922b44592" /><Relationship Type="http://schemas.openxmlformats.org/officeDocument/2006/relationships/slide" Target="/ppt/slides/slide10.xml" Id="R638dde352330489f" /><Relationship Type="http://schemas.openxmlformats.org/officeDocument/2006/relationships/slide" Target="/ppt/slides/slide11.xml" Id="R035ba3a350554120" /><Relationship Type="http://schemas.openxmlformats.org/officeDocument/2006/relationships/slide" Target="/ppt/slides/slide12.xml" Id="R237faf6366a6418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5ce3d79bff416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24af965e68e4574" /><Relationship Type="http://schemas.openxmlformats.org/officeDocument/2006/relationships/notesMaster" Target="/ppt/notesMasters/notesMaster1.xml" Id="R2bfae41fbbc34c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e258243094124e54" /><Relationship Type="http://schemas.openxmlformats.org/officeDocument/2006/relationships/notesMaster" Target="/ppt/notesMasters/notesMaster1.xml" Id="Raf59cd5c0c664e8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5240b67162e43ce" /><Relationship Type="http://schemas.openxmlformats.org/officeDocument/2006/relationships/notesMaster" Target="/ppt/notesMasters/notesMaster1.xml" Id="R9d6914ee28624774" /></Relationships>
</file>

<file path=ppt/notesSlides/_rels/notesSlide4.xml.rels>&#65279;<?xml version="1.0" encoding="utf-8"?><Relationships xmlns="http://schemas.openxmlformats.org/package/2006/relationships"><Relationship Type="http://schemas.openxmlformats.org/officeDocument/2006/relationships/slide" Target="/ppt/slides/slide4.xml" Id="R9a662b662cb54dd6" /><Relationship Type="http://schemas.openxmlformats.org/officeDocument/2006/relationships/notesMaster" Target="/ppt/notesMasters/notesMaster1.xml" Id="R05264b8c826448a9" /></Relationships>
</file>

<file path=ppt/notesSlides/_rels/notesSlide5.xml.rels>&#65279;<?xml version="1.0" encoding="utf-8"?><Relationships xmlns="http://schemas.openxmlformats.org/package/2006/relationships"><Relationship Type="http://schemas.openxmlformats.org/officeDocument/2006/relationships/slide" Target="/ppt/slides/slide5.xml" Id="R0cb6ec10632a4d57" /><Relationship Type="http://schemas.openxmlformats.org/officeDocument/2006/relationships/notesMaster" Target="/ppt/notesMasters/notesMaster1.xml" Id="Re7c2a44cb2e44824" /></Relationships>
</file>

<file path=ppt/notesSlides/_rels/notesSlide6.xml.rels>&#65279;<?xml version="1.0" encoding="utf-8"?><Relationships xmlns="http://schemas.openxmlformats.org/package/2006/relationships"><Relationship Type="http://schemas.openxmlformats.org/officeDocument/2006/relationships/slide" Target="/ppt/slides/slide6.xml" Id="R36cd391048e34f50" /><Relationship Type="http://schemas.openxmlformats.org/officeDocument/2006/relationships/notesMaster" Target="/ppt/notesMasters/notesMaster1.xml" Id="R108f1a8cccc8464a" /></Relationships>
</file>

<file path=ppt/notesSlides/_rels/notesSlide7.xml.rels>&#65279;<?xml version="1.0" encoding="utf-8"?><Relationships xmlns="http://schemas.openxmlformats.org/package/2006/relationships"><Relationship Type="http://schemas.openxmlformats.org/officeDocument/2006/relationships/slide" Target="/ppt/slides/slide7.xml" Id="R8448836b29f64886" /><Relationship Type="http://schemas.openxmlformats.org/officeDocument/2006/relationships/notesMaster" Target="/ppt/notesMasters/notesMaster1.xml" Id="R6fc5b03d49854318" /></Relationships>
</file>

<file path=ppt/notesSlides/_rels/notesSlide8.xml.rels>&#65279;<?xml version="1.0" encoding="utf-8"?><Relationships xmlns="http://schemas.openxmlformats.org/package/2006/relationships"><Relationship Type="http://schemas.openxmlformats.org/officeDocument/2006/relationships/slide" Target="/ppt/slides/slide8.xml" Id="Rf85104f1a06840d1" /><Relationship Type="http://schemas.openxmlformats.org/officeDocument/2006/relationships/notesMaster" Target="/ppt/notesMasters/notesMaster1.xml" Id="R315876a6972a4231" /></Relationships>
</file>

<file path=ppt/notesSlides/_rels/notesSlide9.xml.rels>&#65279;<?xml version="1.0" encoding="utf-8"?><Relationships xmlns="http://schemas.openxmlformats.org/package/2006/relationships"><Relationship Type="http://schemas.openxmlformats.org/officeDocument/2006/relationships/slide" Target="/ppt/slides/slide9.xml" Id="R24bab00665af4fd9" /><Relationship Type="http://schemas.openxmlformats.org/officeDocument/2006/relationships/notesMaster" Target="/ppt/notesMasters/notesMaster1.xml" Id="R3c080f79fe964df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febf93fd2354b1b" /><Relationship Type="http://schemas.openxmlformats.org/officeDocument/2006/relationships/notesMaster" Target="/ppt/notesMasters/notesMaster1.xml" Id="R75c9aeff5eee478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d4a4ffeeb0d40bc" /><Relationship Type="http://schemas.openxmlformats.org/officeDocument/2006/relationships/notesMaster" Target="/ppt/notesMasters/notesMaster1.xml" Id="Rd7cbe92ab536491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9206ed743d6499d" /><Relationship Type="http://schemas.openxmlformats.org/officeDocument/2006/relationships/notesMaster" Target="/ppt/notesMasters/notesMaster1.xml" Id="R7685a122e730402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weather and irradiance. Modelled PV. Simulated sites and faults. Synthetic demand. Assumed limits and costs. One shared weather record; five seeds are simulated parameter/training variation, not independent locations. Round-one proposal backed by a software simulation. The supplied challenge emphasizes local reliability and affordability. The mentor email divides work about 75% forecasting/FL and 25% single-node reserve. The cover reuses the existing generated concept illustration, not a deployment photo. Names are supplied by the team.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weather and irradiance. Modelled PV. Simulated sites and faults. Synthetic demand. Assumed limits and costs. One shared weather record; five seeds are simulated parameter/training variation, not independent locations. Target users: community operator/ESCO and DISCOM teams, serving households and local businesses. Operator reviews recommendations before any approved asset action. The simulation replay shows test outcomes after the fact. No live grid-control connection exists. Runtime helper order is current trusted, last trusted, local if supplied, smart persistence, then explicit error if no valid baseline. Expired/stale/drift inputs trigger conservative advice and alerts. A local checkpoint freshness/transport service remains future integration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weather and irradiance. Modelled PV. Simulated sites and faults. Synthetic demand. Assumed limits and costs. One shared weather record; five seeds are simulated parameter/training variation, not independent locations. Architecture is a same-process protocol simulation. Flat FL exchanges neural parameters with a central coordinator. Hierarchical FL groups 25 logical sites, weights locally by trust/quality/sample volume, then forms feeder weights from represented samples and group health. Composed weights match two-stage parameter averaging. Both routes feed one aggregation-node reserve advisor; no AC feeder flow or autonomous dispatch. Training and reserve remain approximately 75%/25% of scope. Data flow uses updates/forecasts/health; local PV/grid/backup energy serves demand; an operator service receives community payments, while assets/energy require separate funding. Source: supplied professor deck/email and https://proceedings.mlr.press/v54/mcmahan17a.html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weather and irradiance. Modelled PV. Simulated sites and faults. Synthetic demand. Assumed limits and costs. One shared weather record; five seeds are simulated parameter/training variation, not independent locations. Source: outputs/tables/common_summary.csv, common_detail.csv and common_validation_selection.csv. Five paired seeds, same issue-time features, 30-minute horizon, splits and daytime test metric. RMSE is p.u. capacity. Full comparison includes 12 methods, including pooled MLP, FedAvg, event-aware MLP, GRU and LSTM. Model-specific training/early-stopping objectives differ and are documented. XGBoost learns a smart-persistence residual, uses CPU histogram trees and validation early stopping. Local XGBoost pools no raw data; centralized XGBoost is an accuracy oracle. XGBoost gain importance is descriptive, not causal. Validation mean ranks centralized_xgboost first. GRU test=0.0654, LSTM=0.0651. XGBoost is not FedAvg-averaged. API: https://xgboost.readthedocs.io/en/stable/python/python_api.html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weather and irradiance. Modelled PV. Simulated sites and faults. Synthetic demand. Assumed limits and costs. One shared weather record; five seeds are simulated parameter/training variation, not independent locations. Prototype weights use n_i * trust_i * quality_i, normalized over accepted non-quarantined clients. Trust is an EMA of error relative to peer validation median. This is our heuristic, not a published optimal weighting theorem. Update checks reject invalid shape/non-finite parameters/metadata and implausible norm. A minimum of two positive-weight updates is required. Periodic recovery probes let healed sites regain trust. Candidate client-validation scores gate worst-site error, bias, smart-persistence comparison and deterioration. Rollback retains trusted parameters. The clean simulation validation scores are reporting-only. Three modeled parameter transfers per active site include candidate validation. Ordinary sensor faults are not called cyberattacks.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weather and irradiance. Modelled PV. Simulated sites and faults. Synthetic demand. Assumed limits and costs. One shared weather record; five seeds are simulated parameter/training variation, not independent locations. Source: outputs/tables/reliability_stress_detail.csv and reliability_scorecard.csv. Five paired seeds; same four full-resolution sites. Fault condition is two severe stale-sensor sites, not every possible fault. Healthy-site RMSE excludes known faulty sites only for offline evaluation; server decisions do not know fault labels. Compare healthy, stale50pct and dropout50pct. Direct audit injections separately test non-finite/extreme updates and rollback gates. The acceptance target is &lt;=2% relative RMSE degradation at 50% dropout; failed methods remain in acceptance_targets.csv. Fault recovery/seasonal shifts/combined dropout are also tested. Standard weighting, trust aggregation and event skipping are distinct methods.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weather and irradiance. Modelled PV. Simulated sites and faults. Synthetic demand. Assumed limits and costs. One shared weather record; five seeds are simulated parameter/training variation, not independent locations. Source: outputs/tables/comm_scaling.csv. Three rounds, seed42, cap20 active selected clients. Above20 clients repeat four compact reference datasets, 2000 training and1000 validation/test rows. This measures protocol/runtime scaling rather than geographic generalization. Traffic counts model payloads, candidate-validation exchange, scalar metadata and heartbeats; transport/security/retry overhead is excluded. The hierarchy series shows feeder boundary only, while its total adds site and feeder hops. At100, flat total 1.91MB/round and hierarchy total 2.29MB/round. CPU runtime and cumulative process peak memory are in the CSV. These small-round tests do not prove linear scaling or converged accuracy.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Khaing, Kannan and Rao (2026), Accurate energy predictions for optimal power flow problems, Clean Energy 10(4), 46–64. Theorem 4.3, Eq.62. https://doi.org/10.1093/ce/zkag018. Equation62 uses max(alpha*sigma-mu,0) with actual-minus-forecast error. Our adaptation derives the same sign from P(e&lt;-m)&lt;=delta under normal error. Aggregate residuals retain correlation from the shared weather. A30-minute delay ensures future target outcomes do not change current margins. Gaussian fit is an assumption; an empirical tail policy and causal coverage monitor are also implemented. The illustrative example has demand100kW, import20kW, forecast60kW, mean error-2kW and sigma6kW: margin1.645*6+2=11.87kW; expected gap20kW. This is an example, not experiment evidence. 95% applies to a margin event and never annual uptime.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weather and irradiance. Modelled PV. Simulated sites and faults. Synthetic demand. Assumed limits and costs. One shared weather record; five seeds are simulated parameter/training variation, not independent locations. Source: src/reserve/simulator.py, docs/RESERVE_OPTIMIZATION.md. G=min(import limit,max(D-Pforecast,0)); expected gap=max(D-G-Pforecast,0). Requirement is gap plus margin. Per day, a HiGHS LP selects backup q and planned uncovered requirement u, subject to power cap and sum energy budget. Objective uses backup cost and a configured requirement-dependent gap penalty. Actual unserved energy evaluates max(D-G-actual,0) minus deployed scheduled backup. Night-time adequacy and AC network constraints are outside scope. The retrospective daily LP uses that day's sequence of rolling forecasts; a live pilot needs genuine day-ahead forecasts or rolling planning with remaining energy. Calibrated margin health has a predefined fixed floor and operator alert, reported as a separate policy.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Real weather and irradiance. Modelled PV. Simulated sites and faults. Synthetic demand. Assumed limits and costs. One shared weather record; five seeds are simulated parameter/training variation, not independent locations. Source: outputs/tables/common_reserve_detail.csv, five seeds. Forecast models are ranked on validation, with test reserve outcomes reported after fixed choices. Both local XGBoost and federated MLP use the same nominal margin/scheduler/demand/asset coefficients. Units are simulation MWh and assumed cost units, not rupees. The fixed/nominal/guarded MLP rows compare policies. A guarded floor can allocate scarce energy earlier and worsen aggregate shortfalls; it must not inherit nominal policy's headline benefit. Reserveused/gridenergy/capacitygap/availability are in the detailed tables. Model RMSE is not a substitute for this resource evaluation. Retrospective/daytime scope remains explicit.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Official public sources: https://www.se.com/ww/en/work/solutions/electric-utilities/ ; https://www.se.com/us/en/work/products/explore/ecostruxure-microgrid-advisor/ ; https://www.se.com/us/en/product-range/89571422-ecostruxure-derms/ ; https://www.se.com/us/en/product-range/65897-ecostruxure-microgrid-operation/ . Schneider already offers forecasting, DER optimization and microgrid control. Public pages do not establish every internal algorithm, so GridMesh does not claim absence of FL, XGBoost or equivalent features. GridMesh proposes a focused collaborative-learning/update-health module with transparent reserve evidence. Future integration requires interfaces, security assessment and approval; no partnership exists. Affordability is a software-only hypothesis: INR2200 hosting/monitoring +800 connectivity +1650 support =4650 per month, allocated across100 households=46.50, or50=93. Excludes hardware, energy, installation, taxes/finance. Plant-sized simulation capacities and100-household service allocation are independent. A community operator/ESCO would maintain support and escalate to the DISCOM. Emissions/curtailment benefits remain pilot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Members provided by the user: Bhavesh M, Ajay Javali, Pragun kirani, Varshith M gowda. Mentors: Prof. Aswin Kannan and Prof. Shrisha Rao, confirmed for inclusion. No individual roles or credentials are invented. Roadmap is proposed, contingent on data/access: weeks1–2 documented Indian multi-site PV/load and real asset constraints; week3 rolling planner and transport/privacy hardening; week4 shadow replay/operator usability/cost validation. Current evidence includes36 audit checks,12-method model comparison, fault tests,500 logical-client protocol stress and an operator replay. Request: progression to the prototype round and measured-data validation with mentors/operator support. No deployment, certification or partnership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daba9813d1a4f1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4c87fd241504a8d" /><Relationship Type="http://schemas.openxmlformats.org/officeDocument/2006/relationships/slideLayout" Target="/ppt/slideLayouts/slideLayout1.xml" Id="R12072f38f64e474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072f38f64e474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edbf542ef324826" /><Relationship Type="http://schemas.openxmlformats.org/officeDocument/2006/relationships/image" Target="/ppt/media/image.png" Id="Rc4a1126bff9544eb" /><Relationship Type="http://schemas.openxmlformats.org/officeDocument/2006/relationships/notesSlide" Target="/ppt/notesSlides/notesSlide1.xml" Id="Rc0b13fba932945a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6f51e5166054b9d" /><Relationship Type="http://schemas.openxmlformats.org/officeDocument/2006/relationships/notesSlide" Target="/ppt/notesSlides/notesSlide2.xml" Id="R0412186b87d8415b"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ca5e9b1d14a408b" /><Relationship Type="http://schemas.openxmlformats.org/officeDocument/2006/relationships/notesSlide" Target="/ppt/notesSlides/notesSlide3.xml" Id="R2c8f034eb7254fd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d2c1cd7264947f1" /><Relationship Type="http://schemas.openxmlformats.org/officeDocument/2006/relationships/chart" Target="/ppt/slides/charts/chart1.xml" Id="R3d51ef4e7d784a71" /><Relationship Type="http://schemas.openxmlformats.org/officeDocument/2006/relationships/notesSlide" Target="/ppt/notesSlides/notesSlide4.xml" Id="Rb6d6072b3a9f4f5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83a06baf4cd4e95" /><Relationship Type="http://schemas.openxmlformats.org/officeDocument/2006/relationships/notesSlide" Target="/ppt/notesSlides/notesSlide5.xml" Id="R8c633fdc98034b7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7e3c166d12b421b" /><Relationship Type="http://schemas.openxmlformats.org/officeDocument/2006/relationships/chart" Target="/ppt/slides/charts/chart2.xml" Id="Rce36c26a9e764e3d" /><Relationship Type="http://schemas.openxmlformats.org/officeDocument/2006/relationships/notesSlide" Target="/ppt/notesSlides/notesSlide6.xml" Id="R060a4a776bdb431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ca23645d8d74278" /><Relationship Type="http://schemas.openxmlformats.org/officeDocument/2006/relationships/chart" Target="/ppt/slides/charts/chart3.xml" Id="R589ac7b71e3a4680" /><Relationship Type="http://schemas.openxmlformats.org/officeDocument/2006/relationships/notesSlide" Target="/ppt/notesSlides/notesSlide7.xml" Id="R10b708048d87442f"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6751d0b954344ab" /><Relationship Type="http://schemas.openxmlformats.org/officeDocument/2006/relationships/notesSlide" Target="/ppt/notesSlides/notesSlide8.xml" Id="R36764fb344b346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428522a2b2794fbf" /><Relationship Type="http://schemas.openxmlformats.org/officeDocument/2006/relationships/notesSlide" Target="/ppt/notesSlides/notesSlide9.xml" Id="R3d554cdc8da147e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398630c6e3149fc" /><Relationship Type="http://schemas.openxmlformats.org/officeDocument/2006/relationships/notesSlide" Target="/ppt/notesSlides/notesSlide10.xml" Id="Rbadda4dde65940e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9d47637184c44ea" /><Relationship Type="http://schemas.openxmlformats.org/officeDocument/2006/relationships/notesSlide" Target="/ppt/notesSlides/notesSlide11.xml" Id="R46abd504d8ff4c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bb4befd1d184aa9" /><Relationship Type="http://schemas.openxmlformats.org/officeDocument/2006/relationships/notesSlide" Target="/ppt/notesSlides/notesSlide12.xml" Id="R596c0ad6baf94d7b"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Daytime test RMSE, five-seed mean</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plotArea>
      <c:barChart>
        <c:barDir val="col"/>
        <c:grouping val="clustered"/>
        <c:varyColors val="0"/>
        <c:ser>
          <c:idx val="0"/>
          <c:order val="0"/>
          <c:tx>
            <c:v>Test RMSE</c:v>
          </c:tx>
          <c:spPr>
            <a:solidFill xmlns:a="http://schemas.openxmlformats.org/drawingml/2006/main">
              <a:srgbClr val="4E7D61"/>
            </a:solidFill>
          </c:spPr>
          <c:cat>
            <c:strRef>
              <c:f>'Chart Data'!$A$2:$A$7</c:f>
              <c:strCache>
                <c:ptCount val="6"/>
                <c:pt idx="0">
                  <c:v>Smart
persist.</c:v>
                </c:pt>
                <c:pt idx="1">
                  <c:v>Tree
pooled</c:v>
                </c:pt>
                <c:pt idx="2">
                  <c:v>XGB
local</c:v>
                </c:pt>
                <c:pt idx="3">
                  <c:v>XGB
pooled</c:v>
                </c:pt>
                <c:pt idx="4">
                  <c:v>MLP
local</c:v>
                </c:pt>
                <c:pt idx="5">
                  <c:v>MLP
federated</c:v>
                </c:pt>
              </c:strCache>
            </c:strRef>
          </c:cat>
          <c:val>
            <c:numRef>
              <c:f>'Chart Data'!$B$2:$B$7</c:f>
              <c:numCache>
                <c:formatCode>0.000</c:formatCode>
                <c:ptCount val="6"/>
                <c:pt idx="0">
                  <c:v>0.07348048</c:v>
                </c:pt>
                <c:pt idx="1">
                  <c:v>0.0699068</c:v>
                </c:pt>
                <c:pt idx="2">
                  <c:v>0.06650896</c:v>
                </c:pt>
                <c:pt idx="3">
                  <c:v>0.06524961</c:v>
                </c:pt>
                <c:pt idx="4">
                  <c:v>0.06669996</c:v>
                </c:pt>
                <c:pt idx="5">
                  <c:v>0.06398251</c:v>
                </c:pt>
              </c:numCache>
            </c:numRef>
          </c:val>
        </c:ser>
        <c:dLbls>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Calibri"/>
                <a:ea typeface="Calibri"/>
                <a:cs typeface="Calibri"/>
              </a:defRPr>
            </a:pPr>
          </a:p>
        </c:txPr>
        <c:crossAx val="48672768"/>
      </c:catAx>
      <c:valAx>
        <c:axId val="48672768"/>
        <c:scaling>
          <c:orientation val="minMax"/>
          <c:max val="0.09"/>
          <c:min val="0"/>
        </c:scaling>
        <c:delete val="0"/>
        <c:axPos val="l"/>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crossBetween val="between"/>
      </c:valAx>
      <c:spPr>
        <a:solidFill xmlns:a="http://schemas.openxmlformats.org/drawingml/2006/main">
          <a:srgbClr val="F7F7F0"/>
        </a:solidFill>
      </c:spPr>
    </c:plotArea>
    <c:plotVisOnly val="1"/>
  </c:chart>
  <c:spPr>
    <a:solidFill xmlns:a="http://schemas.openxmlformats.org/drawingml/2006/main">
      <a:srgbClr val="F7F7F0"/>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Healthy-site test RMSE</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plotArea>
      <c:barChart>
        <c:barDir val="col"/>
        <c:grouping val="clustered"/>
        <c:varyColors val="0"/>
        <c:ser>
          <c:idx val="0"/>
          <c:order val="0"/>
          <c:tx>
            <c:v>FedAvg</c:v>
          </c:tx>
          <c:spPr>
            <a:solidFill xmlns:a="http://schemas.openxmlformats.org/drawingml/2006/main">
              <a:srgbClr val="58716A"/>
            </a:solidFill>
          </c:spPr>
          <c:cat>
            <c:strRef>
              <c:f>'Chart Data'!$A$2:$A$4</c:f>
              <c:strCache>
                <c:ptCount val="3"/>
                <c:pt idx="0">
                  <c:v>Healthy</c:v>
                </c:pt>
                <c:pt idx="1">
                  <c:v>Stale sensors</c:v>
                </c:pt>
                <c:pt idx="2">
                  <c:v>50% dropout</c:v>
                </c:pt>
              </c:strCache>
            </c:strRef>
          </c:cat>
          <c:val>
            <c:numRef>
              <c:f>'Chart Data'!$B$2:$B$4</c:f>
              <c:numCache>
                <c:formatCode>0.000</c:formatCode>
                <c:ptCount val="3"/>
                <c:pt idx="0">
                  <c:v>0.06407324</c:v>
                </c:pt>
                <c:pt idx="1">
                  <c:v>0.0689217</c:v>
                </c:pt>
                <c:pt idx="2">
                  <c:v>0.0646193</c:v>
                </c:pt>
              </c:numCache>
            </c:numRef>
          </c:val>
        </c:ser>
        <c:ser>
          <c:idx val="1"/>
          <c:order val="1"/>
          <c:tx>
            <c:v>Trust-aware MLP</c:v>
          </c:tx>
          <c:spPr>
            <a:solidFill xmlns:a="http://schemas.openxmlformats.org/drawingml/2006/main">
              <a:srgbClr val="4E7D61"/>
            </a:solidFill>
          </c:spPr>
          <c:cat>
            <c:strRef>
              <c:f>'Chart Data'!$C$2:$C$4</c:f>
              <c:strCache>
                <c:ptCount val="3"/>
                <c:pt idx="0">
                  <c:v>Healthy</c:v>
                </c:pt>
                <c:pt idx="1">
                  <c:v>Stale sensors</c:v>
                </c:pt>
                <c:pt idx="2">
                  <c:v>50% dropout</c:v>
                </c:pt>
              </c:strCache>
            </c:strRef>
          </c:cat>
          <c:val>
            <c:numRef>
              <c:f>'Chart Data'!$D$2:$D$4</c:f>
              <c:numCache>
                <c:formatCode>0.000</c:formatCode>
                <c:ptCount val="3"/>
                <c:pt idx="0">
                  <c:v>0.06398251</c:v>
                </c:pt>
                <c:pt idx="1">
                  <c:v>0.06279598</c:v>
                </c:pt>
                <c:pt idx="2">
                  <c:v>0.06434269</c:v>
                </c:pt>
              </c:numCache>
            </c:numRef>
          </c:val>
        </c:ser>
        <c:dLbls>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dLblPos val="outEnd"/>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Calibri"/>
                <a:ea typeface="Calibri"/>
                <a:cs typeface="Calibri"/>
              </a:defRPr>
            </a:pPr>
          </a:p>
        </c:txPr>
        <c:crossAx val="48672768"/>
      </c:catAx>
      <c:valAx>
        <c:axId val="48672768"/>
        <c:scaling>
          <c:orientation val="minMax"/>
          <c:max val="0.09"/>
          <c:min val="0"/>
        </c:scaling>
        <c:delete val="0"/>
        <c:axPos val="l"/>
        <c:numFmt formatCode="0.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crossBetween val="between"/>
      </c:valAx>
      <c:spPr>
        <a:solidFill xmlns:a="http://schemas.openxmlformats.org/drawingml/2006/main">
          <a:srgbClr val="F7F7F0"/>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latin typeface="Calibri"/>
              <a:ea typeface="Calibri"/>
              <a:cs typeface="Calibri"/>
            </a:defRPr>
          </a:pPr>
        </a:p>
      </c:txPr>
    </c:legend>
    <c:plotVisOnly val="1"/>
  </c:chart>
  <c:spPr>
    <a:solidFill xmlns:a="http://schemas.openxmlformats.org/drawingml/2006/main">
      <a:srgbClr val="F7F7F0"/>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1650">
                <a:latin typeface="Calibri"/>
                <a:ea typeface="Calibri"/>
                <a:cs typeface="Calibri"/>
              </a:rPr>
              <a:t>Model traffic per round, MB</a:t>
            </a:r>
          </a:p>
        </c:rich>
      </c:tx>
      <c:overlay val="0"/>
      <c:txPr>
        <a:bodyPr xmlns:a="http://schemas.openxmlformats.org/drawingml/2006/main" anchorCtr="1"/>
        <a:lstStyle xmlns:a="http://schemas.openxmlformats.org/drawingml/2006/main"/>
        <a:p xmlns:a="http://schemas.openxmlformats.org/drawingml/2006/main">
          <a:pPr>
            <a:defRPr sz="1650">
              <a:latin typeface="Calibri"/>
              <a:ea typeface="Calibri"/>
              <a:cs typeface="Calibri"/>
            </a:defRPr>
          </a:pPr>
        </a:p>
      </c:txPr>
    </c:title>
    <c:plotArea>
      <c:barChart>
        <c:barDir val="col"/>
        <c:grouping val="clustered"/>
        <c:varyColors val="0"/>
        <c:ser>
          <c:idx val="0"/>
          <c:order val="0"/>
          <c:tx>
            <c:v>Flat capped</c:v>
          </c:tx>
          <c:spPr>
            <a:solidFill xmlns:a="http://schemas.openxmlformats.org/drawingml/2006/main">
              <a:srgbClr val="58716A"/>
            </a:solidFill>
          </c:spPr>
          <c:cat>
            <c:numRef>
              <c:f>'Chart Data'!$A$2:$A$4</c:f>
              <c:numCache>
                <c:formatCode>General</c:formatCode>
                <c:ptCount val="3"/>
                <c:pt idx="0">
                  <c:v>100</c:v>
                </c:pt>
                <c:pt idx="1">
                  <c:v>250</c:v>
                </c:pt>
                <c:pt idx="2">
                  <c:v>500</c:v>
                </c:pt>
              </c:numCache>
            </c:numRef>
          </c:cat>
          <c:val>
            <c:numRef>
              <c:f>'Chart Data'!$B$2:$B$4</c:f>
              <c:numCache>
                <c:formatCode>0.00</c:formatCode>
                <c:ptCount val="3"/>
                <c:pt idx="0">
                  <c:v>1.90616</c:v>
                </c:pt>
                <c:pt idx="1">
                  <c:v>1.90616</c:v>
                </c:pt>
                <c:pt idx="2">
                  <c:v>1.90616</c:v>
                </c:pt>
              </c:numCache>
            </c:numRef>
          </c:val>
        </c:ser>
        <c:ser>
          <c:idx val="1"/>
          <c:order val="1"/>
          <c:tx>
            <c:v>Event-aware</c:v>
          </c:tx>
          <c:spPr>
            <a:solidFill xmlns:a="http://schemas.openxmlformats.org/drawingml/2006/main">
              <a:srgbClr val="4E7D61"/>
            </a:solidFill>
          </c:spPr>
          <c:cat>
            <c:numRef>
              <c:f>'Chart Data'!$C$2:$C$4</c:f>
              <c:numCache>
                <c:formatCode>General</c:formatCode>
                <c:ptCount val="3"/>
                <c:pt idx="0">
                  <c:v>100</c:v>
                </c:pt>
                <c:pt idx="1">
                  <c:v>250</c:v>
                </c:pt>
                <c:pt idx="2">
                  <c:v>500</c:v>
                </c:pt>
              </c:numCache>
            </c:numRef>
          </c:cat>
          <c:val>
            <c:numRef>
              <c:f>'Chart Data'!$D$2:$D$4</c:f>
              <c:numCache>
                <c:formatCode>0.00</c:formatCode>
                <c:ptCount val="3"/>
                <c:pt idx="0">
                  <c:v>1.081576</c:v>
                </c:pt>
                <c:pt idx="1">
                  <c:v>1.083976</c:v>
                </c:pt>
                <c:pt idx="2">
                  <c:v>1.087976</c:v>
                </c:pt>
              </c:numCache>
            </c:numRef>
          </c:val>
        </c:ser>
        <c:ser>
          <c:idx val="2"/>
          <c:order val="2"/>
          <c:tx>
            <c:v>Hierarchy feeder</c:v>
          </c:tx>
          <c:spPr>
            <a:solidFill xmlns:a="http://schemas.openxmlformats.org/drawingml/2006/main">
              <a:srgbClr val="D49A54"/>
            </a:solidFill>
          </c:spPr>
          <c:cat>
            <c:numRef>
              <c:f>'Chart Data'!$E$2:$E$4</c:f>
              <c:numCache>
                <c:formatCode>General</c:formatCode>
                <c:ptCount val="3"/>
                <c:pt idx="0">
                  <c:v>100</c:v>
                </c:pt>
                <c:pt idx="1">
                  <c:v>250</c:v>
                </c:pt>
                <c:pt idx="2">
                  <c:v>500</c:v>
                </c:pt>
              </c:numCache>
            </c:numRef>
          </c:cat>
          <c:val>
            <c:numRef>
              <c:f>'Chart Data'!$F$2:$F$4</c:f>
              <c:numCache>
                <c:formatCode>0.00</c:formatCode>
                <c:ptCount val="3"/>
                <c:pt idx="0">
                  <c:v>0.381232</c:v>
                </c:pt>
                <c:pt idx="1">
                  <c:v>0.857772</c:v>
                </c:pt>
                <c:pt idx="2">
                  <c:v>1.30254267</c:v>
                </c:pt>
              </c:numCache>
            </c:numRef>
          </c:val>
        </c:ser>
        <c:dLbls>
          <c:txPr>
            <a:bodyPr xmlns:a="http://schemas.openxmlformats.org/drawingml/2006/main" anchorCtr="1"/>
            <a:lstStyle xmlns:a="http://schemas.openxmlformats.org/drawingml/2006/main"/>
            <a:p xmlns:a="http://schemas.openxmlformats.org/drawingml/2006/main">
              <a:pPr>
                <a:defRPr sz="1500">
                  <a:latin typeface="Calibri"/>
                  <a:ea typeface="Calibri"/>
                  <a:cs typeface="Calibri"/>
                </a:defRPr>
              </a:pPr>
            </a:p>
          </c:txPr>
          <c:dLblPos val="outEnd"/>
          <c:showLegendKey val="0"/>
          <c:showVal val="0"/>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666666"/>
                </a:solidFill>
                <a:latin typeface="Calibri"/>
                <a:ea typeface="Calibri"/>
                <a:cs typeface="Calibri"/>
              </a:defRPr>
            </a:pPr>
          </a:p>
        </c:txPr>
        <c:crossAx val="48672768"/>
      </c:catAx>
      <c:valAx>
        <c:axId val="48672768"/>
        <c:scaling>
          <c:orientation val="minMax"/>
          <c:max val="2.4"/>
          <c:min val="0"/>
        </c:scaling>
        <c:delete val="0"/>
        <c:axPos val="l"/>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Calibri"/>
                <a:ea typeface="Calibri"/>
                <a:cs typeface="Calibri"/>
              </a:defRPr>
            </a:pPr>
          </a:p>
        </c:txPr>
        <c:crossAx val="48650112"/>
        <c:crossBetween val="between"/>
      </c:valAx>
      <c:spPr>
        <a:solidFill xmlns:a="http://schemas.openxmlformats.org/drawingml/2006/main">
          <a:srgbClr val="F7F7F0"/>
        </a:solidFill>
      </c:spPr>
    </c:plotArea>
    <c:legend>
      <c:legendPos val="b"/>
      <c:overlay val="0"/>
      <c:txPr>
        <a:bodyPr xmlns:a="http://schemas.openxmlformats.org/drawingml/2006/main" anchorCtr="1"/>
        <a:lstStyle xmlns:a="http://schemas.openxmlformats.org/drawingml/2006/main"/>
        <a:p xmlns:a="http://schemas.openxmlformats.org/drawingml/2006/main">
          <a:pPr>
            <a:defRPr sz="1425">
              <a:latin typeface="Calibri"/>
              <a:ea typeface="Calibri"/>
              <a:cs typeface="Calibri"/>
            </a:defRPr>
          </a:pPr>
        </a:p>
      </c:txPr>
    </c:legend>
    <c:plotVisOnly val="1"/>
  </c:chart>
  <c:spPr>
    <a:solidFill xmlns:a="http://schemas.openxmlformats.org/drawingml/2006/main">
      <a:srgbClr val="F7F7F0"/>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73B3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C9EBE8D-8672-42AF-9501-1824DE4C7D18}"/>
              </a:ext>
            </a:extLst>
          </p:cNvPr>
          <p:cNvSpPr>
            <a:spLocks xmlns:a="http://schemas.openxmlformats.org/drawingml/2006/main" noGrp="1"/>
          </p:cNvSpPr>
          <p:nvPr/>
        </p:nvSpPr>
        <p:spPr>
          <a:xfrm xmlns:a="http://schemas.openxmlformats.org/drawingml/2006/main">
            <a:off x="609600" y="6467475"/>
            <a:ext cx="809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BDD1C5"/>
                </a:solidFill>
                <a:latin typeface="Calibri"/>
                <a:ea typeface="Calibri"/>
                <a:cs typeface="Calibri"/>
              </a:defRPr>
            </a:pPr>
            <a:r>
              <a:rPr sz="975" b="0">
                <a:solidFill>
                  <a:srgbClr val="BDD1C5"/>
                </a:solidFill>
                <a:latin typeface="Calibri"/>
                <a:ea typeface="Calibri"/>
                <a:cs typeface="Calibri"/>
              </a:rPr>
              <a:t>GRIDMESH  /  TEAM BP</a:t>
            </a:r>
          </a:p>
        </p:txBody>
      </p:sp>
      <p:sp>
        <p:nvSpPr>
          <p:cNvPr id="2" name="">
            <a:extLst xmlns:a="http://schemas.openxmlformats.org/drawingml/2006/main">
              <a:ext uri="{FF2B5EF4-FFF2-40B4-BE49-F238E27FC236}">
                <a16:creationId xmlns:a16="http://schemas.microsoft.com/office/drawing/2014/main" id="{7DBCEE91-F956-41B5-97F3-08A952DA733E}"/>
              </a:ext>
            </a:extLst>
          </p:cNvPr>
          <p:cNvSpPr>
            <a:spLocks xmlns:a="http://schemas.openxmlformats.org/drawingml/2006/main" noGrp="1"/>
          </p:cNvSpPr>
          <p:nvPr/>
        </p:nvSpPr>
        <p:spPr>
          <a:xfrm xmlns:a="http://schemas.openxmlformats.org/drawingml/2006/main">
            <a:off x="11144250" y="64293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CE56D"/>
                </a:solidFill>
                <a:latin typeface="Calibri"/>
                <a:ea typeface="Calibri"/>
                <a:cs typeface="Calibri"/>
              </a:defRPr>
            </a:pPr>
            <a:r>
              <a:rPr sz="1200" b="0">
                <a:solidFill>
                  <a:srgbClr val="BCE56D"/>
                </a:solidFill>
                <a:latin typeface="Calibri"/>
                <a:ea typeface="Calibri"/>
                <a:cs typeface="Calibri"/>
              </a:rPr>
              <a:t>01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c4a1126bff9544eb"/>
          <a:srcRect xmlns:a="http://schemas.openxmlformats.org/drawingml/2006/main" l="22251" t="0" r="22251" b="0"/>
          <a:stretch xmlns:a="http://schemas.openxmlformats.org/drawingml/2006/main">
            <a:fillRect l="0" t="0" r="0" b="0"/>
          </a:stretch>
        </p:blipFill>
        <p:spPr>
          <a:xfrm xmlns:a="http://schemas.openxmlformats.org/drawingml/2006/main">
            <a:off x="5429250" y="0"/>
            <a:ext cx="6762750" cy="6858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3F2459ED-14CE-498A-9F2B-BF34008C4611}"/>
              </a:ext>
            </a:extLst>
          </p:cNvPr>
          <p:cNvSpPr>
            <a:spLocks xmlns:a="http://schemas.openxmlformats.org/drawingml/2006/main" noGrp="1"/>
          </p:cNvSpPr>
          <p:nvPr/>
        </p:nvSpPr>
        <p:spPr>
          <a:xfrm xmlns:a="http://schemas.openxmlformats.org/drawingml/2006/main">
            <a:off x="552450" y="476250"/>
            <a:ext cx="466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CE56D"/>
                </a:solidFill>
                <a:latin typeface="Calibri"/>
                <a:ea typeface="Calibri"/>
                <a:cs typeface="Calibri"/>
              </a:defRPr>
            </a:pPr>
            <a:r>
              <a:rPr sz="1500" b="1">
                <a:solidFill>
                  <a:srgbClr val="BCE56D"/>
                </a:solidFill>
                <a:latin typeface="Calibri"/>
                <a:ea typeface="Calibri"/>
                <a:cs typeface="Calibri"/>
              </a:rPr>
              <a:t>CHALLENGE 03</a:t>
            </a:r>
          </a:p>
        </p:txBody>
      </p:sp>
      <p:sp>
        <p:nvSpPr>
          <p:cNvPr id="5" name="">
            <a:extLst xmlns:a="http://schemas.openxmlformats.org/drawingml/2006/main">
              <a:ext uri="{FF2B5EF4-FFF2-40B4-BE49-F238E27FC236}">
                <a16:creationId xmlns:a16="http://schemas.microsoft.com/office/drawing/2014/main" id="{FA3AAB81-4181-47E6-AEB1-44CF2E0171CD}"/>
              </a:ext>
            </a:extLst>
          </p:cNvPr>
          <p:cNvSpPr>
            <a:spLocks xmlns:a="http://schemas.openxmlformats.org/drawingml/2006/main" noGrp="1"/>
          </p:cNvSpPr>
          <p:nvPr/>
        </p:nvSpPr>
        <p:spPr>
          <a:xfrm xmlns:a="http://schemas.openxmlformats.org/drawingml/2006/main">
            <a:off x="552450" y="1409700"/>
            <a:ext cx="46863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00" b="1">
                <a:solidFill>
                  <a:srgbClr val="FFFFFF"/>
                </a:solidFill>
                <a:latin typeface="Calibri"/>
                <a:ea typeface="Calibri"/>
                <a:cs typeface="Calibri"/>
              </a:defRPr>
            </a:pPr>
            <a:r>
              <a:rPr sz="4800" b="1">
                <a:solidFill>
                  <a:srgbClr val="FFFFFF"/>
                </a:solidFill>
                <a:latin typeface="Calibri"/>
                <a:ea typeface="Calibri"/>
                <a:cs typeface="Calibri"/>
              </a:rPr>
              <a:t>GridMesh</a:t>
            </a:r>
          </a:p>
        </p:txBody>
      </p:sp>
      <p:sp>
        <p:nvSpPr>
          <p:cNvPr id="6" name="">
            <a:extLst xmlns:a="http://schemas.openxmlformats.org/drawingml/2006/main">
              <a:ext uri="{FF2B5EF4-FFF2-40B4-BE49-F238E27FC236}">
                <a16:creationId xmlns:a16="http://schemas.microsoft.com/office/drawing/2014/main" id="{8EF1B599-F64D-4869-A40D-B2F61C9F664A}"/>
              </a:ext>
            </a:extLst>
          </p:cNvPr>
          <p:cNvSpPr>
            <a:spLocks xmlns:a="http://schemas.openxmlformats.org/drawingml/2006/main" noGrp="1"/>
          </p:cNvSpPr>
          <p:nvPr/>
        </p:nvSpPr>
        <p:spPr>
          <a:xfrm xmlns:a="http://schemas.openxmlformats.org/drawingml/2006/main">
            <a:off x="552450" y="2600325"/>
            <a:ext cx="47053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FFFFFF"/>
                </a:solidFill>
                <a:latin typeface="Calibri"/>
                <a:ea typeface="Calibri"/>
                <a:cs typeface="Calibri"/>
              </a:defRPr>
            </a:pPr>
            <a:r>
              <a:rPr sz="3225" b="1">
                <a:solidFill>
                  <a:srgbClr val="FFFFFF"/>
                </a:solidFill>
                <a:latin typeface="Calibri"/>
                <a:ea typeface="Calibri"/>
                <a:cs typeface="Calibri"/>
              </a:rPr>
              <a:t>Dependable solar</a:t>
            </a:r>
          </a:p>
          <a:p xmlns:a="http://schemas.openxmlformats.org/drawingml/2006/main">
            <a:pPr>
              <a:defRPr sz="3225" b="1">
                <a:solidFill>
                  <a:srgbClr val="FFFFFF"/>
                </a:solidFill>
                <a:latin typeface="Calibri"/>
                <a:ea typeface="Calibri"/>
                <a:cs typeface="Calibri"/>
              </a:defRPr>
            </a:pPr>
            <a:r>
              <a:rPr sz="3225" b="1">
                <a:solidFill>
                  <a:srgbClr val="FFFFFF"/>
                </a:solidFill>
                <a:latin typeface="Calibri"/>
                <a:ea typeface="Calibri"/>
                <a:cs typeface="Calibri"/>
              </a:rPr>
              <a:t>within a limited</a:t>
            </a:r>
          </a:p>
          <a:p xmlns:a="http://schemas.openxmlformats.org/drawingml/2006/main">
            <a:pPr>
              <a:defRPr sz="3225" b="1">
                <a:solidFill>
                  <a:srgbClr val="FFFFFF"/>
                </a:solidFill>
                <a:latin typeface="Calibri"/>
                <a:ea typeface="Calibri"/>
                <a:cs typeface="Calibri"/>
              </a:defRPr>
            </a:pPr>
            <a:r>
              <a:rPr sz="3225" b="1">
                <a:solidFill>
                  <a:srgbClr val="FFFFFF"/>
                </a:solidFill>
                <a:latin typeface="Calibri"/>
                <a:ea typeface="Calibri"/>
                <a:cs typeface="Calibri"/>
              </a:rPr>
              <a:t>backup budget</a:t>
            </a:r>
          </a:p>
        </p:txBody>
      </p:sp>
      <p:sp>
        <p:nvSpPr>
          <p:cNvPr id="7" name="">
            <a:extLst xmlns:a="http://schemas.openxmlformats.org/drawingml/2006/main">
              <a:ext uri="{FF2B5EF4-FFF2-40B4-BE49-F238E27FC236}">
                <a16:creationId xmlns:a16="http://schemas.microsoft.com/office/drawing/2014/main" id="{50076C41-CD2A-49EB-8C09-A00E10AB6AD8}"/>
              </a:ext>
            </a:extLst>
          </p:cNvPr>
          <p:cNvSpPr>
            <a:spLocks xmlns:a="http://schemas.openxmlformats.org/drawingml/2006/main" noGrp="1"/>
          </p:cNvSpPr>
          <p:nvPr/>
        </p:nvSpPr>
        <p:spPr>
          <a:xfrm xmlns:a="http://schemas.openxmlformats.org/drawingml/2006/main">
            <a:off x="552450" y="4762500"/>
            <a:ext cx="4762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9E7DE"/>
                </a:solidFill>
                <a:latin typeface="Calibri"/>
                <a:ea typeface="Calibri"/>
                <a:cs typeface="Calibri"/>
              </a:defRPr>
            </a:pPr>
            <a:r>
              <a:rPr sz="2025" b="0">
                <a:solidFill>
                  <a:srgbClr val="D9E7DE"/>
                </a:solidFill>
                <a:latin typeface="Calibri"/>
                <a:ea typeface="Calibri"/>
                <a:cs typeface="Calibri"/>
              </a:rPr>
              <a:t>Collaborative forecasts with</a:t>
            </a:r>
          </a:p>
          <a:p xmlns:a="http://schemas.openxmlformats.org/drawingml/2006/main">
            <a:pPr>
              <a:defRPr sz="2025" b="0">
                <a:solidFill>
                  <a:srgbClr val="D9E7DE"/>
                </a:solidFill>
                <a:latin typeface="Calibri"/>
                <a:ea typeface="Calibri"/>
                <a:cs typeface="Calibri"/>
              </a:defRPr>
            </a:pPr>
            <a:r>
              <a:rPr sz="2025" b="0">
                <a:solidFill>
                  <a:srgbClr val="D9E7DE"/>
                </a:solidFill>
                <a:latin typeface="Calibri"/>
                <a:ea typeface="Calibri"/>
                <a:cs typeface="Calibri"/>
              </a:rPr>
              <a:t>operator warnings and reserve advice</a:t>
            </a:r>
          </a:p>
        </p:txBody>
      </p:sp>
      <p:sp>
        <p:nvSpPr>
          <p:cNvPr id="8" name="">
            <a:extLst xmlns:a="http://schemas.openxmlformats.org/drawingml/2006/main">
              <a:ext uri="{FF2B5EF4-FFF2-40B4-BE49-F238E27FC236}">
                <a16:creationId xmlns:a16="http://schemas.microsoft.com/office/drawing/2014/main" id="{560288F4-CF0E-4BB9-8BFA-3D07CF70C58F}"/>
              </a:ext>
            </a:extLst>
          </p:cNvPr>
          <p:cNvSpPr>
            <a:spLocks xmlns:a="http://schemas.openxmlformats.org/drawingml/2006/main" noGrp="1"/>
          </p:cNvSpPr>
          <p:nvPr/>
        </p:nvSpPr>
        <p:spPr>
          <a:xfrm xmlns:a="http://schemas.openxmlformats.org/drawingml/2006/main">
            <a:off x="552450" y="6019800"/>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BCE56D"/>
                </a:solidFill>
                <a:latin typeface="Calibri"/>
                <a:ea typeface="Calibri"/>
                <a:cs typeface="Calibri"/>
              </a:defRPr>
            </a:pPr>
            <a:r>
              <a:rPr sz="1950" b="1">
                <a:solidFill>
                  <a:srgbClr val="BCE56D"/>
                </a:solidFill>
                <a:latin typeface="Calibri"/>
                <a:ea typeface="Calibri"/>
                <a:cs typeface="Calibri"/>
              </a:rPr>
              <a:t>Team BP</a:t>
            </a:r>
          </a:p>
        </p:txBody>
      </p:sp>
      <p:sp>
        <p:nvSpPr>
          <p:cNvPr id="9" name="">
            <a:extLst xmlns:a="http://schemas.openxmlformats.org/drawingml/2006/main">
              <a:ext uri="{FF2B5EF4-FFF2-40B4-BE49-F238E27FC236}">
                <a16:creationId xmlns:a16="http://schemas.microsoft.com/office/drawing/2014/main" id="{B2214A2D-534E-4AD0-9D76-597ABCA433DD}"/>
              </a:ext>
            </a:extLst>
          </p:cNvPr>
          <p:cNvSpPr>
            <a:spLocks xmlns:a="http://schemas.openxmlformats.org/drawingml/2006/main" noGrp="1"/>
          </p:cNvSpPr>
          <p:nvPr/>
        </p:nvSpPr>
        <p:spPr>
          <a:xfrm xmlns:a="http://schemas.openxmlformats.org/drawingml/2006/main">
            <a:off x="9467850" y="6429375"/>
            <a:ext cx="214312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FFFFFF"/>
                </a:solidFill>
                <a:latin typeface="Calibri"/>
                <a:ea typeface="Calibri"/>
                <a:cs typeface="Calibri"/>
              </a:defRPr>
            </a:pPr>
            <a:r>
              <a:rPr sz="1125" b="0">
                <a:solidFill>
                  <a:srgbClr val="FFFFFF"/>
                </a:solidFill>
                <a:latin typeface="Calibri"/>
                <a:ea typeface="Calibri"/>
                <a:cs typeface="Calibri"/>
              </a:rPr>
              <a:t>Concept illustration</a:t>
            </a:r>
          </a:p>
        </p:txBody>
      </p:sp>
    </p:spTree>
    <p:extLst>
      <p:ext uri="{BB962C8B-B14F-4D97-AF65-F5344CB8AC3E}">
        <p14:creationId xmlns:p14="http://schemas.microsoft.com/office/powerpoint/2010/main" val="1769372143"/>
      </p:ext>
    </p:extLst>
  </p:cSld>
</p:sld>
</file>

<file path=ppt/slides/slide2.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027B46B-DF85-483E-8F40-6EA27E5F47C6}"/>
              </a:ext>
            </a:extLst>
          </p:cNvPr>
          <p:cNvSpPr>
            <a:spLocks xmlns:a="http://schemas.openxmlformats.org/drawingml/2006/main" noGrp="1"/>
          </p:cNvSpPr>
          <p:nvPr/>
        </p:nvSpPr>
        <p:spPr>
          <a:xfrm xmlns:a="http://schemas.openxmlformats.org/drawingml/2006/main">
            <a:off x="590550" y="466725"/>
            <a:ext cx="110109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73B35"/>
                </a:solidFill>
                <a:latin typeface="Calibri"/>
                <a:ea typeface="Calibri"/>
                <a:cs typeface="Calibri"/>
              </a:defRPr>
            </a:pPr>
            <a:r>
              <a:rPr sz="3150" b="1">
                <a:solidFill>
                  <a:srgbClr val="073B35"/>
                </a:solidFill>
                <a:latin typeface="Calibri"/>
                <a:ea typeface="Calibri"/>
                <a:cs typeface="Calibri"/>
              </a:rPr>
              <a:t>The operator journey</a:t>
            </a:r>
          </a:p>
        </p:txBody>
      </p:sp>
      <p:sp>
        <p:nvSpPr>
          <p:cNvPr id="2" name="">
            <a:extLst xmlns:a="http://schemas.openxmlformats.org/drawingml/2006/main">
              <a:ext uri="{FF2B5EF4-FFF2-40B4-BE49-F238E27FC236}">
                <a16:creationId xmlns:a16="http://schemas.microsoft.com/office/drawing/2014/main" id="{C9AD9708-D7A4-4B58-A39A-956AAB56B74F}"/>
              </a:ext>
            </a:extLst>
          </p:cNvPr>
          <p:cNvSpPr>
            <a:spLocks xmlns:a="http://schemas.openxmlformats.org/drawingml/2006/main" noGrp="1"/>
          </p:cNvSpPr>
          <p:nvPr/>
        </p:nvSpPr>
        <p:spPr>
          <a:xfrm xmlns:a="http://schemas.openxmlformats.org/drawingml/2006/main">
            <a:off x="609600" y="64674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8716A"/>
                </a:solidFill>
                <a:latin typeface="Calibri"/>
                <a:ea typeface="Calibri"/>
                <a:cs typeface="Calibri"/>
              </a:defRPr>
            </a:pPr>
            <a:r>
              <a:rPr sz="975" b="0">
                <a:solidFill>
                  <a:srgbClr val="58716A"/>
                </a:solidFill>
                <a:latin typeface="Calibri"/>
                <a:ea typeface="Calibri"/>
                <a:cs typeface="Calibri"/>
              </a:rPr>
              <a:t>GRIDMESH  /  TEAM BP</a:t>
            </a:r>
          </a:p>
        </p:txBody>
      </p:sp>
      <p:sp>
        <p:nvSpPr>
          <p:cNvPr id="3" name="">
            <a:extLst xmlns:a="http://schemas.openxmlformats.org/drawingml/2006/main">
              <a:ext uri="{FF2B5EF4-FFF2-40B4-BE49-F238E27FC236}">
                <a16:creationId xmlns:a16="http://schemas.microsoft.com/office/drawing/2014/main" id="{3D260A40-FE94-4FBE-85F5-9E7F43BEABBF}"/>
              </a:ext>
            </a:extLst>
          </p:cNvPr>
          <p:cNvSpPr>
            <a:spLocks xmlns:a="http://schemas.openxmlformats.org/drawingml/2006/main" noGrp="1"/>
          </p:cNvSpPr>
          <p:nvPr/>
        </p:nvSpPr>
        <p:spPr>
          <a:xfrm xmlns:a="http://schemas.openxmlformats.org/drawingml/2006/main">
            <a:off x="11144250" y="64293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8716A"/>
                </a:solidFill>
                <a:latin typeface="Calibri"/>
                <a:ea typeface="Calibri"/>
                <a:cs typeface="Calibri"/>
              </a:defRPr>
            </a:pPr>
            <a:r>
              <a:rPr sz="1200" b="0">
                <a:solidFill>
                  <a:srgbClr val="58716A"/>
                </a:solidFill>
                <a:latin typeface="Calibri"/>
                <a:ea typeface="Calibri"/>
                <a:cs typeface="Calibri"/>
              </a:rPr>
              <a:t>02</a:t>
            </a:r>
          </a:p>
        </p:txBody>
      </p:sp>
      <p:sp>
        <p:nvSpPr>
          <p:cNvPr id="4" name="">
            <a:extLst xmlns:a="http://schemas.openxmlformats.org/drawingml/2006/main">
              <a:ext uri="{FF2B5EF4-FFF2-40B4-BE49-F238E27FC236}">
                <a16:creationId xmlns:a16="http://schemas.microsoft.com/office/drawing/2014/main" id="{61A74996-01F4-45F4-B521-F7500F7BF055}"/>
              </a:ext>
            </a:extLst>
          </p:cNvPr>
          <p:cNvSpPr>
            <a:spLocks xmlns:a="http://schemas.openxmlformats.org/drawingml/2006/main" noGrp="1"/>
          </p:cNvSpPr>
          <p:nvPr/>
        </p:nvSpPr>
        <p:spPr>
          <a:xfrm xmlns:a="http://schemas.openxmlformats.org/drawingml/2006/main">
            <a:off x="609600" y="1704975"/>
            <a:ext cx="2343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4E7D61"/>
                </a:solidFill>
                <a:latin typeface="Calibri"/>
                <a:ea typeface="Calibri"/>
                <a:cs typeface="Calibri"/>
              </a:defRPr>
            </a:pPr>
            <a:r>
              <a:rPr sz="3150" b="1">
                <a:solidFill>
                  <a:srgbClr val="4E7D61"/>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855BDBC-28C2-4DFA-9D78-11741A59CA31}"/>
              </a:ext>
            </a:extLst>
          </p:cNvPr>
          <p:cNvSpPr>
            <a:spLocks xmlns:a="http://schemas.openxmlformats.org/drawingml/2006/main" noGrp="1"/>
          </p:cNvSpPr>
          <p:nvPr/>
        </p:nvSpPr>
        <p:spPr>
          <a:xfrm xmlns:a="http://schemas.openxmlformats.org/drawingml/2006/main">
            <a:off x="609600" y="2628900"/>
            <a:ext cx="2381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73B35"/>
                </a:solidFill>
                <a:latin typeface="Calibri"/>
                <a:ea typeface="Calibri"/>
                <a:cs typeface="Calibri"/>
              </a:defRPr>
            </a:pPr>
            <a:r>
              <a:rPr sz="2175" b="1">
                <a:solidFill>
                  <a:srgbClr val="073B35"/>
                </a:solidFill>
                <a:latin typeface="Calibri"/>
                <a:ea typeface="Calibri"/>
                <a:cs typeface="Calibri"/>
              </a:rPr>
              <a:t>Read the forecast</a:t>
            </a:r>
          </a:p>
        </p:txBody>
      </p:sp>
      <p:sp>
        <p:nvSpPr>
          <p:cNvPr id="6" name="">
            <a:extLst xmlns:a="http://schemas.openxmlformats.org/drawingml/2006/main">
              <a:ext uri="{FF2B5EF4-FFF2-40B4-BE49-F238E27FC236}">
                <a16:creationId xmlns:a16="http://schemas.microsoft.com/office/drawing/2014/main" id="{A2288A0B-1A35-43F8-A85C-12B89157ABB7}"/>
              </a:ext>
            </a:extLst>
          </p:cNvPr>
          <p:cNvSpPr>
            <a:spLocks xmlns:a="http://schemas.openxmlformats.org/drawingml/2006/main" noGrp="1"/>
          </p:cNvSpPr>
          <p:nvPr/>
        </p:nvSpPr>
        <p:spPr>
          <a:xfrm xmlns:a="http://schemas.openxmlformats.org/drawingml/2006/main">
            <a:off x="609600" y="3695700"/>
            <a:ext cx="23907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073B35"/>
                </a:solidFill>
                <a:latin typeface="Calibri"/>
                <a:ea typeface="Calibri"/>
                <a:cs typeface="Calibri"/>
              </a:defRPr>
            </a:pPr>
            <a:r>
              <a:rPr sz="1800" b="0">
                <a:solidFill>
                  <a:srgbClr val="073B35"/>
                </a:solidFill>
                <a:latin typeface="Calibri"/>
                <a:ea typeface="Calibri"/>
                <a:cs typeface="Calibri"/>
              </a:rPr>
              <a:t>Solar expected in 30 minutes</a:t>
            </a:r>
          </a:p>
          <a:p xmlns:a="http://schemas.openxmlformats.org/drawingml/2006/main">
            <a:pPr>
              <a:defRPr sz="1800" b="0">
                <a:solidFill>
                  <a:srgbClr val="073B35"/>
                </a:solidFill>
                <a:latin typeface="Calibri"/>
                <a:ea typeface="Calibri"/>
                <a:cs typeface="Calibri"/>
              </a:defRPr>
            </a:pPr>
            <a:r>
              <a:rPr sz="1800" b="0">
                <a:solidFill>
                  <a:srgbClr val="073B35"/>
                </a:solidFill>
                <a:latin typeface="Calibri"/>
                <a:ea typeface="Calibri"/>
                <a:cs typeface="Calibri"/>
              </a:rPr>
              <a:t>Demand and available assets</a:t>
            </a:r>
          </a:p>
        </p:txBody>
      </p:sp>
      <p:sp>
        <p:nvSpPr>
          <p:cNvPr id="7" name="">
            <a:extLst xmlns:a="http://schemas.openxmlformats.org/drawingml/2006/main">
              <a:ext uri="{FF2B5EF4-FFF2-40B4-BE49-F238E27FC236}">
                <a16:creationId xmlns:a16="http://schemas.microsoft.com/office/drawing/2014/main" id="{464A9AD2-B567-452A-A7F7-9C1051EC5944}"/>
              </a:ext>
            </a:extLst>
          </p:cNvPr>
          <p:cNvSpPr>
            <a:spLocks xmlns:a="http://schemas.openxmlformats.org/drawingml/2006/main" noGrp="1"/>
          </p:cNvSpPr>
          <p:nvPr/>
        </p:nvSpPr>
        <p:spPr>
          <a:xfrm xmlns:a="http://schemas.openxmlformats.org/drawingml/2006/main">
            <a:off x="3409950" y="1704975"/>
            <a:ext cx="2343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4E7D61"/>
                </a:solidFill>
                <a:latin typeface="Calibri"/>
                <a:ea typeface="Calibri"/>
                <a:cs typeface="Calibri"/>
              </a:defRPr>
            </a:pPr>
            <a:r>
              <a:rPr sz="3150" b="1">
                <a:solidFill>
                  <a:srgbClr val="4E7D61"/>
                </a:solidFill>
                <a:latin typeface="Calibri"/>
                <a:ea typeface="Calibri"/>
                <a:cs typeface="Calibri"/>
              </a:rPr>
              <a:t>02</a:t>
            </a:r>
          </a:p>
        </p:txBody>
      </p:sp>
      <p:sp>
        <p:nvSpPr>
          <p:cNvPr id="8" name="">
            <a:extLst xmlns:a="http://schemas.openxmlformats.org/drawingml/2006/main">
              <a:ext uri="{FF2B5EF4-FFF2-40B4-BE49-F238E27FC236}">
                <a16:creationId xmlns:a16="http://schemas.microsoft.com/office/drawing/2014/main" id="{8C6149A4-16A0-4FD2-B008-92237C897053}"/>
              </a:ext>
            </a:extLst>
          </p:cNvPr>
          <p:cNvSpPr>
            <a:spLocks xmlns:a="http://schemas.openxmlformats.org/drawingml/2006/main" noGrp="1"/>
          </p:cNvSpPr>
          <p:nvPr/>
        </p:nvSpPr>
        <p:spPr>
          <a:xfrm xmlns:a="http://schemas.openxmlformats.org/drawingml/2006/main">
            <a:off x="3409950" y="2628900"/>
            <a:ext cx="2381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73B35"/>
                </a:solidFill>
                <a:latin typeface="Calibri"/>
                <a:ea typeface="Calibri"/>
                <a:cs typeface="Calibri"/>
              </a:defRPr>
            </a:pPr>
            <a:r>
              <a:rPr sz="2175" b="1">
                <a:solidFill>
                  <a:srgbClr val="073B35"/>
                </a:solidFill>
                <a:latin typeface="Calibri"/>
                <a:ea typeface="Calibri"/>
                <a:cs typeface="Calibri"/>
              </a:rPr>
              <a:t>Check the health</a:t>
            </a:r>
          </a:p>
        </p:txBody>
      </p:sp>
      <p:sp>
        <p:nvSpPr>
          <p:cNvPr id="9" name="">
            <a:extLst xmlns:a="http://schemas.openxmlformats.org/drawingml/2006/main">
              <a:ext uri="{FF2B5EF4-FFF2-40B4-BE49-F238E27FC236}">
                <a16:creationId xmlns:a16="http://schemas.microsoft.com/office/drawing/2014/main" id="{B1177BAD-BCA3-41CF-8DF1-E7839C52C48F}"/>
              </a:ext>
            </a:extLst>
          </p:cNvPr>
          <p:cNvSpPr>
            <a:spLocks xmlns:a="http://schemas.openxmlformats.org/drawingml/2006/main" noGrp="1"/>
          </p:cNvSpPr>
          <p:nvPr/>
        </p:nvSpPr>
        <p:spPr>
          <a:xfrm xmlns:a="http://schemas.openxmlformats.org/drawingml/2006/main">
            <a:off x="3409950" y="3695700"/>
            <a:ext cx="23907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073B35"/>
                </a:solidFill>
                <a:latin typeface="Calibri"/>
                <a:ea typeface="Calibri"/>
                <a:cs typeface="Calibri"/>
              </a:defRPr>
            </a:pPr>
            <a:r>
              <a:rPr sz="1800" b="0">
                <a:solidFill>
                  <a:srgbClr val="073B35"/>
                </a:solidFill>
                <a:latin typeface="Calibri"/>
                <a:ea typeface="Calibri"/>
                <a:cs typeface="Calibri"/>
              </a:rPr>
              <a:t>Trust, drift and forecast age</a:t>
            </a:r>
          </a:p>
          <a:p xmlns:a="http://schemas.openxmlformats.org/drawingml/2006/main">
            <a:pPr>
              <a:defRPr sz="1800" b="0">
                <a:solidFill>
                  <a:srgbClr val="073B35"/>
                </a:solidFill>
                <a:latin typeface="Calibri"/>
                <a:ea typeface="Calibri"/>
                <a:cs typeface="Calibri"/>
              </a:defRPr>
            </a:pPr>
            <a:r>
              <a:rPr sz="1800" b="0">
                <a:solidFill>
                  <a:srgbClr val="073B35"/>
                </a:solidFill>
                <a:latin typeface="Calibri"/>
                <a:ea typeface="Calibri"/>
                <a:cs typeface="Calibri"/>
              </a:rPr>
              <a:t>Fallback when data fail</a:t>
            </a:r>
          </a:p>
        </p:txBody>
      </p:sp>
      <p:sp>
        <p:nvSpPr>
          <p:cNvPr id="10" name="">
            <a:extLst xmlns:a="http://schemas.openxmlformats.org/drawingml/2006/main">
              <a:ext uri="{FF2B5EF4-FFF2-40B4-BE49-F238E27FC236}">
                <a16:creationId xmlns:a16="http://schemas.microsoft.com/office/drawing/2014/main" id="{601746CA-95E9-423E-990F-DC14A06F26AC}"/>
              </a:ext>
            </a:extLst>
          </p:cNvPr>
          <p:cNvSpPr>
            <a:spLocks xmlns:a="http://schemas.openxmlformats.org/drawingml/2006/main" noGrp="1"/>
          </p:cNvSpPr>
          <p:nvPr/>
        </p:nvSpPr>
        <p:spPr>
          <a:xfrm xmlns:a="http://schemas.openxmlformats.org/drawingml/2006/main">
            <a:off x="6210300" y="1704975"/>
            <a:ext cx="2343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4E7D61"/>
                </a:solidFill>
                <a:latin typeface="Calibri"/>
                <a:ea typeface="Calibri"/>
                <a:cs typeface="Calibri"/>
              </a:defRPr>
            </a:pPr>
            <a:r>
              <a:rPr sz="3150" b="1">
                <a:solidFill>
                  <a:srgbClr val="4E7D61"/>
                </a:solidFill>
                <a:latin typeface="Calibri"/>
                <a:ea typeface="Calibri"/>
                <a:cs typeface="Calibri"/>
              </a:rPr>
              <a:t>03</a:t>
            </a:r>
          </a:p>
        </p:txBody>
      </p:sp>
      <p:sp>
        <p:nvSpPr>
          <p:cNvPr id="11" name="">
            <a:extLst xmlns:a="http://schemas.openxmlformats.org/drawingml/2006/main">
              <a:ext uri="{FF2B5EF4-FFF2-40B4-BE49-F238E27FC236}">
                <a16:creationId xmlns:a16="http://schemas.microsoft.com/office/drawing/2014/main" id="{683294B6-3DEA-424F-BB8E-4AA0FE55683B}"/>
              </a:ext>
            </a:extLst>
          </p:cNvPr>
          <p:cNvSpPr>
            <a:spLocks xmlns:a="http://schemas.openxmlformats.org/drawingml/2006/main" noGrp="1"/>
          </p:cNvSpPr>
          <p:nvPr/>
        </p:nvSpPr>
        <p:spPr>
          <a:xfrm xmlns:a="http://schemas.openxmlformats.org/drawingml/2006/main">
            <a:off x="6210300" y="2628900"/>
            <a:ext cx="2381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73B35"/>
                </a:solidFill>
                <a:latin typeface="Calibri"/>
                <a:ea typeface="Calibri"/>
                <a:cs typeface="Calibri"/>
              </a:defRPr>
            </a:pPr>
            <a:r>
              <a:rPr sz="2175" b="1">
                <a:solidFill>
                  <a:srgbClr val="073B35"/>
                </a:solidFill>
                <a:latin typeface="Calibri"/>
                <a:ea typeface="Calibri"/>
                <a:cs typeface="Calibri"/>
              </a:rPr>
              <a:t>Review the reserve</a:t>
            </a:r>
          </a:p>
        </p:txBody>
      </p:sp>
      <p:sp>
        <p:nvSpPr>
          <p:cNvPr id="12" name="">
            <a:extLst xmlns:a="http://schemas.openxmlformats.org/drawingml/2006/main">
              <a:ext uri="{FF2B5EF4-FFF2-40B4-BE49-F238E27FC236}">
                <a16:creationId xmlns:a16="http://schemas.microsoft.com/office/drawing/2014/main" id="{68BE66C5-9F07-4623-B79E-610AD5D25AF2}"/>
              </a:ext>
            </a:extLst>
          </p:cNvPr>
          <p:cNvSpPr>
            <a:spLocks xmlns:a="http://schemas.openxmlformats.org/drawingml/2006/main" noGrp="1"/>
          </p:cNvSpPr>
          <p:nvPr/>
        </p:nvSpPr>
        <p:spPr>
          <a:xfrm xmlns:a="http://schemas.openxmlformats.org/drawingml/2006/main">
            <a:off x="6210300" y="3695700"/>
            <a:ext cx="23907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073B35"/>
                </a:solidFill>
                <a:latin typeface="Calibri"/>
                <a:ea typeface="Calibri"/>
                <a:cs typeface="Calibri"/>
              </a:defRPr>
            </a:pPr>
            <a:r>
              <a:rPr sz="1800" b="0">
                <a:solidFill>
                  <a:srgbClr val="073B35"/>
                </a:solidFill>
                <a:latin typeface="Calibri"/>
                <a:ea typeface="Calibri"/>
                <a:cs typeface="Calibri"/>
              </a:rPr>
              <a:t>Expected gap + uncertainty</a:t>
            </a:r>
          </a:p>
          <a:p xmlns:a="http://schemas.openxmlformats.org/drawingml/2006/main">
            <a:pPr>
              <a:defRPr sz="1800" b="0">
                <a:solidFill>
                  <a:srgbClr val="073B35"/>
                </a:solidFill>
                <a:latin typeface="Calibri"/>
                <a:ea typeface="Calibri"/>
                <a:cs typeface="Calibri"/>
              </a:defRPr>
            </a:pPr>
            <a:r>
              <a:rPr sz="1800" b="0">
                <a:solidFill>
                  <a:srgbClr val="073B35"/>
                </a:solidFill>
                <a:latin typeface="Calibri"/>
                <a:ea typeface="Calibri"/>
                <a:cs typeface="Calibri"/>
              </a:rPr>
              <a:t>Power and energy limits</a:t>
            </a:r>
          </a:p>
        </p:txBody>
      </p:sp>
      <p:sp>
        <p:nvSpPr>
          <p:cNvPr id="13" name="">
            <a:extLst xmlns:a="http://schemas.openxmlformats.org/drawingml/2006/main">
              <a:ext uri="{FF2B5EF4-FFF2-40B4-BE49-F238E27FC236}">
                <a16:creationId xmlns:a16="http://schemas.microsoft.com/office/drawing/2014/main" id="{33120F6A-6C0C-4F3D-834C-545A69F1C524}"/>
              </a:ext>
            </a:extLst>
          </p:cNvPr>
          <p:cNvSpPr>
            <a:spLocks xmlns:a="http://schemas.openxmlformats.org/drawingml/2006/main" noGrp="1"/>
          </p:cNvSpPr>
          <p:nvPr/>
        </p:nvSpPr>
        <p:spPr>
          <a:xfrm xmlns:a="http://schemas.openxmlformats.org/drawingml/2006/main">
            <a:off x="9010650" y="1704975"/>
            <a:ext cx="234315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4E7D61"/>
                </a:solidFill>
                <a:latin typeface="Calibri"/>
                <a:ea typeface="Calibri"/>
                <a:cs typeface="Calibri"/>
              </a:defRPr>
            </a:pPr>
            <a:r>
              <a:rPr sz="3150" b="1">
                <a:solidFill>
                  <a:srgbClr val="4E7D61"/>
                </a:solidFill>
                <a:latin typeface="Calibri"/>
                <a:ea typeface="Calibri"/>
                <a:cs typeface="Calibri"/>
              </a:rPr>
              <a:t>04</a:t>
            </a:r>
          </a:p>
        </p:txBody>
      </p:sp>
      <p:sp>
        <p:nvSpPr>
          <p:cNvPr id="14" name="">
            <a:extLst xmlns:a="http://schemas.openxmlformats.org/drawingml/2006/main">
              <a:ext uri="{FF2B5EF4-FFF2-40B4-BE49-F238E27FC236}">
                <a16:creationId xmlns:a16="http://schemas.microsoft.com/office/drawing/2014/main" id="{FAFF32C7-4C60-4DE8-8D08-DCF01B2E070D}"/>
              </a:ext>
            </a:extLst>
          </p:cNvPr>
          <p:cNvSpPr>
            <a:spLocks xmlns:a="http://schemas.openxmlformats.org/drawingml/2006/main" noGrp="1"/>
          </p:cNvSpPr>
          <p:nvPr/>
        </p:nvSpPr>
        <p:spPr>
          <a:xfrm xmlns:a="http://schemas.openxmlformats.org/drawingml/2006/main">
            <a:off x="9010650" y="2628900"/>
            <a:ext cx="23812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73B35"/>
                </a:solidFill>
                <a:latin typeface="Calibri"/>
                <a:ea typeface="Calibri"/>
                <a:cs typeface="Calibri"/>
              </a:defRPr>
            </a:pPr>
            <a:r>
              <a:rPr sz="2175" b="1">
                <a:solidFill>
                  <a:srgbClr val="073B35"/>
                </a:solidFill>
                <a:latin typeface="Calibri"/>
                <a:ea typeface="Calibri"/>
                <a:cs typeface="Calibri"/>
              </a:rPr>
              <a:t>Act with oversight</a:t>
            </a:r>
          </a:p>
        </p:txBody>
      </p:sp>
      <p:sp>
        <p:nvSpPr>
          <p:cNvPr id="15" name="">
            <a:extLst xmlns:a="http://schemas.openxmlformats.org/drawingml/2006/main">
              <a:ext uri="{FF2B5EF4-FFF2-40B4-BE49-F238E27FC236}">
                <a16:creationId xmlns:a16="http://schemas.microsoft.com/office/drawing/2014/main" id="{96924717-53A2-45A8-8BC5-4835F7F04140}"/>
              </a:ext>
            </a:extLst>
          </p:cNvPr>
          <p:cNvSpPr>
            <a:spLocks xmlns:a="http://schemas.openxmlformats.org/drawingml/2006/main" noGrp="1"/>
          </p:cNvSpPr>
          <p:nvPr/>
        </p:nvSpPr>
        <p:spPr>
          <a:xfrm xmlns:a="http://schemas.openxmlformats.org/drawingml/2006/main">
            <a:off x="9010650" y="3695700"/>
            <a:ext cx="23907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073B35"/>
                </a:solidFill>
                <a:latin typeface="Calibri"/>
                <a:ea typeface="Calibri"/>
                <a:cs typeface="Calibri"/>
              </a:defRPr>
            </a:pPr>
            <a:r>
              <a:rPr sz="1800" b="0">
                <a:solidFill>
                  <a:srgbClr val="073B35"/>
                </a:solidFill>
                <a:latin typeface="Calibri"/>
                <a:ea typeface="Calibri"/>
                <a:cs typeface="Calibri"/>
              </a:rPr>
              <a:t>Approve feasible advice</a:t>
            </a:r>
          </a:p>
          <a:p xmlns:a="http://schemas.openxmlformats.org/drawingml/2006/main">
            <a:pPr>
              <a:defRPr sz="1800" b="0">
                <a:solidFill>
                  <a:srgbClr val="073B35"/>
                </a:solidFill>
                <a:latin typeface="Calibri"/>
                <a:ea typeface="Calibri"/>
                <a:cs typeface="Calibri"/>
              </a:defRPr>
            </a:pPr>
            <a:r>
              <a:rPr sz="1800" b="0">
                <a:solidFill>
                  <a:srgbClr val="073B35"/>
                </a:solidFill>
                <a:latin typeface="Calibri"/>
                <a:ea typeface="Calibri"/>
                <a:cs typeface="Calibri"/>
              </a:rPr>
              <a:t>Escalate uncovered demand</a:t>
            </a:r>
          </a:p>
        </p:txBody>
      </p:sp>
      <p:sp>
        <p:nvSpPr>
          <p:cNvPr id="16" name="">
            <a:extLst xmlns:a="http://schemas.openxmlformats.org/drawingml/2006/main">
              <a:ext uri="{FF2B5EF4-FFF2-40B4-BE49-F238E27FC236}">
                <a16:creationId xmlns:a16="http://schemas.microsoft.com/office/drawing/2014/main" id="{5D1365D3-AFB8-452B-ADC9-42A19E63EDC8}"/>
              </a:ext>
            </a:extLst>
          </p:cNvPr>
          <p:cNvSpPr>
            <a:spLocks xmlns:a="http://schemas.openxmlformats.org/drawingml/2006/main" noGrp="1"/>
          </p:cNvSpPr>
          <p:nvPr/>
        </p:nvSpPr>
        <p:spPr>
          <a:xfrm xmlns:a="http://schemas.openxmlformats.org/drawingml/2006/main">
            <a:off x="609600" y="5305425"/>
            <a:ext cx="10953750" cy="0"/>
          </a:xfrm>
          <a:prstGeom xmlns:a="http://schemas.openxmlformats.org/drawingml/2006/main" prst="line">
            <a:avLst/>
          </a:prstGeom>
          <a:ln xmlns:a="http://schemas.openxmlformats.org/drawingml/2006/main" w="19050">
            <a:solidFill>
              <a:srgbClr val="CBD8CF"/>
            </a:solidFill>
          </a:ln>
        </p:spPr>
      </p:sp>
      <p:sp>
        <p:nvSpPr>
          <p:cNvPr id="17" name="">
            <a:extLst xmlns:a="http://schemas.openxmlformats.org/drawingml/2006/main">
              <a:ext uri="{FF2B5EF4-FFF2-40B4-BE49-F238E27FC236}">
                <a16:creationId xmlns:a16="http://schemas.microsoft.com/office/drawing/2014/main" id="{486ED1B9-EF29-49DC-8866-4B387E5BA5AC}"/>
              </a:ext>
            </a:extLst>
          </p:cNvPr>
          <p:cNvSpPr>
            <a:spLocks xmlns:a="http://schemas.openxmlformats.org/drawingml/2006/main" noGrp="1"/>
          </p:cNvSpPr>
          <p:nvPr/>
        </p:nvSpPr>
        <p:spPr>
          <a:xfrm xmlns:a="http://schemas.openxmlformats.org/drawingml/2006/main">
            <a:off x="609600" y="5553075"/>
            <a:ext cx="109156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073B35"/>
                </a:solidFill>
                <a:latin typeface="Calibri"/>
                <a:ea typeface="Calibri"/>
                <a:cs typeface="Calibri"/>
              </a:defRPr>
            </a:pPr>
            <a:r>
              <a:rPr sz="2175" b="1">
                <a:solidFill>
                  <a:srgbClr val="073B35"/>
                </a:solidFill>
                <a:latin typeface="Calibri"/>
                <a:ea typeface="Calibri"/>
                <a:cs typeface="Calibri"/>
              </a:rPr>
              <a:t>A recommendation includes its fallback reason and any capacity warning</a:t>
            </a:r>
          </a:p>
        </p:txBody>
      </p:sp>
      <p:sp>
        <p:nvSpPr>
          <p:cNvPr id="18" name="">
            <a:extLst xmlns:a="http://schemas.openxmlformats.org/drawingml/2006/main">
              <a:ext uri="{FF2B5EF4-FFF2-40B4-BE49-F238E27FC236}">
                <a16:creationId xmlns:a16="http://schemas.microsoft.com/office/drawing/2014/main" id="{18BB79BD-6A47-4AE0-A459-AD47BE755436}"/>
              </a:ext>
            </a:extLst>
          </p:cNvPr>
          <p:cNvSpPr>
            <a:spLocks xmlns:a="http://schemas.openxmlformats.org/drawingml/2006/main" noGrp="1"/>
          </p:cNvSpPr>
          <p:nvPr/>
        </p:nvSpPr>
        <p:spPr>
          <a:xfrm xmlns:a="http://schemas.openxmlformats.org/drawingml/2006/main">
            <a:off x="609600" y="6143625"/>
            <a:ext cx="1091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8716A"/>
                </a:solidFill>
                <a:latin typeface="Calibri"/>
                <a:ea typeface="Calibri"/>
                <a:cs typeface="Calibri"/>
              </a:defRPr>
            </a:pPr>
            <a:r>
              <a:rPr sz="1425" b="0">
                <a:solidFill>
                  <a:srgbClr val="58716A"/>
                </a:solidFill>
                <a:latin typeface="Calibri"/>
                <a:ea typeface="Calibri"/>
                <a:cs typeface="Calibri"/>
              </a:rPr>
              <a:t>Simulation: real weather, modelled PV, synthetic demand and assumed asset limits</a:t>
            </a:r>
          </a:p>
        </p:txBody>
      </p:sp>
    </p:spTree>
    <p:extLst>
      <p:ext uri="{BB962C8B-B14F-4D97-AF65-F5344CB8AC3E}">
        <p14:creationId xmlns:p14="http://schemas.microsoft.com/office/powerpoint/2010/main" val="1159082334"/>
      </p:ext>
    </p:extLst>
  </p:cSld>
</p:sld>
</file>

<file path=ppt/slides/slide3.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FE30CA-C04F-4D79-BD6E-F951ADF0BD0E}"/>
              </a:ext>
            </a:extLst>
          </p:cNvPr>
          <p:cNvSpPr>
            <a:spLocks xmlns:a="http://schemas.openxmlformats.org/drawingml/2006/main" noGrp="1"/>
          </p:cNvSpPr>
          <p:nvPr/>
        </p:nvSpPr>
        <p:spPr>
          <a:xfrm xmlns:a="http://schemas.openxmlformats.org/drawingml/2006/main">
            <a:off x="590550" y="466725"/>
            <a:ext cx="110109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73B35"/>
                </a:solidFill>
                <a:latin typeface="Calibri"/>
                <a:ea typeface="Calibri"/>
                <a:cs typeface="Calibri"/>
              </a:defRPr>
            </a:pPr>
            <a:r>
              <a:rPr sz="3150" b="1">
                <a:solidFill>
                  <a:srgbClr val="073B35"/>
                </a:solidFill>
                <a:latin typeface="Calibri"/>
                <a:ea typeface="Calibri"/>
                <a:cs typeface="Calibri"/>
              </a:rPr>
              <a:t>Local learning and one reserve node</a:t>
            </a:r>
          </a:p>
        </p:txBody>
      </p:sp>
      <p:sp>
        <p:nvSpPr>
          <p:cNvPr id="2" name="">
            <a:extLst xmlns:a="http://schemas.openxmlformats.org/drawingml/2006/main">
              <a:ext uri="{FF2B5EF4-FFF2-40B4-BE49-F238E27FC236}">
                <a16:creationId xmlns:a16="http://schemas.microsoft.com/office/drawing/2014/main" id="{BAC7DCCC-610D-427C-9FA1-5FBB9F06FBFC}"/>
              </a:ext>
            </a:extLst>
          </p:cNvPr>
          <p:cNvSpPr>
            <a:spLocks xmlns:a="http://schemas.openxmlformats.org/drawingml/2006/main" noGrp="1"/>
          </p:cNvSpPr>
          <p:nvPr/>
        </p:nvSpPr>
        <p:spPr>
          <a:xfrm xmlns:a="http://schemas.openxmlformats.org/drawingml/2006/main">
            <a:off x="609600" y="64674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8716A"/>
                </a:solidFill>
                <a:latin typeface="Calibri"/>
                <a:ea typeface="Calibri"/>
                <a:cs typeface="Calibri"/>
              </a:defRPr>
            </a:pPr>
            <a:r>
              <a:rPr sz="975" b="0">
                <a:solidFill>
                  <a:srgbClr val="58716A"/>
                </a:solidFill>
                <a:latin typeface="Calibri"/>
                <a:ea typeface="Calibri"/>
                <a:cs typeface="Calibri"/>
              </a:rPr>
              <a:t>GRIDMESH  /  TEAM BP</a:t>
            </a:r>
          </a:p>
        </p:txBody>
      </p:sp>
      <p:sp>
        <p:nvSpPr>
          <p:cNvPr id="3" name="">
            <a:extLst xmlns:a="http://schemas.openxmlformats.org/drawingml/2006/main">
              <a:ext uri="{FF2B5EF4-FFF2-40B4-BE49-F238E27FC236}">
                <a16:creationId xmlns:a16="http://schemas.microsoft.com/office/drawing/2014/main" id="{15C86AEC-D166-4ACA-B1FB-ACEC25A332F4}"/>
              </a:ext>
            </a:extLst>
          </p:cNvPr>
          <p:cNvSpPr>
            <a:spLocks xmlns:a="http://schemas.openxmlformats.org/drawingml/2006/main" noGrp="1"/>
          </p:cNvSpPr>
          <p:nvPr/>
        </p:nvSpPr>
        <p:spPr>
          <a:xfrm xmlns:a="http://schemas.openxmlformats.org/drawingml/2006/main">
            <a:off x="11144250" y="64293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8716A"/>
                </a:solidFill>
                <a:latin typeface="Calibri"/>
                <a:ea typeface="Calibri"/>
                <a:cs typeface="Calibri"/>
              </a:defRPr>
            </a:pPr>
            <a:r>
              <a:rPr sz="1200" b="0">
                <a:solidFill>
                  <a:srgbClr val="58716A"/>
                </a:solidFill>
                <a:latin typeface="Calibri"/>
                <a:ea typeface="Calibri"/>
                <a:cs typeface="Calibri"/>
              </a:rPr>
              <a:t>03</a:t>
            </a:r>
          </a:p>
        </p:txBody>
      </p:sp>
      <p:sp>
        <p:nvSpPr>
          <p:cNvPr id="4" name="">
            <a:extLst xmlns:a="http://schemas.openxmlformats.org/drawingml/2006/main">
              <a:ext uri="{FF2B5EF4-FFF2-40B4-BE49-F238E27FC236}">
                <a16:creationId xmlns:a16="http://schemas.microsoft.com/office/drawing/2014/main" id="{3C7D4FF4-C03B-4686-B89B-B36ECCDA0F0A}"/>
              </a:ext>
            </a:extLst>
          </p:cNvPr>
          <p:cNvSpPr>
            <a:spLocks xmlns:a="http://schemas.openxmlformats.org/drawingml/2006/main" noGrp="1"/>
          </p:cNvSpPr>
          <p:nvPr/>
        </p:nvSpPr>
        <p:spPr>
          <a:xfrm xmlns:a="http://schemas.openxmlformats.org/drawingml/2006/main">
            <a:off x="609600" y="1533525"/>
            <a:ext cx="10963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8716A"/>
                </a:solidFill>
                <a:latin typeface="Calibri"/>
                <a:ea typeface="Calibri"/>
                <a:cs typeface="Calibri"/>
              </a:defRPr>
            </a:pPr>
            <a:r>
              <a:rPr sz="1800" b="0">
                <a:solidFill>
                  <a:srgbClr val="58716A"/>
                </a:solidFill>
                <a:latin typeface="Calibri"/>
                <a:ea typeface="Calibri"/>
                <a:cs typeface="Calibri"/>
              </a:rPr>
              <a:t>Forecasting and collaboration: about 75% of the technical scope</a:t>
            </a:r>
          </a:p>
        </p:txBody>
      </p:sp>
      <p:graphicFrame>
        <p:nvGraphicFramePr>
          <p:cNvPr id="12" name=""/>
          <p:cNvGraphicFramePr/>
          <p:nvPr/>
        </p:nvGraphicFramePr>
        <p:xfrm>
          <a:off xmlns:a="http://schemas.openxmlformats.org/drawingml/2006/main" x="609600" y="2133600"/>
          <a:ext xmlns:a="http://schemas.openxmlformats.org/drawingml/2006/main" cx="10953750" cy="3143250"/>
        </p:xfrm>
        <a:graphic xmlns:a="http://schemas.openxmlformats.org/drawingml/2006/main">
          <a:graphicData uri="http://schemas.openxmlformats.org/drawingml/2006/table">
            <a:tbl>
              <a:tblPr/>
              <a:tblGrid>
                <a:gridCol w="2476500"/>
                <a:gridCol w="5191125"/>
                <a:gridCol w="3286125"/>
              </a:tblGrid>
              <a:tr h="628650">
                <a:tc>
                  <a:txBody>
                    <a:bodyPr/>
                    <a:lstStyle/>
                    <a:p>
                      <a:r>
                        <a:rPr sz="1725" b="1">
                          <a:solidFill>
                            <a:srgbClr val="FFFFFF"/>
                          </a:solidFill>
                          <a:latin typeface="Calibri"/>
                          <a:ea typeface="Calibri"/>
                          <a:cs typeface="Calibri"/>
                        </a:rPr>
                        <a:t>Layer</a:t>
                      </a:r>
                    </a:p>
                  </a:txBody>
                  <a:tcPr marL="91440" marR="91440" marT="45720" marB="45720">
                    <a:solidFill>
                      <a:srgbClr val="073B35"/>
                    </a:solidFill>
                  </a:tcPr>
                </a:tc>
                <a:tc>
                  <a:txBody>
                    <a:bodyPr/>
                    <a:lstStyle/>
                    <a:p>
                      <a:r>
                        <a:rPr sz="1725" b="1">
                          <a:solidFill>
                            <a:srgbClr val="FFFFFF"/>
                          </a:solidFill>
                          <a:latin typeface="Calibri"/>
                          <a:ea typeface="Calibri"/>
                          <a:cs typeface="Calibri"/>
                        </a:rPr>
                        <a:t>Retained or exchanged</a:t>
                      </a:r>
                    </a:p>
                  </a:txBody>
                  <a:tcPr marL="91440" marR="91440" marT="45720" marB="45720">
                    <a:solidFill>
                      <a:srgbClr val="073B35"/>
                    </a:solidFill>
                  </a:tcPr>
                </a:tc>
                <a:tc>
                  <a:txBody>
                    <a:bodyPr/>
                    <a:lstStyle/>
                    <a:p>
                      <a:r>
                        <a:rPr sz="1725" b="1">
                          <a:solidFill>
                            <a:srgbClr val="FFFFFF"/>
                          </a:solidFill>
                          <a:latin typeface="Calibri"/>
                          <a:ea typeface="Calibri"/>
                          <a:cs typeface="Calibri"/>
                        </a:rPr>
                        <a:t>Role</a:t>
                      </a:r>
                    </a:p>
                  </a:txBody>
                  <a:tcPr marL="91440" marR="91440" marT="45720" marB="45720">
                    <a:solidFill>
                      <a:srgbClr val="073B35"/>
                    </a:solidFill>
                  </a:tcPr>
                </a:tc>
              </a:tr>
              <a:tr h="628650">
                <a:tc>
                  <a:txBody>
                    <a:bodyPr/>
                    <a:lstStyle/>
                    <a:p>
                      <a:r>
                        <a:rPr sz="1725" b="0">
                          <a:solidFill>
                            <a:srgbClr val="073B35"/>
                          </a:solidFill>
                          <a:latin typeface="Calibri"/>
                          <a:ea typeface="Calibri"/>
                          <a:cs typeface="Calibri"/>
                        </a:rPr>
                        <a:t>Solar site</a:t>
                      </a:r>
                    </a:p>
                  </a:txBody>
                  <a:tcPr marL="91440" marR="91440" marT="45720" marB="45720">
                    <a:solidFill>
                      <a:srgbClr val="FFFFFF"/>
                    </a:solidFill>
                  </a:tcPr>
                </a:tc>
                <a:tc>
                  <a:txBody>
                    <a:bodyPr/>
                    <a:lstStyle/>
                    <a:p>
                      <a:r>
                        <a:rPr sz="1725" b="0">
                          <a:solidFill>
                            <a:srgbClr val="073B35"/>
                          </a:solidFill>
                          <a:latin typeface="Calibri"/>
                          <a:ea typeface="Calibri"/>
                          <a:cs typeface="Calibri"/>
                        </a:rPr>
                        <a:t>Local history, neural model, sensor health</a:t>
                      </a:r>
                    </a:p>
                  </a:txBody>
                  <a:tcPr marL="91440" marR="91440" marT="45720" marB="45720">
                    <a:solidFill>
                      <a:srgbClr val="FFFFFF"/>
                    </a:solidFill>
                  </a:tcPr>
                </a:tc>
                <a:tc>
                  <a:txBody>
                    <a:bodyPr/>
                    <a:lstStyle/>
                    <a:p>
                      <a:r>
                        <a:rPr sz="1725" b="0">
                          <a:solidFill>
                            <a:srgbClr val="073B35"/>
                          </a:solidFill>
                          <a:latin typeface="Calibri"/>
                          <a:ea typeface="Calibri"/>
                          <a:cs typeface="Calibri"/>
                        </a:rPr>
                        <a:t>Train and forecast</a:t>
                      </a:r>
                    </a:p>
                  </a:txBody>
                  <a:tcPr marL="91440" marR="91440" marT="45720" marB="45720">
                    <a:solidFill>
                      <a:srgbClr val="FFFFFF"/>
                    </a:solidFill>
                  </a:tcPr>
                </a:tc>
              </a:tr>
              <a:tr h="628650">
                <a:tc>
                  <a:txBody>
                    <a:bodyPr/>
                    <a:lstStyle/>
                    <a:p>
                      <a:r>
                        <a:rPr sz="1725" b="0">
                          <a:solidFill>
                            <a:srgbClr val="073B35"/>
                          </a:solidFill>
                          <a:latin typeface="Calibri"/>
                          <a:ea typeface="Calibri"/>
                          <a:cs typeface="Calibri"/>
                        </a:rPr>
                        <a:t>Neighbourhood / 25 sites</a:t>
                      </a:r>
                    </a:p>
                  </a:txBody>
                  <a:tcPr marL="91440" marR="91440" marT="45720" marB="45720">
                    <a:solidFill>
                      <a:srgbClr val="EBF0E7"/>
                    </a:solidFill>
                  </a:tcPr>
                </a:tc>
                <a:tc>
                  <a:txBody>
                    <a:bodyPr/>
                    <a:lstStyle/>
                    <a:p>
                      <a:r>
                        <a:rPr sz="1725" b="0">
                          <a:solidFill>
                            <a:srgbClr val="073B35"/>
                          </a:solidFill>
                          <a:latin typeface="Calibri"/>
                          <a:ea typeface="Calibri"/>
                          <a:cs typeface="Calibri"/>
                        </a:rPr>
                        <a:t>Trusted parameter summaries</a:t>
                      </a:r>
                    </a:p>
                  </a:txBody>
                  <a:tcPr marL="91440" marR="91440" marT="45720" marB="45720">
                    <a:solidFill>
                      <a:srgbClr val="EBF0E7"/>
                    </a:solidFill>
                  </a:tcPr>
                </a:tc>
                <a:tc>
                  <a:txBody>
                    <a:bodyPr/>
                    <a:lstStyle/>
                    <a:p>
                      <a:r>
                        <a:rPr sz="1725" b="0">
                          <a:solidFill>
                            <a:srgbClr val="073B35"/>
                          </a:solidFill>
                          <a:latin typeface="Calibri"/>
                          <a:ea typeface="Calibri"/>
                          <a:cs typeface="Calibri"/>
                        </a:rPr>
                        <a:t>Optional local aggregation</a:t>
                      </a:r>
                    </a:p>
                  </a:txBody>
                  <a:tcPr marL="91440" marR="91440" marT="45720" marB="45720">
                    <a:solidFill>
                      <a:srgbClr val="EBF0E7"/>
                    </a:solidFill>
                  </a:tcPr>
                </a:tc>
              </a:tr>
              <a:tr h="628650">
                <a:tc>
                  <a:txBody>
                    <a:bodyPr/>
                    <a:lstStyle/>
                    <a:p>
                      <a:r>
                        <a:rPr sz="1725" b="0">
                          <a:solidFill>
                            <a:srgbClr val="073B35"/>
                          </a:solidFill>
                          <a:latin typeface="Calibri"/>
                          <a:ea typeface="Calibri"/>
                          <a:cs typeface="Calibri"/>
                        </a:rPr>
                        <a:t>Feeder coordinator</a:t>
                      </a:r>
                    </a:p>
                  </a:txBody>
                  <a:tcPr marL="91440" marR="91440" marT="45720" marB="45720">
                    <a:solidFill>
                      <a:srgbClr val="FFFFFF"/>
                    </a:solidFill>
                  </a:tcPr>
                </a:tc>
                <a:tc>
                  <a:txBody>
                    <a:bodyPr/>
                    <a:lstStyle/>
                    <a:p>
                      <a:r>
                        <a:rPr sz="1725" b="0">
                          <a:solidFill>
                            <a:srgbClr val="073B35"/>
                          </a:solidFill>
                          <a:latin typeface="Calibri"/>
                          <a:ea typeface="Calibri"/>
                          <a:cs typeface="Calibri"/>
                        </a:rPr>
                        <a:t>Flat or neighbourhood updates</a:t>
                      </a:r>
                    </a:p>
                  </a:txBody>
                  <a:tcPr marL="91440" marR="91440" marT="45720" marB="45720">
                    <a:solidFill>
                      <a:srgbClr val="FFFFFF"/>
                    </a:solidFill>
                  </a:tcPr>
                </a:tc>
                <a:tc>
                  <a:txBody>
                    <a:bodyPr/>
                    <a:lstStyle/>
                    <a:p>
                      <a:r>
                        <a:rPr sz="1725" b="0">
                          <a:solidFill>
                            <a:srgbClr val="073B35"/>
                          </a:solidFill>
                          <a:latin typeface="Calibri"/>
                          <a:ea typeface="Calibri"/>
                          <a:cs typeface="Calibri"/>
                        </a:rPr>
                        <a:t>Validate shared model</a:t>
                      </a:r>
                    </a:p>
                  </a:txBody>
                  <a:tcPr marL="91440" marR="91440" marT="45720" marB="45720">
                    <a:solidFill>
                      <a:srgbClr val="FFFFFF"/>
                    </a:solidFill>
                  </a:tcPr>
                </a:tc>
              </a:tr>
              <a:tr h="628650">
                <a:tc>
                  <a:txBody>
                    <a:bodyPr/>
                    <a:lstStyle/>
                    <a:p>
                      <a:r>
                        <a:rPr sz="1725" b="0">
                          <a:solidFill>
                            <a:srgbClr val="073B35"/>
                          </a:solidFill>
                          <a:latin typeface="Calibri"/>
                          <a:ea typeface="Calibri"/>
                          <a:cs typeface="Calibri"/>
                        </a:rPr>
                        <a:t>One reserve advisor</a:t>
                      </a:r>
                    </a:p>
                  </a:txBody>
                  <a:tcPr marL="91440" marR="91440" marT="45720" marB="45720">
                    <a:solidFill>
                      <a:srgbClr val="EBF0E7"/>
                    </a:solidFill>
                  </a:tcPr>
                </a:tc>
                <a:tc>
                  <a:txBody>
                    <a:bodyPr/>
                    <a:lstStyle/>
                    <a:p>
                      <a:r>
                        <a:rPr sz="1725" b="0">
                          <a:solidFill>
                            <a:srgbClr val="073B35"/>
                          </a:solidFill>
                          <a:latin typeface="Calibri"/>
                          <a:ea typeface="Calibri"/>
                          <a:cs typeface="Calibri"/>
                        </a:rPr>
                        <a:t>Aggregate forecast, demand, resource limits</a:t>
                      </a:r>
                    </a:p>
                  </a:txBody>
                  <a:tcPr marL="91440" marR="91440" marT="45720" marB="45720">
                    <a:solidFill>
                      <a:srgbClr val="EBF0E7"/>
                    </a:solidFill>
                  </a:tcPr>
                </a:tc>
                <a:tc>
                  <a:txBody>
                    <a:bodyPr/>
                    <a:lstStyle/>
                    <a:p>
                      <a:r>
                        <a:rPr sz="1725" b="0">
                          <a:solidFill>
                            <a:srgbClr val="073B35"/>
                          </a:solidFill>
                          <a:latin typeface="Calibri"/>
                          <a:ea typeface="Calibri"/>
                          <a:cs typeface="Calibri"/>
                        </a:rPr>
                        <a:t>Schedule and warn</a:t>
                      </a:r>
                    </a:p>
                  </a:txBody>
                  <a:tcPr marL="91440" marR="91440" marT="45720" marB="45720">
                    <a:solidFill>
                      <a:srgbClr val="EBF0E7"/>
                    </a:solidFill>
                  </a:tcPr>
                </a:tc>
              </a:tr>
            </a:tbl>
          </a:graphicData>
        </a:graphic>
      </p:graphicFrame>
      <p:sp>
        <p:nvSpPr>
          <p:cNvPr id="6" name="">
            <a:extLst xmlns:a="http://schemas.openxmlformats.org/drawingml/2006/main">
              <a:ext uri="{FF2B5EF4-FFF2-40B4-BE49-F238E27FC236}">
                <a16:creationId xmlns:a16="http://schemas.microsoft.com/office/drawing/2014/main" id="{CAF04E59-C35F-4F6C-8389-0A2B962510EC}"/>
              </a:ext>
            </a:extLst>
          </p:cNvPr>
          <p:cNvSpPr>
            <a:spLocks xmlns:a="http://schemas.openxmlformats.org/drawingml/2006/main" noGrp="1"/>
          </p:cNvSpPr>
          <p:nvPr/>
        </p:nvSpPr>
        <p:spPr>
          <a:xfrm xmlns:a="http://schemas.openxmlformats.org/drawingml/2006/main">
            <a:off x="609600" y="5495925"/>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073B35"/>
                </a:solidFill>
                <a:latin typeface="Calibri"/>
                <a:ea typeface="Calibri"/>
                <a:cs typeface="Calibri"/>
              </a:defRPr>
            </a:pPr>
            <a:r>
              <a:rPr sz="2025" b="1">
                <a:solidFill>
                  <a:srgbClr val="073B35"/>
                </a:solidFill>
                <a:latin typeface="Calibri"/>
                <a:ea typeface="Calibri"/>
                <a:cs typeface="Calibri"/>
              </a:rPr>
              <a:t>Reserve evaluation: about 25%. The operator approves feasible advice.</a:t>
            </a:r>
          </a:p>
        </p:txBody>
      </p:sp>
      <p:sp>
        <p:nvSpPr>
          <p:cNvPr id="7" name="">
            <a:extLst xmlns:a="http://schemas.openxmlformats.org/drawingml/2006/main">
              <a:ext uri="{FF2B5EF4-FFF2-40B4-BE49-F238E27FC236}">
                <a16:creationId xmlns:a16="http://schemas.microsoft.com/office/drawing/2014/main" id="{BA6D8E77-7286-4F2F-B4BB-F643065244E3}"/>
              </a:ext>
            </a:extLst>
          </p:cNvPr>
          <p:cNvSpPr>
            <a:spLocks xmlns:a="http://schemas.openxmlformats.org/drawingml/2006/main" noGrp="1"/>
          </p:cNvSpPr>
          <p:nvPr/>
        </p:nvSpPr>
        <p:spPr>
          <a:xfrm xmlns:a="http://schemas.openxmlformats.org/drawingml/2006/main">
            <a:off x="609600" y="601980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8716A"/>
                </a:solidFill>
                <a:latin typeface="Calibri"/>
                <a:ea typeface="Calibri"/>
                <a:cs typeface="Calibri"/>
              </a:defRPr>
            </a:pPr>
            <a:r>
              <a:rPr sz="1350" b="0">
                <a:solidFill>
                  <a:srgbClr val="58716A"/>
                </a:solidFill>
                <a:latin typeface="Calibri"/>
                <a:ea typeface="Calibri"/>
                <a:cs typeface="Calibri"/>
              </a:rPr>
              <a:t>Energy serves local demand. Community service payments and asset funding remain separate.</a:t>
            </a:r>
          </a:p>
        </p:txBody>
      </p:sp>
    </p:spTree>
    <p:extLst>
      <p:ext uri="{BB962C8B-B14F-4D97-AF65-F5344CB8AC3E}">
        <p14:creationId xmlns:p14="http://schemas.microsoft.com/office/powerpoint/2010/main" val="581019165"/>
      </p:ext>
    </p:extLst>
  </p:cSld>
</p:sld>
</file>

<file path=ppt/slides/slide4.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D47BC45-D270-4911-A599-2C8025D3A161}"/>
              </a:ext>
            </a:extLst>
          </p:cNvPr>
          <p:cNvSpPr>
            <a:spLocks xmlns:a="http://schemas.openxmlformats.org/drawingml/2006/main" noGrp="1"/>
          </p:cNvSpPr>
          <p:nvPr/>
        </p:nvSpPr>
        <p:spPr>
          <a:xfrm xmlns:a="http://schemas.openxmlformats.org/drawingml/2006/main">
            <a:off x="590550" y="466725"/>
            <a:ext cx="110109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73B35"/>
                </a:solidFill>
                <a:latin typeface="Calibri"/>
                <a:ea typeface="Calibri"/>
                <a:cs typeface="Calibri"/>
              </a:defRPr>
            </a:pPr>
            <a:r>
              <a:rPr sz="3150" b="1">
                <a:solidFill>
                  <a:srgbClr val="073B35"/>
                </a:solidFill>
                <a:latin typeface="Calibri"/>
                <a:ea typeface="Calibri"/>
                <a:cs typeface="Calibri"/>
              </a:rPr>
              <a:t>Tree and neural model evidence</a:t>
            </a:r>
          </a:p>
        </p:txBody>
      </p:sp>
      <p:sp>
        <p:nvSpPr>
          <p:cNvPr id="2" name="">
            <a:extLst xmlns:a="http://schemas.openxmlformats.org/drawingml/2006/main">
              <a:ext uri="{FF2B5EF4-FFF2-40B4-BE49-F238E27FC236}">
                <a16:creationId xmlns:a16="http://schemas.microsoft.com/office/drawing/2014/main" id="{B09549C0-5CD1-4B7C-83B5-8D46342E8BD3}"/>
              </a:ext>
            </a:extLst>
          </p:cNvPr>
          <p:cNvSpPr>
            <a:spLocks xmlns:a="http://schemas.openxmlformats.org/drawingml/2006/main" noGrp="1"/>
          </p:cNvSpPr>
          <p:nvPr/>
        </p:nvSpPr>
        <p:spPr>
          <a:xfrm xmlns:a="http://schemas.openxmlformats.org/drawingml/2006/main">
            <a:off x="609600" y="64674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8716A"/>
                </a:solidFill>
                <a:latin typeface="Calibri"/>
                <a:ea typeface="Calibri"/>
                <a:cs typeface="Calibri"/>
              </a:defRPr>
            </a:pPr>
            <a:r>
              <a:rPr sz="975" b="0">
                <a:solidFill>
                  <a:srgbClr val="58716A"/>
                </a:solidFill>
                <a:latin typeface="Calibri"/>
                <a:ea typeface="Calibri"/>
                <a:cs typeface="Calibri"/>
              </a:rPr>
              <a:t>GRIDMESH  /  TEAM BP</a:t>
            </a:r>
          </a:p>
        </p:txBody>
      </p:sp>
      <p:sp>
        <p:nvSpPr>
          <p:cNvPr id="3" name="">
            <a:extLst xmlns:a="http://schemas.openxmlformats.org/drawingml/2006/main">
              <a:ext uri="{FF2B5EF4-FFF2-40B4-BE49-F238E27FC236}">
                <a16:creationId xmlns:a16="http://schemas.microsoft.com/office/drawing/2014/main" id="{ED21EB2C-3689-4DBE-AAE9-648D15A4DCBD}"/>
              </a:ext>
            </a:extLst>
          </p:cNvPr>
          <p:cNvSpPr>
            <a:spLocks xmlns:a="http://schemas.openxmlformats.org/drawingml/2006/main" noGrp="1"/>
          </p:cNvSpPr>
          <p:nvPr/>
        </p:nvSpPr>
        <p:spPr>
          <a:xfrm xmlns:a="http://schemas.openxmlformats.org/drawingml/2006/main">
            <a:off x="11144250" y="64293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8716A"/>
                </a:solidFill>
                <a:latin typeface="Calibri"/>
                <a:ea typeface="Calibri"/>
                <a:cs typeface="Calibri"/>
              </a:defRPr>
            </a:pPr>
            <a:r>
              <a:rPr sz="1200" b="0">
                <a:solidFill>
                  <a:srgbClr val="58716A"/>
                </a:solidFill>
                <a:latin typeface="Calibri"/>
                <a:ea typeface="Calibri"/>
                <a:cs typeface="Calibri"/>
              </a:rPr>
              <a:t>04</a:t>
            </a:r>
          </a:p>
        </p:txBody>
      </p:sp>
      <p:graphicFrame>
        <p:nvGraphicFramePr>
          <p:cNvPr id="13" name="Chart"/>
          <p:cNvGraphicFramePr/>
          <p:nvPr/>
        </p:nvGraphicFramePr>
        <p:xfrm>
          <a:off xmlns:a="http://schemas.openxmlformats.org/drawingml/2006/main" x="590550" y="1962150"/>
          <a:ext xmlns:a="http://schemas.openxmlformats.org/drawingml/2006/main" cx="7153275" cy="3286125"/>
        </p:xfrm>
        <a:graphic xmlns:a="http://schemas.openxmlformats.org/drawingml/2006/main">
          <a:graphicData uri="http://schemas.openxmlformats.org/drawingml/2006/chart">
            <c:chart xmlns:r="http://schemas.openxmlformats.org/officeDocument/2006/relationships" xmlns:c="http://schemas.openxmlformats.org/drawingml/2006/chart" r:id="R3d51ef4e7d784a71"/>
          </a:graphicData>
        </a:graphic>
      </p:graphicFrame>
      <p:sp>
        <p:nvSpPr>
          <p:cNvPr id="5" name="">
            <a:extLst xmlns:a="http://schemas.openxmlformats.org/drawingml/2006/main">
              <a:ext uri="{FF2B5EF4-FFF2-40B4-BE49-F238E27FC236}">
                <a16:creationId xmlns:a16="http://schemas.microsoft.com/office/drawing/2014/main" id="{4F48E36D-1074-4C0D-8BEC-183BB23E88DD}"/>
              </a:ext>
            </a:extLst>
          </p:cNvPr>
          <p:cNvSpPr>
            <a:spLocks xmlns:a="http://schemas.openxmlformats.org/drawingml/2006/main" noGrp="1"/>
          </p:cNvSpPr>
          <p:nvPr/>
        </p:nvSpPr>
        <p:spPr>
          <a:xfrm xmlns:a="http://schemas.openxmlformats.org/drawingml/2006/main">
            <a:off x="8429625" y="2038350"/>
            <a:ext cx="315277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75" b="1">
                <a:solidFill>
                  <a:srgbClr val="073B35"/>
                </a:solidFill>
                <a:latin typeface="Calibri"/>
                <a:ea typeface="Calibri"/>
                <a:cs typeface="Calibri"/>
              </a:defRPr>
            </a:pPr>
            <a:r>
              <a:rPr sz="3975" b="1">
                <a:solidFill>
                  <a:srgbClr val="073B35"/>
                </a:solidFill>
                <a:latin typeface="Calibri"/>
                <a:ea typeface="Calibri"/>
                <a:cs typeface="Calibri"/>
              </a:rPr>
              <a:t>9.5%</a:t>
            </a:r>
          </a:p>
        </p:txBody>
      </p:sp>
      <p:sp>
        <p:nvSpPr>
          <p:cNvPr id="6" name="">
            <a:extLst xmlns:a="http://schemas.openxmlformats.org/drawingml/2006/main">
              <a:ext uri="{FF2B5EF4-FFF2-40B4-BE49-F238E27FC236}">
                <a16:creationId xmlns:a16="http://schemas.microsoft.com/office/drawing/2014/main" id="{A3E90832-0394-44E1-B856-D9A37945E98D}"/>
              </a:ext>
            </a:extLst>
          </p:cNvPr>
          <p:cNvSpPr>
            <a:spLocks xmlns:a="http://schemas.openxmlformats.org/drawingml/2006/main" noGrp="1"/>
          </p:cNvSpPr>
          <p:nvPr/>
        </p:nvSpPr>
        <p:spPr>
          <a:xfrm xmlns:a="http://schemas.openxmlformats.org/drawingml/2006/main">
            <a:off x="8429625" y="2990850"/>
            <a:ext cx="304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073B35"/>
                </a:solidFill>
                <a:latin typeface="Calibri"/>
                <a:ea typeface="Calibri"/>
                <a:cs typeface="Calibri"/>
              </a:defRPr>
            </a:pPr>
            <a:r>
              <a:rPr sz="2025" b="0">
                <a:solidFill>
                  <a:srgbClr val="073B35"/>
                </a:solidFill>
                <a:latin typeface="Calibri"/>
                <a:ea typeface="Calibri"/>
                <a:cs typeface="Calibri"/>
              </a:rPr>
              <a:t>lower RMSE with local</a:t>
            </a:r>
          </a:p>
          <a:p xmlns:a="http://schemas.openxmlformats.org/drawingml/2006/main">
            <a:pPr>
              <a:defRPr sz="2025" b="0">
                <a:solidFill>
                  <a:srgbClr val="073B35"/>
                </a:solidFill>
                <a:latin typeface="Calibri"/>
                <a:ea typeface="Calibri"/>
                <a:cs typeface="Calibri"/>
              </a:defRPr>
            </a:pPr>
            <a:r>
              <a:rPr sz="2025" b="0">
                <a:solidFill>
                  <a:srgbClr val="073B35"/>
                </a:solidFill>
                <a:latin typeface="Calibri"/>
                <a:ea typeface="Calibri"/>
                <a:cs typeface="Calibri"/>
              </a:rPr>
              <a:t>XGBoost vs smart persistence</a:t>
            </a:r>
          </a:p>
        </p:txBody>
      </p:sp>
      <p:sp>
        <p:nvSpPr>
          <p:cNvPr id="7" name="">
            <a:extLst xmlns:a="http://schemas.openxmlformats.org/drawingml/2006/main">
              <a:ext uri="{FF2B5EF4-FFF2-40B4-BE49-F238E27FC236}">
                <a16:creationId xmlns:a16="http://schemas.microsoft.com/office/drawing/2014/main" id="{32094B69-A886-47FE-BC84-0B0DB36E0EB1}"/>
              </a:ext>
            </a:extLst>
          </p:cNvPr>
          <p:cNvSpPr>
            <a:spLocks xmlns:a="http://schemas.openxmlformats.org/drawingml/2006/main" noGrp="1"/>
          </p:cNvSpPr>
          <p:nvPr/>
        </p:nvSpPr>
        <p:spPr>
          <a:xfrm xmlns:a="http://schemas.openxmlformats.org/drawingml/2006/main">
            <a:off x="8429625" y="4419600"/>
            <a:ext cx="3048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4E7D61"/>
                </a:solidFill>
                <a:latin typeface="Calibri"/>
                <a:ea typeface="Calibri"/>
                <a:cs typeface="Calibri"/>
              </a:defRPr>
            </a:pPr>
            <a:r>
              <a:rPr sz="1875" b="1">
                <a:solidFill>
                  <a:srgbClr val="4E7D61"/>
                </a:solidFill>
                <a:latin typeface="Calibri"/>
                <a:ea typeface="Calibri"/>
                <a:cs typeface="Calibri"/>
              </a:rPr>
              <a:t>MLP keeps the collaborative</a:t>
            </a:r>
          </a:p>
          <a:p xmlns:a="http://schemas.openxmlformats.org/drawingml/2006/main">
            <a:pPr>
              <a:defRPr sz="1875" b="1">
                <a:solidFill>
                  <a:srgbClr val="4E7D61"/>
                </a:solidFill>
                <a:latin typeface="Calibri"/>
                <a:ea typeface="Calibri"/>
                <a:cs typeface="Calibri"/>
              </a:defRPr>
            </a:pPr>
            <a:r>
              <a:rPr sz="1875" b="1">
                <a:solidFill>
                  <a:srgbClr val="4E7D61"/>
                </a:solidFill>
                <a:latin typeface="Calibri"/>
                <a:ea typeface="Calibri"/>
                <a:cs typeface="Calibri"/>
              </a:rPr>
              <a:t>implementation compact</a:t>
            </a:r>
          </a:p>
        </p:txBody>
      </p:sp>
      <p:sp>
        <p:nvSpPr>
          <p:cNvPr id="8" name="">
            <a:extLst xmlns:a="http://schemas.openxmlformats.org/drawingml/2006/main">
              <a:ext uri="{FF2B5EF4-FFF2-40B4-BE49-F238E27FC236}">
                <a16:creationId xmlns:a16="http://schemas.microsoft.com/office/drawing/2014/main" id="{3FD0EDE9-F99B-4108-95BE-5EB2D3087D09}"/>
              </a:ext>
            </a:extLst>
          </p:cNvPr>
          <p:cNvSpPr>
            <a:spLocks xmlns:a="http://schemas.openxmlformats.org/drawingml/2006/main" noGrp="1"/>
          </p:cNvSpPr>
          <p:nvPr/>
        </p:nvSpPr>
        <p:spPr>
          <a:xfrm xmlns:a="http://schemas.openxmlformats.org/drawingml/2006/main">
            <a:off x="609600" y="5705475"/>
            <a:ext cx="10896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8716A"/>
                </a:solidFill>
                <a:latin typeface="Calibri"/>
                <a:ea typeface="Calibri"/>
                <a:cs typeface="Calibri"/>
              </a:defRPr>
            </a:pPr>
            <a:r>
              <a:rPr sz="1725" b="0">
                <a:solidFill>
                  <a:srgbClr val="58716A"/>
                </a:solidFill>
                <a:latin typeface="Calibri"/>
                <a:ea typeface="Calibri"/>
                <a:cs typeface="Calibri"/>
              </a:rPr>
              <a:t>12 methods share held-out metrics. Pooled models require raw-data centralization.</a:t>
            </a:r>
          </a:p>
        </p:txBody>
      </p:sp>
      <p:sp>
        <p:nvSpPr>
          <p:cNvPr id="9" name="">
            <a:extLst xmlns:a="http://schemas.openxmlformats.org/drawingml/2006/main">
              <a:ext uri="{FF2B5EF4-FFF2-40B4-BE49-F238E27FC236}">
                <a16:creationId xmlns:a16="http://schemas.microsoft.com/office/drawing/2014/main" id="{7FB5F5EB-8C92-4B70-9F18-A8C369C6C553}"/>
              </a:ext>
            </a:extLst>
          </p:cNvPr>
          <p:cNvSpPr>
            <a:spLocks xmlns:a="http://schemas.openxmlformats.org/drawingml/2006/main" noGrp="1"/>
          </p:cNvSpPr>
          <p:nvPr/>
        </p:nvSpPr>
        <p:spPr>
          <a:xfrm xmlns:a="http://schemas.openxmlformats.org/drawingml/2006/main">
            <a:off x="609600" y="6134100"/>
            <a:ext cx="10896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8716A"/>
                </a:solidFill>
                <a:latin typeface="Calibri"/>
                <a:ea typeface="Calibri"/>
                <a:cs typeface="Calibri"/>
              </a:defRPr>
            </a:pPr>
            <a:r>
              <a:rPr sz="1425" b="0">
                <a:solidFill>
                  <a:srgbClr val="58716A"/>
                </a:solidFill>
                <a:latin typeface="Calibri"/>
                <a:ea typeface="Calibri"/>
                <a:cs typeface="Calibri"/>
              </a:rPr>
              <a:t>GRU 0.0654  /  LSTM 0.0651. Model choice uses validation.</a:t>
            </a:r>
          </a:p>
        </p:txBody>
      </p:sp>
    </p:spTree>
    <p:extLst>
      <p:ext uri="{BB962C8B-B14F-4D97-AF65-F5344CB8AC3E}">
        <p14:creationId xmlns:p14="http://schemas.microsoft.com/office/powerpoint/2010/main" val="2058912313"/>
      </p:ext>
    </p:extLst>
  </p:cSld>
</p:sld>
</file>

<file path=ppt/slides/slide5.xml><?xml version="1.0" encoding="utf-8"?>
<p:sld xmlns:p="http://schemas.openxmlformats.org/presentationml/2006/main">
  <p:cSld>
    <p:bg>
      <p:bgPr>
        <a:solidFill xmlns:a="http://schemas.openxmlformats.org/drawingml/2006/main">
          <a:srgbClr val="073B3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7E515B-548A-4522-B02B-246B6AA3F8F7}"/>
              </a:ext>
            </a:extLst>
          </p:cNvPr>
          <p:cNvSpPr>
            <a:spLocks xmlns:a="http://schemas.openxmlformats.org/drawingml/2006/main" noGrp="1"/>
          </p:cNvSpPr>
          <p:nvPr/>
        </p:nvSpPr>
        <p:spPr>
          <a:xfrm xmlns:a="http://schemas.openxmlformats.org/drawingml/2006/main">
            <a:off x="590550" y="466725"/>
            <a:ext cx="110109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Reliability-aware federated learning</a:t>
            </a:r>
          </a:p>
        </p:txBody>
      </p:sp>
      <p:sp>
        <p:nvSpPr>
          <p:cNvPr id="2" name="">
            <a:extLst xmlns:a="http://schemas.openxmlformats.org/drawingml/2006/main">
              <a:ext uri="{FF2B5EF4-FFF2-40B4-BE49-F238E27FC236}">
                <a16:creationId xmlns:a16="http://schemas.microsoft.com/office/drawing/2014/main" id="{E7643D74-C9F1-4555-80BA-F30A6E2BDADD}"/>
              </a:ext>
            </a:extLst>
          </p:cNvPr>
          <p:cNvSpPr>
            <a:spLocks xmlns:a="http://schemas.openxmlformats.org/drawingml/2006/main" noGrp="1"/>
          </p:cNvSpPr>
          <p:nvPr/>
        </p:nvSpPr>
        <p:spPr>
          <a:xfrm xmlns:a="http://schemas.openxmlformats.org/drawingml/2006/main">
            <a:off x="609600" y="64674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BDD1C5"/>
                </a:solidFill>
                <a:latin typeface="Calibri"/>
                <a:ea typeface="Calibri"/>
                <a:cs typeface="Calibri"/>
              </a:defRPr>
            </a:pPr>
            <a:r>
              <a:rPr sz="975" b="0">
                <a:solidFill>
                  <a:srgbClr val="BDD1C5"/>
                </a:solidFill>
                <a:latin typeface="Calibri"/>
                <a:ea typeface="Calibri"/>
                <a:cs typeface="Calibri"/>
              </a:rPr>
              <a:t>GRIDMESH  /  TEAM BP</a:t>
            </a:r>
          </a:p>
        </p:txBody>
      </p:sp>
      <p:sp>
        <p:nvSpPr>
          <p:cNvPr id="3" name="">
            <a:extLst xmlns:a="http://schemas.openxmlformats.org/drawingml/2006/main">
              <a:ext uri="{FF2B5EF4-FFF2-40B4-BE49-F238E27FC236}">
                <a16:creationId xmlns:a16="http://schemas.microsoft.com/office/drawing/2014/main" id="{9B0B0169-74EF-4C6D-9E55-3699F44FFA72}"/>
              </a:ext>
            </a:extLst>
          </p:cNvPr>
          <p:cNvSpPr>
            <a:spLocks xmlns:a="http://schemas.openxmlformats.org/drawingml/2006/main" noGrp="1"/>
          </p:cNvSpPr>
          <p:nvPr/>
        </p:nvSpPr>
        <p:spPr>
          <a:xfrm xmlns:a="http://schemas.openxmlformats.org/drawingml/2006/main">
            <a:off x="11144250" y="64293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CE56D"/>
                </a:solidFill>
                <a:latin typeface="Calibri"/>
                <a:ea typeface="Calibri"/>
                <a:cs typeface="Calibri"/>
              </a:defRPr>
            </a:pPr>
            <a:r>
              <a:rPr sz="1200" b="0">
                <a:solidFill>
                  <a:srgbClr val="BCE56D"/>
                </a:solidFill>
                <a:latin typeface="Calibri"/>
                <a:ea typeface="Calibri"/>
                <a:cs typeface="Calibri"/>
              </a:rPr>
              <a:t>05</a:t>
            </a:r>
          </a:p>
        </p:txBody>
      </p:sp>
      <p:sp>
        <p:nvSpPr>
          <p:cNvPr id="4" name="">
            <a:extLst xmlns:a="http://schemas.openxmlformats.org/drawingml/2006/main">
              <a:ext uri="{FF2B5EF4-FFF2-40B4-BE49-F238E27FC236}">
                <a16:creationId xmlns:a16="http://schemas.microsoft.com/office/drawing/2014/main" id="{88E8D3DB-E878-41CF-B6DA-1FA37259AB30}"/>
              </a:ext>
            </a:extLst>
          </p:cNvPr>
          <p:cNvSpPr>
            <a:spLocks xmlns:a="http://schemas.openxmlformats.org/drawingml/2006/main" noGrp="1"/>
          </p:cNvSpPr>
          <p:nvPr/>
        </p:nvSpPr>
        <p:spPr>
          <a:xfrm xmlns:a="http://schemas.openxmlformats.org/drawingml/2006/main">
            <a:off x="609600" y="1743075"/>
            <a:ext cx="1095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BCE56D"/>
                </a:solidFill>
                <a:latin typeface="Calibri"/>
                <a:ea typeface="Calibri"/>
                <a:cs typeface="Calibri"/>
              </a:defRPr>
            </a:pPr>
            <a:r>
              <a:rPr sz="3225" b="1">
                <a:solidFill>
                  <a:srgbClr val="BCE56D"/>
                </a:solidFill>
                <a:latin typeface="Calibri"/>
                <a:ea typeface="Calibri"/>
                <a:cs typeface="Calibri"/>
              </a:rPr>
              <a:t>weightᵢ ∝ samplesᵢ × trustᵢ × sensor qualityᵢ</a:t>
            </a:r>
          </a:p>
        </p:txBody>
      </p:sp>
      <p:sp>
        <p:nvSpPr>
          <p:cNvPr id="5" name="">
            <a:extLst xmlns:a="http://schemas.openxmlformats.org/drawingml/2006/main">
              <a:ext uri="{FF2B5EF4-FFF2-40B4-BE49-F238E27FC236}">
                <a16:creationId xmlns:a16="http://schemas.microsoft.com/office/drawing/2014/main" id="{B21340A5-FEC7-4219-8650-909A7AFF9432}"/>
              </a:ext>
            </a:extLst>
          </p:cNvPr>
          <p:cNvSpPr>
            <a:spLocks xmlns:a="http://schemas.openxmlformats.org/drawingml/2006/main" noGrp="1"/>
          </p:cNvSpPr>
          <p:nvPr/>
        </p:nvSpPr>
        <p:spPr>
          <a:xfrm xmlns:a="http://schemas.openxmlformats.org/drawingml/2006/main">
            <a:off x="609600" y="3190875"/>
            <a:ext cx="4857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CE56D"/>
                </a:solidFill>
                <a:latin typeface="Calibri"/>
                <a:ea typeface="Calibri"/>
                <a:cs typeface="Calibri"/>
              </a:defRPr>
            </a:pPr>
            <a:r>
              <a:rPr sz="1500" b="1">
                <a:solidFill>
                  <a:srgbClr val="BCE56D"/>
                </a:solidFill>
                <a:latin typeface="Calibri"/>
                <a:ea typeface="Calibri"/>
                <a:cs typeface="Calibri"/>
              </a:rPr>
              <a:t>SCREEN UPDATES</a:t>
            </a:r>
          </a:p>
        </p:txBody>
      </p:sp>
      <p:sp>
        <p:nvSpPr>
          <p:cNvPr id="6" name="">
            <a:extLst xmlns:a="http://schemas.openxmlformats.org/drawingml/2006/main">
              <a:ext uri="{FF2B5EF4-FFF2-40B4-BE49-F238E27FC236}">
                <a16:creationId xmlns:a16="http://schemas.microsoft.com/office/drawing/2014/main" id="{E440E9DD-92B0-4C1E-9AC7-FB7B0795DAE3}"/>
              </a:ext>
            </a:extLst>
          </p:cNvPr>
          <p:cNvSpPr>
            <a:spLocks xmlns:a="http://schemas.openxmlformats.org/drawingml/2006/main" noGrp="1"/>
          </p:cNvSpPr>
          <p:nvPr/>
        </p:nvSpPr>
        <p:spPr>
          <a:xfrm xmlns:a="http://schemas.openxmlformats.org/drawingml/2006/main">
            <a:off x="609600" y="3705225"/>
            <a:ext cx="485775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FFFFFF"/>
                </a:solidFill>
                <a:latin typeface="Calibri"/>
                <a:ea typeface="Calibri"/>
                <a:cs typeface="Calibri"/>
              </a:defRPr>
            </a:pPr>
            <a:r>
              <a:rPr sz="2025" b="0">
                <a:solidFill>
                  <a:srgbClr val="FFFFFF"/>
                </a:solidFill>
                <a:latin typeface="Calibri"/>
                <a:ea typeface="Calibri"/>
                <a:cs typeface="Calibri"/>
              </a:rPr>
              <a:t>Finite values and plausible magnitude</a:t>
            </a:r>
          </a:p>
          <a:p xmlns:a="http://schemas.openxmlformats.org/drawingml/2006/main">
            <a:pPr>
              <a:defRPr sz="2025" b="0">
                <a:solidFill>
                  <a:srgbClr val="FFFFFF"/>
                </a:solidFill>
                <a:latin typeface="Calibri"/>
                <a:ea typeface="Calibri"/>
                <a:cs typeface="Calibri"/>
              </a:defRPr>
            </a:pPr>
            <a:r>
              <a:rPr sz="2025" b="0">
                <a:solidFill>
                  <a:srgbClr val="FFFFFF"/>
                </a:solidFill>
                <a:latin typeface="Calibri"/>
                <a:ea typeface="Calibri"/>
                <a:cs typeface="Calibri"/>
              </a:rPr>
              <a:t>Positive samples and valid health reports</a:t>
            </a:r>
          </a:p>
        </p:txBody>
      </p:sp>
      <p:sp>
        <p:nvSpPr>
          <p:cNvPr id="7" name="">
            <a:extLst xmlns:a="http://schemas.openxmlformats.org/drawingml/2006/main">
              <a:ext uri="{FF2B5EF4-FFF2-40B4-BE49-F238E27FC236}">
                <a16:creationId xmlns:a16="http://schemas.microsoft.com/office/drawing/2014/main" id="{3E5E2F78-E7D6-45AC-A71F-AF25C6C68AFD}"/>
              </a:ext>
            </a:extLst>
          </p:cNvPr>
          <p:cNvSpPr>
            <a:spLocks xmlns:a="http://schemas.openxmlformats.org/drawingml/2006/main" noGrp="1"/>
          </p:cNvSpPr>
          <p:nvPr/>
        </p:nvSpPr>
        <p:spPr>
          <a:xfrm xmlns:a="http://schemas.openxmlformats.org/drawingml/2006/main">
            <a:off x="6562725" y="3190875"/>
            <a:ext cx="49434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BCE56D"/>
                </a:solidFill>
                <a:latin typeface="Calibri"/>
                <a:ea typeface="Calibri"/>
                <a:cs typeface="Calibri"/>
              </a:defRPr>
            </a:pPr>
            <a:r>
              <a:rPr sz="1500" b="1">
                <a:solidFill>
                  <a:srgbClr val="BCE56D"/>
                </a:solidFill>
                <a:latin typeface="Calibri"/>
                <a:ea typeface="Calibri"/>
                <a:cs typeface="Calibri"/>
              </a:rPr>
              <a:t>GATE EACH CANDIDATE</a:t>
            </a:r>
          </a:p>
        </p:txBody>
      </p:sp>
      <p:sp>
        <p:nvSpPr>
          <p:cNvPr id="8" name="">
            <a:extLst xmlns:a="http://schemas.openxmlformats.org/drawingml/2006/main">
              <a:ext uri="{FF2B5EF4-FFF2-40B4-BE49-F238E27FC236}">
                <a16:creationId xmlns:a16="http://schemas.microsoft.com/office/drawing/2014/main" id="{984D3546-A88D-495D-822D-2421BA0E13B5}"/>
              </a:ext>
            </a:extLst>
          </p:cNvPr>
          <p:cNvSpPr>
            <a:spLocks xmlns:a="http://schemas.openxmlformats.org/drawingml/2006/main" noGrp="1"/>
          </p:cNvSpPr>
          <p:nvPr/>
        </p:nvSpPr>
        <p:spPr>
          <a:xfrm xmlns:a="http://schemas.openxmlformats.org/drawingml/2006/main">
            <a:off x="6562725" y="3705225"/>
            <a:ext cx="4953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FFFFFF"/>
                </a:solidFill>
                <a:latin typeface="Calibri"/>
                <a:ea typeface="Calibri"/>
                <a:cs typeface="Calibri"/>
              </a:defRPr>
            </a:pPr>
            <a:r>
              <a:rPr sz="2025" b="0">
                <a:solidFill>
                  <a:srgbClr val="FFFFFF"/>
                </a:solidFill>
                <a:latin typeface="Calibri"/>
                <a:ea typeface="Calibri"/>
                <a:cs typeface="Calibri"/>
              </a:rPr>
              <a:t>Validation error, bias and worst site</a:t>
            </a:r>
          </a:p>
          <a:p xmlns:a="http://schemas.openxmlformats.org/drawingml/2006/main">
            <a:pPr>
              <a:defRPr sz="2025" b="0">
                <a:solidFill>
                  <a:srgbClr val="FFFFFF"/>
                </a:solidFill>
                <a:latin typeface="Calibri"/>
                <a:ea typeface="Calibri"/>
                <a:cs typeface="Calibri"/>
              </a:defRPr>
            </a:pPr>
            <a:r>
              <a:rPr sz="2025" b="0">
                <a:solidFill>
                  <a:srgbClr val="FFFFFF"/>
                </a:solidFill>
                <a:latin typeface="Calibri"/>
                <a:ea typeface="Calibri"/>
                <a:cs typeface="Calibri"/>
              </a:rPr>
              <a:t>Keep a trusted checkpoint on failure</a:t>
            </a:r>
          </a:p>
        </p:txBody>
      </p:sp>
      <p:sp>
        <p:nvSpPr>
          <p:cNvPr id="9" name="">
            <a:extLst xmlns:a="http://schemas.openxmlformats.org/drawingml/2006/main">
              <a:ext uri="{FF2B5EF4-FFF2-40B4-BE49-F238E27FC236}">
                <a16:creationId xmlns:a16="http://schemas.microsoft.com/office/drawing/2014/main" id="{4030B049-8A23-489A-AE26-046AE1C8D0DF}"/>
              </a:ext>
            </a:extLst>
          </p:cNvPr>
          <p:cNvSpPr>
            <a:spLocks xmlns:a="http://schemas.openxmlformats.org/drawingml/2006/main" noGrp="1"/>
          </p:cNvSpPr>
          <p:nvPr/>
        </p:nvSpPr>
        <p:spPr>
          <a:xfrm xmlns:a="http://schemas.openxmlformats.org/drawingml/2006/main">
            <a:off x="609600" y="5181600"/>
            <a:ext cx="10953750" cy="0"/>
          </a:xfrm>
          <a:prstGeom xmlns:a="http://schemas.openxmlformats.org/drawingml/2006/main" prst="line">
            <a:avLst/>
          </a:prstGeom>
          <a:ln xmlns:a="http://schemas.openxmlformats.org/drawingml/2006/main" w="19050">
            <a:solidFill>
              <a:srgbClr val="456C61"/>
            </a:solidFill>
          </a:ln>
        </p:spPr>
      </p:sp>
      <p:sp>
        <p:nvSpPr>
          <p:cNvPr id="10" name="">
            <a:extLst xmlns:a="http://schemas.openxmlformats.org/drawingml/2006/main">
              <a:ext uri="{FF2B5EF4-FFF2-40B4-BE49-F238E27FC236}">
                <a16:creationId xmlns:a16="http://schemas.microsoft.com/office/drawing/2014/main" id="{9EBAED47-CED4-426C-9D98-FD33C003AE39}"/>
              </a:ext>
            </a:extLst>
          </p:cNvPr>
          <p:cNvSpPr>
            <a:spLocks xmlns:a="http://schemas.openxmlformats.org/drawingml/2006/main" noGrp="1"/>
          </p:cNvSpPr>
          <p:nvPr/>
        </p:nvSpPr>
        <p:spPr>
          <a:xfrm xmlns:a="http://schemas.openxmlformats.org/drawingml/2006/main">
            <a:off x="609600" y="5524500"/>
            <a:ext cx="108966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FFFFFF"/>
                </a:solidFill>
                <a:latin typeface="Calibri"/>
                <a:ea typeface="Calibri"/>
                <a:cs typeface="Calibri"/>
              </a:defRPr>
            </a:pPr>
            <a:r>
              <a:rPr sz="2100" b="0">
                <a:solidFill>
                  <a:srgbClr val="FFFFFF"/>
                </a:solidFill>
                <a:latin typeface="Calibri"/>
                <a:ea typeface="Calibri"/>
                <a:cs typeface="Calibri"/>
              </a:rPr>
              <a:t>Quarantine can recover. Insufficient participation retains a trusted model.</a:t>
            </a:r>
          </a:p>
        </p:txBody>
      </p:sp>
    </p:spTree>
    <p:extLst>
      <p:ext uri="{BB962C8B-B14F-4D97-AF65-F5344CB8AC3E}">
        <p14:creationId xmlns:p14="http://schemas.microsoft.com/office/powerpoint/2010/main" val="1274448679"/>
      </p:ext>
    </p:extLst>
  </p:cSld>
</p:sld>
</file>

<file path=ppt/slides/slide6.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779585E-387D-4E1D-AA57-E97E76C60DBA}"/>
              </a:ext>
            </a:extLst>
          </p:cNvPr>
          <p:cNvSpPr>
            <a:spLocks xmlns:a="http://schemas.openxmlformats.org/drawingml/2006/main" noGrp="1"/>
          </p:cNvSpPr>
          <p:nvPr/>
        </p:nvSpPr>
        <p:spPr>
          <a:xfrm xmlns:a="http://schemas.openxmlformats.org/drawingml/2006/main">
            <a:off x="590550" y="466725"/>
            <a:ext cx="110109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73B35"/>
                </a:solidFill>
                <a:latin typeface="Calibri"/>
                <a:ea typeface="Calibri"/>
                <a:cs typeface="Calibri"/>
              </a:defRPr>
            </a:pPr>
            <a:r>
              <a:rPr sz="3150" b="1">
                <a:solidFill>
                  <a:srgbClr val="073B35"/>
                </a:solidFill>
                <a:latin typeface="Calibri"/>
                <a:ea typeface="Calibri"/>
                <a:cs typeface="Calibri"/>
              </a:rPr>
              <a:t>Faults, dropout and safe degradation</a:t>
            </a:r>
          </a:p>
        </p:txBody>
      </p:sp>
      <p:sp>
        <p:nvSpPr>
          <p:cNvPr id="2" name="">
            <a:extLst xmlns:a="http://schemas.openxmlformats.org/drawingml/2006/main">
              <a:ext uri="{FF2B5EF4-FFF2-40B4-BE49-F238E27FC236}">
                <a16:creationId xmlns:a16="http://schemas.microsoft.com/office/drawing/2014/main" id="{B55F4FC2-DB4B-46B8-AF7F-C9D045739DF3}"/>
              </a:ext>
            </a:extLst>
          </p:cNvPr>
          <p:cNvSpPr>
            <a:spLocks xmlns:a="http://schemas.openxmlformats.org/drawingml/2006/main" noGrp="1"/>
          </p:cNvSpPr>
          <p:nvPr/>
        </p:nvSpPr>
        <p:spPr>
          <a:xfrm xmlns:a="http://schemas.openxmlformats.org/drawingml/2006/main">
            <a:off x="609600" y="64674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8716A"/>
                </a:solidFill>
                <a:latin typeface="Calibri"/>
                <a:ea typeface="Calibri"/>
                <a:cs typeface="Calibri"/>
              </a:defRPr>
            </a:pPr>
            <a:r>
              <a:rPr sz="975" b="0">
                <a:solidFill>
                  <a:srgbClr val="58716A"/>
                </a:solidFill>
                <a:latin typeface="Calibri"/>
                <a:ea typeface="Calibri"/>
                <a:cs typeface="Calibri"/>
              </a:rPr>
              <a:t>GRIDMESH  /  TEAM BP</a:t>
            </a:r>
          </a:p>
        </p:txBody>
      </p:sp>
      <p:sp>
        <p:nvSpPr>
          <p:cNvPr id="3" name="">
            <a:extLst xmlns:a="http://schemas.openxmlformats.org/drawingml/2006/main">
              <a:ext uri="{FF2B5EF4-FFF2-40B4-BE49-F238E27FC236}">
                <a16:creationId xmlns:a16="http://schemas.microsoft.com/office/drawing/2014/main" id="{614C5C7A-229B-4CDB-A974-5267753C74F6}"/>
              </a:ext>
            </a:extLst>
          </p:cNvPr>
          <p:cNvSpPr>
            <a:spLocks xmlns:a="http://schemas.openxmlformats.org/drawingml/2006/main" noGrp="1"/>
          </p:cNvSpPr>
          <p:nvPr/>
        </p:nvSpPr>
        <p:spPr>
          <a:xfrm xmlns:a="http://schemas.openxmlformats.org/drawingml/2006/main">
            <a:off x="11144250" y="64293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8716A"/>
                </a:solidFill>
                <a:latin typeface="Calibri"/>
                <a:ea typeface="Calibri"/>
                <a:cs typeface="Calibri"/>
              </a:defRPr>
            </a:pPr>
            <a:r>
              <a:rPr sz="1200" b="0">
                <a:solidFill>
                  <a:srgbClr val="58716A"/>
                </a:solidFill>
                <a:latin typeface="Calibri"/>
                <a:ea typeface="Calibri"/>
                <a:cs typeface="Calibri"/>
              </a:rPr>
              <a:t>06</a:t>
            </a:r>
          </a:p>
        </p:txBody>
      </p:sp>
      <p:graphicFrame>
        <p:nvGraphicFramePr>
          <p:cNvPr id="12" name="Chart"/>
          <p:cNvGraphicFramePr/>
          <p:nvPr/>
        </p:nvGraphicFramePr>
        <p:xfrm>
          <a:off xmlns:a="http://schemas.openxmlformats.org/drawingml/2006/main" x="590550" y="1952625"/>
          <a:ext xmlns:a="http://schemas.openxmlformats.org/drawingml/2006/main" cx="7143750" cy="3619500"/>
        </p:xfrm>
        <a:graphic xmlns:a="http://schemas.openxmlformats.org/drawingml/2006/main">
          <a:graphicData uri="http://schemas.openxmlformats.org/drawingml/2006/chart">
            <c:chart xmlns:r="http://schemas.openxmlformats.org/officeDocument/2006/relationships" xmlns:c="http://schemas.openxmlformats.org/drawingml/2006/chart" r:id="Rce36c26a9e764e3d"/>
          </a:graphicData>
        </a:graphic>
      </p:graphicFrame>
      <p:sp>
        <p:nvSpPr>
          <p:cNvPr id="5" name="">
            <a:extLst xmlns:a="http://schemas.openxmlformats.org/drawingml/2006/main">
              <a:ext uri="{FF2B5EF4-FFF2-40B4-BE49-F238E27FC236}">
                <a16:creationId xmlns:a16="http://schemas.microsoft.com/office/drawing/2014/main" id="{29C25FDC-3BB3-4C4A-97A4-ECE6AAF3705D}"/>
              </a:ext>
            </a:extLst>
          </p:cNvPr>
          <p:cNvSpPr>
            <a:spLocks xmlns:a="http://schemas.openxmlformats.org/drawingml/2006/main" noGrp="1"/>
          </p:cNvSpPr>
          <p:nvPr/>
        </p:nvSpPr>
        <p:spPr>
          <a:xfrm xmlns:a="http://schemas.openxmlformats.org/drawingml/2006/main">
            <a:off x="8458200" y="2019300"/>
            <a:ext cx="3095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073B35"/>
                </a:solidFill>
                <a:latin typeface="Calibri"/>
                <a:ea typeface="Calibri"/>
                <a:cs typeface="Calibri"/>
              </a:defRPr>
            </a:pPr>
            <a:r>
              <a:rPr sz="3900" b="1">
                <a:solidFill>
                  <a:srgbClr val="073B35"/>
                </a:solidFill>
                <a:latin typeface="Calibri"/>
                <a:ea typeface="Calibri"/>
                <a:cs typeface="Calibri"/>
              </a:rPr>
              <a:t>8.9%</a:t>
            </a:r>
          </a:p>
        </p:txBody>
      </p:sp>
      <p:sp>
        <p:nvSpPr>
          <p:cNvPr id="6" name="">
            <a:extLst xmlns:a="http://schemas.openxmlformats.org/drawingml/2006/main">
              <a:ext uri="{FF2B5EF4-FFF2-40B4-BE49-F238E27FC236}">
                <a16:creationId xmlns:a16="http://schemas.microsoft.com/office/drawing/2014/main" id="{03F628C6-3676-4DFA-8EDE-4B765B4944FE}"/>
              </a:ext>
            </a:extLst>
          </p:cNvPr>
          <p:cNvSpPr>
            <a:spLocks xmlns:a="http://schemas.openxmlformats.org/drawingml/2006/main" noGrp="1"/>
          </p:cNvSpPr>
          <p:nvPr/>
        </p:nvSpPr>
        <p:spPr>
          <a:xfrm xmlns:a="http://schemas.openxmlformats.org/drawingml/2006/main">
            <a:off x="8458200" y="2962275"/>
            <a:ext cx="30670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073B35"/>
                </a:solidFill>
                <a:latin typeface="Calibri"/>
                <a:ea typeface="Calibri"/>
                <a:cs typeface="Calibri"/>
              </a:defRPr>
            </a:pPr>
            <a:r>
              <a:rPr sz="2025" b="0">
                <a:solidFill>
                  <a:srgbClr val="073B35"/>
                </a:solidFill>
                <a:latin typeface="Calibri"/>
                <a:ea typeface="Calibri"/>
                <a:cs typeface="Calibri"/>
              </a:rPr>
              <a:t>lower healthy-site error</a:t>
            </a:r>
          </a:p>
          <a:p xmlns:a="http://schemas.openxmlformats.org/drawingml/2006/main">
            <a:pPr>
              <a:defRPr sz="2025" b="0">
                <a:solidFill>
                  <a:srgbClr val="073B35"/>
                </a:solidFill>
                <a:latin typeface="Calibri"/>
                <a:ea typeface="Calibri"/>
                <a:cs typeface="Calibri"/>
              </a:defRPr>
            </a:pPr>
            <a:r>
              <a:rPr sz="2025" b="0">
                <a:solidFill>
                  <a:srgbClr val="073B35"/>
                </a:solidFill>
                <a:latin typeface="Calibri"/>
                <a:ea typeface="Calibri"/>
                <a:cs typeface="Calibri"/>
              </a:rPr>
              <a:t>under severe stale sensors</a:t>
            </a:r>
          </a:p>
        </p:txBody>
      </p:sp>
      <p:sp>
        <p:nvSpPr>
          <p:cNvPr id="7" name="">
            <a:extLst xmlns:a="http://schemas.openxmlformats.org/drawingml/2006/main">
              <a:ext uri="{FF2B5EF4-FFF2-40B4-BE49-F238E27FC236}">
                <a16:creationId xmlns:a16="http://schemas.microsoft.com/office/drawing/2014/main" id="{7550D0B7-2492-45FE-8A41-159288EC7809}"/>
              </a:ext>
            </a:extLst>
          </p:cNvPr>
          <p:cNvSpPr>
            <a:spLocks xmlns:a="http://schemas.openxmlformats.org/drawingml/2006/main" noGrp="1"/>
          </p:cNvSpPr>
          <p:nvPr/>
        </p:nvSpPr>
        <p:spPr>
          <a:xfrm xmlns:a="http://schemas.openxmlformats.org/drawingml/2006/main">
            <a:off x="8458200" y="4438650"/>
            <a:ext cx="3114675"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8716A"/>
                </a:solidFill>
                <a:latin typeface="Calibri"/>
                <a:ea typeface="Calibri"/>
                <a:cs typeface="Calibri"/>
              </a:defRPr>
            </a:pPr>
            <a:r>
              <a:rPr sz="1875" b="0">
                <a:solidFill>
                  <a:srgbClr val="58716A"/>
                </a:solidFill>
                <a:latin typeface="Calibri"/>
                <a:ea typeface="Calibri"/>
                <a:cs typeface="Calibri"/>
              </a:rPr>
              <a:t>Fallbacks keep advice valid.</a:t>
            </a:r>
          </a:p>
          <a:p xmlns:a="http://schemas.openxmlformats.org/drawingml/2006/main">
            <a:pPr>
              <a:defRPr sz="1875" b="0">
                <a:solidFill>
                  <a:srgbClr val="58716A"/>
                </a:solidFill>
                <a:latin typeface="Calibri"/>
                <a:ea typeface="Calibri"/>
                <a:cs typeface="Calibri"/>
              </a:defRPr>
            </a:pPr>
            <a:r>
              <a:rPr sz="1875" b="0">
                <a:solidFill>
                  <a:srgbClr val="58716A"/>
                </a:solidFill>
                <a:latin typeface="Calibri"/>
                <a:ea typeface="Calibri"/>
                <a:cs typeface="Calibri"/>
              </a:rPr>
              <a:t>They cannot create energy</a:t>
            </a:r>
          </a:p>
          <a:p xmlns:a="http://schemas.openxmlformats.org/drawingml/2006/main">
            <a:pPr>
              <a:defRPr sz="1875" b="0">
                <a:solidFill>
                  <a:srgbClr val="58716A"/>
                </a:solidFill>
                <a:latin typeface="Calibri"/>
                <a:ea typeface="Calibri"/>
                <a:cs typeface="Calibri"/>
              </a:defRPr>
            </a:pPr>
            <a:r>
              <a:rPr sz="1875" b="0">
                <a:solidFill>
                  <a:srgbClr val="58716A"/>
                </a:solidFill>
                <a:latin typeface="Calibri"/>
                <a:ea typeface="Calibri"/>
                <a:cs typeface="Calibri"/>
              </a:rPr>
              <a:t>or replace missing assets.</a:t>
            </a:r>
          </a:p>
        </p:txBody>
      </p:sp>
      <p:sp>
        <p:nvSpPr>
          <p:cNvPr id="8" name="">
            <a:extLst xmlns:a="http://schemas.openxmlformats.org/drawingml/2006/main">
              <a:ext uri="{FF2B5EF4-FFF2-40B4-BE49-F238E27FC236}">
                <a16:creationId xmlns:a16="http://schemas.microsoft.com/office/drawing/2014/main" id="{1E5C895E-1BC3-4CC7-AB7D-5BA5ABDC4289}"/>
              </a:ext>
            </a:extLst>
          </p:cNvPr>
          <p:cNvSpPr>
            <a:spLocks xmlns:a="http://schemas.openxmlformats.org/drawingml/2006/main" noGrp="1"/>
          </p:cNvSpPr>
          <p:nvPr/>
        </p:nvSpPr>
        <p:spPr>
          <a:xfrm xmlns:a="http://schemas.openxmlformats.org/drawingml/2006/main">
            <a:off x="609600" y="5876925"/>
            <a:ext cx="109442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8716A"/>
                </a:solidFill>
                <a:latin typeface="Calibri"/>
                <a:ea typeface="Calibri"/>
                <a:cs typeface="Calibri"/>
              </a:defRPr>
            </a:pPr>
            <a:r>
              <a:rPr sz="1725" b="0">
                <a:solidFill>
                  <a:srgbClr val="58716A"/>
                </a:solidFill>
                <a:latin typeface="Calibri"/>
                <a:ea typeface="Calibri"/>
                <a:cs typeface="Calibri"/>
              </a:rPr>
              <a:t>At 100 clients, the 10% fault target failed. Four-site 50% dropout stays within 2% RMSE.</a:t>
            </a:r>
          </a:p>
        </p:txBody>
      </p:sp>
    </p:spTree>
    <p:extLst>
      <p:ext uri="{BB962C8B-B14F-4D97-AF65-F5344CB8AC3E}">
        <p14:creationId xmlns:p14="http://schemas.microsoft.com/office/powerpoint/2010/main" val="225259384"/>
      </p:ext>
    </p:extLst>
  </p:cSld>
</p:sld>
</file>

<file path=ppt/slides/slide7.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4D39A5-8B5C-4CD7-A13B-32B4DC82243D}"/>
              </a:ext>
            </a:extLst>
          </p:cNvPr>
          <p:cNvSpPr>
            <a:spLocks xmlns:a="http://schemas.openxmlformats.org/drawingml/2006/main" noGrp="1"/>
          </p:cNvSpPr>
          <p:nvPr/>
        </p:nvSpPr>
        <p:spPr>
          <a:xfrm xmlns:a="http://schemas.openxmlformats.org/drawingml/2006/main">
            <a:off x="590550" y="466725"/>
            <a:ext cx="110109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73B35"/>
                </a:solidFill>
                <a:latin typeface="Calibri"/>
                <a:ea typeface="Calibri"/>
                <a:cs typeface="Calibri"/>
              </a:defRPr>
            </a:pPr>
            <a:r>
              <a:rPr sz="3150" b="1">
                <a:solidFill>
                  <a:srgbClr val="073B35"/>
                </a:solidFill>
                <a:latin typeface="Calibri"/>
                <a:ea typeface="Calibri"/>
                <a:cs typeface="Calibri"/>
              </a:rPr>
              <a:t>Bounded participation at 100–500 clients</a:t>
            </a:r>
          </a:p>
        </p:txBody>
      </p:sp>
      <p:sp>
        <p:nvSpPr>
          <p:cNvPr id="2" name="">
            <a:extLst xmlns:a="http://schemas.openxmlformats.org/drawingml/2006/main">
              <a:ext uri="{FF2B5EF4-FFF2-40B4-BE49-F238E27FC236}">
                <a16:creationId xmlns:a16="http://schemas.microsoft.com/office/drawing/2014/main" id="{42C54EB9-97CD-4EF4-9E56-1BE777F123EA}"/>
              </a:ext>
            </a:extLst>
          </p:cNvPr>
          <p:cNvSpPr>
            <a:spLocks xmlns:a="http://schemas.openxmlformats.org/drawingml/2006/main" noGrp="1"/>
          </p:cNvSpPr>
          <p:nvPr/>
        </p:nvSpPr>
        <p:spPr>
          <a:xfrm xmlns:a="http://schemas.openxmlformats.org/drawingml/2006/main">
            <a:off x="609600" y="64674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8716A"/>
                </a:solidFill>
                <a:latin typeface="Calibri"/>
                <a:ea typeface="Calibri"/>
                <a:cs typeface="Calibri"/>
              </a:defRPr>
            </a:pPr>
            <a:r>
              <a:rPr sz="975" b="0">
                <a:solidFill>
                  <a:srgbClr val="58716A"/>
                </a:solidFill>
                <a:latin typeface="Calibri"/>
                <a:ea typeface="Calibri"/>
                <a:cs typeface="Calibri"/>
              </a:rPr>
              <a:t>GRIDMESH  /  TEAM BP</a:t>
            </a:r>
          </a:p>
        </p:txBody>
      </p:sp>
      <p:sp>
        <p:nvSpPr>
          <p:cNvPr id="3" name="">
            <a:extLst xmlns:a="http://schemas.openxmlformats.org/drawingml/2006/main">
              <a:ext uri="{FF2B5EF4-FFF2-40B4-BE49-F238E27FC236}">
                <a16:creationId xmlns:a16="http://schemas.microsoft.com/office/drawing/2014/main" id="{8DF862BB-9B5F-4B4E-B20A-34825A36EF24}"/>
              </a:ext>
            </a:extLst>
          </p:cNvPr>
          <p:cNvSpPr>
            <a:spLocks xmlns:a="http://schemas.openxmlformats.org/drawingml/2006/main" noGrp="1"/>
          </p:cNvSpPr>
          <p:nvPr/>
        </p:nvSpPr>
        <p:spPr>
          <a:xfrm xmlns:a="http://schemas.openxmlformats.org/drawingml/2006/main">
            <a:off x="11144250" y="64293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8716A"/>
                </a:solidFill>
                <a:latin typeface="Calibri"/>
                <a:ea typeface="Calibri"/>
                <a:cs typeface="Calibri"/>
              </a:defRPr>
            </a:pPr>
            <a:r>
              <a:rPr sz="1200" b="0">
                <a:solidFill>
                  <a:srgbClr val="58716A"/>
                </a:solidFill>
                <a:latin typeface="Calibri"/>
                <a:ea typeface="Calibri"/>
                <a:cs typeface="Calibri"/>
              </a:rPr>
              <a:t>07</a:t>
            </a:r>
          </a:p>
        </p:txBody>
      </p:sp>
      <p:graphicFrame>
        <p:nvGraphicFramePr>
          <p:cNvPr id="12" name="Chart"/>
          <p:cNvGraphicFramePr/>
          <p:nvPr/>
        </p:nvGraphicFramePr>
        <p:xfrm>
          <a:off xmlns:a="http://schemas.openxmlformats.org/drawingml/2006/main" x="590550" y="2028825"/>
          <a:ext xmlns:a="http://schemas.openxmlformats.org/drawingml/2006/main" cx="7143750" cy="3390900"/>
        </p:xfrm>
        <a:graphic xmlns:a="http://schemas.openxmlformats.org/drawingml/2006/main">
          <a:graphicData uri="http://schemas.openxmlformats.org/drawingml/2006/chart">
            <c:chart xmlns:r="http://schemas.openxmlformats.org/officeDocument/2006/relationships" xmlns:c="http://schemas.openxmlformats.org/drawingml/2006/chart" r:id="R589ac7b71e3a4680"/>
          </a:graphicData>
        </a:graphic>
      </p:graphicFrame>
      <p:sp>
        <p:nvSpPr>
          <p:cNvPr id="5" name="">
            <a:extLst xmlns:a="http://schemas.openxmlformats.org/drawingml/2006/main">
              <a:ext uri="{FF2B5EF4-FFF2-40B4-BE49-F238E27FC236}">
                <a16:creationId xmlns:a16="http://schemas.microsoft.com/office/drawing/2014/main" id="{97A46AC4-FDC0-42B6-B434-95E400F9B806}"/>
              </a:ext>
            </a:extLst>
          </p:cNvPr>
          <p:cNvSpPr>
            <a:spLocks xmlns:a="http://schemas.openxmlformats.org/drawingml/2006/main" noGrp="1"/>
          </p:cNvSpPr>
          <p:nvPr/>
        </p:nvSpPr>
        <p:spPr>
          <a:xfrm xmlns:a="http://schemas.openxmlformats.org/drawingml/2006/main">
            <a:off x="8439150" y="2038350"/>
            <a:ext cx="31242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073B35"/>
                </a:solidFill>
                <a:latin typeface="Calibri"/>
                <a:ea typeface="Calibri"/>
                <a:cs typeface="Calibri"/>
              </a:defRPr>
            </a:pPr>
            <a:r>
              <a:rPr sz="3900" b="1">
                <a:solidFill>
                  <a:srgbClr val="073B35"/>
                </a:solidFill>
                <a:latin typeface="Calibri"/>
                <a:ea typeface="Calibri"/>
                <a:cs typeface="Calibri"/>
              </a:rPr>
              <a:t>43.3%</a:t>
            </a:r>
          </a:p>
        </p:txBody>
      </p:sp>
      <p:sp>
        <p:nvSpPr>
          <p:cNvPr id="6" name="">
            <a:extLst xmlns:a="http://schemas.openxmlformats.org/drawingml/2006/main">
              <a:ext uri="{FF2B5EF4-FFF2-40B4-BE49-F238E27FC236}">
                <a16:creationId xmlns:a16="http://schemas.microsoft.com/office/drawing/2014/main" id="{D0083BB3-7867-47C2-9AAE-0358B9ACAEBC}"/>
              </a:ext>
            </a:extLst>
          </p:cNvPr>
          <p:cNvSpPr>
            <a:spLocks xmlns:a="http://schemas.openxmlformats.org/drawingml/2006/main" noGrp="1"/>
          </p:cNvSpPr>
          <p:nvPr/>
        </p:nvSpPr>
        <p:spPr>
          <a:xfrm xmlns:a="http://schemas.openxmlformats.org/drawingml/2006/main">
            <a:off x="8439150" y="2981325"/>
            <a:ext cx="31146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073B35"/>
                </a:solidFill>
                <a:latin typeface="Calibri"/>
                <a:ea typeface="Calibri"/>
                <a:cs typeface="Calibri"/>
              </a:defRPr>
            </a:pPr>
            <a:r>
              <a:rPr sz="2025" b="0">
                <a:solidFill>
                  <a:srgbClr val="073B35"/>
                </a:solidFill>
                <a:latin typeface="Calibri"/>
                <a:ea typeface="Calibri"/>
                <a:cs typeface="Calibri"/>
              </a:rPr>
              <a:t>less traffic at 100 clients</a:t>
            </a:r>
          </a:p>
          <a:p xmlns:a="http://schemas.openxmlformats.org/drawingml/2006/main">
            <a:pPr>
              <a:defRPr sz="2025" b="0">
                <a:solidFill>
                  <a:srgbClr val="073B35"/>
                </a:solidFill>
                <a:latin typeface="Calibri"/>
                <a:ea typeface="Calibri"/>
                <a:cs typeface="Calibri"/>
              </a:defRPr>
            </a:pPr>
            <a:r>
              <a:rPr sz="2025" b="0">
                <a:solidFill>
                  <a:srgbClr val="073B35"/>
                </a:solidFill>
                <a:latin typeface="Calibri"/>
                <a:ea typeface="Calibri"/>
                <a:cs typeface="Calibri"/>
              </a:rPr>
              <a:t>1.0% RMSE change</a:t>
            </a:r>
          </a:p>
        </p:txBody>
      </p:sp>
      <p:sp>
        <p:nvSpPr>
          <p:cNvPr id="7" name="">
            <a:extLst xmlns:a="http://schemas.openxmlformats.org/drawingml/2006/main">
              <a:ext uri="{FF2B5EF4-FFF2-40B4-BE49-F238E27FC236}">
                <a16:creationId xmlns:a16="http://schemas.microsoft.com/office/drawing/2014/main" id="{589A917E-431E-44D3-939E-D55D376D88BC}"/>
              </a:ext>
            </a:extLst>
          </p:cNvPr>
          <p:cNvSpPr>
            <a:spLocks xmlns:a="http://schemas.openxmlformats.org/drawingml/2006/main" noGrp="1"/>
          </p:cNvSpPr>
          <p:nvPr/>
        </p:nvSpPr>
        <p:spPr>
          <a:xfrm xmlns:a="http://schemas.openxmlformats.org/drawingml/2006/main">
            <a:off x="8439150" y="4286250"/>
            <a:ext cx="31051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8716A"/>
                </a:solidFill>
                <a:latin typeface="Calibri"/>
                <a:ea typeface="Calibri"/>
                <a:cs typeface="Calibri"/>
              </a:defRPr>
            </a:pPr>
            <a:r>
              <a:rPr sz="1800" b="0">
                <a:solidFill>
                  <a:srgbClr val="58716A"/>
                </a:solidFill>
                <a:latin typeface="Calibri"/>
                <a:ea typeface="Calibri"/>
                <a:cs typeface="Calibri"/>
              </a:rPr>
              <a:t>20 selected clients per round</a:t>
            </a:r>
          </a:p>
          <a:p xmlns:a="http://schemas.openxmlformats.org/drawingml/2006/main">
            <a:pPr>
              <a:defRPr sz="1800" b="0">
                <a:solidFill>
                  <a:srgbClr val="58716A"/>
                </a:solidFill>
                <a:latin typeface="Calibri"/>
                <a:ea typeface="Calibri"/>
                <a:cs typeface="Calibri"/>
              </a:defRPr>
            </a:pPr>
            <a:r>
              <a:rPr sz="1800" b="0">
                <a:solidFill>
                  <a:srgbClr val="58716A"/>
                </a:solidFill>
                <a:latin typeface="Calibri"/>
                <a:ea typeface="Calibri"/>
                <a:cs typeface="Calibri"/>
              </a:rPr>
              <a:t>Hierarchy cuts feeder traffic</a:t>
            </a:r>
          </a:p>
          <a:p xmlns:a="http://schemas.openxmlformats.org/drawingml/2006/main">
            <a:pPr>
              <a:defRPr sz="1800" b="0">
                <a:solidFill>
                  <a:srgbClr val="58716A"/>
                </a:solidFill>
                <a:latin typeface="Calibri"/>
                <a:ea typeface="Calibri"/>
                <a:cs typeface="Calibri"/>
              </a:defRPr>
            </a:pPr>
            <a:r>
              <a:rPr sz="1800" b="0">
                <a:solidFill>
                  <a:srgbClr val="58716A"/>
                </a:solidFill>
                <a:latin typeface="Calibri"/>
                <a:ea typeface="Calibri"/>
                <a:cs typeface="Calibri"/>
              </a:rPr>
              <a:t>The extra hop adds total traffic</a:t>
            </a:r>
          </a:p>
        </p:txBody>
      </p:sp>
      <p:sp>
        <p:nvSpPr>
          <p:cNvPr id="8" name="">
            <a:extLst xmlns:a="http://schemas.openxmlformats.org/drawingml/2006/main">
              <a:ext uri="{FF2B5EF4-FFF2-40B4-BE49-F238E27FC236}">
                <a16:creationId xmlns:a16="http://schemas.microsoft.com/office/drawing/2014/main" id="{F919EBC9-3DB2-4EA8-BB86-24B2352B3CA0}"/>
              </a:ext>
            </a:extLst>
          </p:cNvPr>
          <p:cNvSpPr>
            <a:spLocks xmlns:a="http://schemas.openxmlformats.org/drawingml/2006/main" noGrp="1"/>
          </p:cNvSpPr>
          <p:nvPr/>
        </p:nvSpPr>
        <p:spPr>
          <a:xfrm xmlns:a="http://schemas.openxmlformats.org/drawingml/2006/main">
            <a:off x="609600" y="5886450"/>
            <a:ext cx="10953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8716A"/>
                </a:solidFill>
                <a:latin typeface="Calibri"/>
                <a:ea typeface="Calibri"/>
                <a:cs typeface="Calibri"/>
              </a:defRPr>
            </a:pPr>
            <a:r>
              <a:rPr sz="1725" b="0">
                <a:solidFill>
                  <a:srgbClr val="58716A"/>
                </a:solidFill>
                <a:latin typeface="Calibri"/>
                <a:ea typeface="Calibri"/>
                <a:cs typeface="Calibri"/>
              </a:rPr>
              <a:t>50–500 clients reuse compact data. Accuracy is illustrative, not 500-location validation.</a:t>
            </a:r>
          </a:p>
        </p:txBody>
      </p:sp>
    </p:spTree>
    <p:extLst>
      <p:ext uri="{BB962C8B-B14F-4D97-AF65-F5344CB8AC3E}">
        <p14:creationId xmlns:p14="http://schemas.microsoft.com/office/powerpoint/2010/main" val="2024102779"/>
      </p:ext>
    </p:extLst>
  </p:cSld>
</p:sld>
</file>

<file path=ppt/slides/slide8.xml><?xml version="1.0" encoding="utf-8"?>
<p:sld xmlns:p="http://schemas.openxmlformats.org/presentationml/2006/main">
  <p:cSld>
    <p:bg>
      <p:bgPr>
        <a:solidFill xmlns:a="http://schemas.openxmlformats.org/drawingml/2006/main">
          <a:srgbClr val="073B3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EF92F1F-323E-4F8E-AEC5-545019D30595}"/>
              </a:ext>
            </a:extLst>
          </p:cNvPr>
          <p:cNvSpPr>
            <a:spLocks xmlns:a="http://schemas.openxmlformats.org/drawingml/2006/main" noGrp="1"/>
          </p:cNvSpPr>
          <p:nvPr/>
        </p:nvSpPr>
        <p:spPr>
          <a:xfrm xmlns:a="http://schemas.openxmlformats.org/drawingml/2006/main">
            <a:off x="590550" y="466725"/>
            <a:ext cx="110109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research-based uncertainty margin</a:t>
            </a:r>
          </a:p>
        </p:txBody>
      </p:sp>
      <p:sp>
        <p:nvSpPr>
          <p:cNvPr id="2" name="">
            <a:extLst xmlns:a="http://schemas.openxmlformats.org/drawingml/2006/main">
              <a:ext uri="{FF2B5EF4-FFF2-40B4-BE49-F238E27FC236}">
                <a16:creationId xmlns:a16="http://schemas.microsoft.com/office/drawing/2014/main" id="{01B24AE5-AA88-43FF-98AB-C241F610BE55}"/>
              </a:ext>
            </a:extLst>
          </p:cNvPr>
          <p:cNvSpPr>
            <a:spLocks xmlns:a="http://schemas.openxmlformats.org/drawingml/2006/main" noGrp="1"/>
          </p:cNvSpPr>
          <p:nvPr/>
        </p:nvSpPr>
        <p:spPr>
          <a:xfrm xmlns:a="http://schemas.openxmlformats.org/drawingml/2006/main">
            <a:off x="609600" y="64674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BDD1C5"/>
                </a:solidFill>
                <a:latin typeface="Calibri"/>
                <a:ea typeface="Calibri"/>
                <a:cs typeface="Calibri"/>
              </a:defRPr>
            </a:pPr>
            <a:r>
              <a:rPr sz="975" b="0">
                <a:solidFill>
                  <a:srgbClr val="BDD1C5"/>
                </a:solidFill>
                <a:latin typeface="Calibri"/>
                <a:ea typeface="Calibri"/>
                <a:cs typeface="Calibri"/>
              </a:rPr>
              <a:t>GRIDMESH  /  TEAM BP</a:t>
            </a:r>
          </a:p>
        </p:txBody>
      </p:sp>
      <p:sp>
        <p:nvSpPr>
          <p:cNvPr id="3" name="">
            <a:extLst xmlns:a="http://schemas.openxmlformats.org/drawingml/2006/main">
              <a:ext uri="{FF2B5EF4-FFF2-40B4-BE49-F238E27FC236}">
                <a16:creationId xmlns:a16="http://schemas.microsoft.com/office/drawing/2014/main" id="{DAA2219E-C57B-4AFD-A53F-80C583C0B4ED}"/>
              </a:ext>
            </a:extLst>
          </p:cNvPr>
          <p:cNvSpPr>
            <a:spLocks xmlns:a="http://schemas.openxmlformats.org/drawingml/2006/main" noGrp="1"/>
          </p:cNvSpPr>
          <p:nvPr/>
        </p:nvSpPr>
        <p:spPr>
          <a:xfrm xmlns:a="http://schemas.openxmlformats.org/drawingml/2006/main">
            <a:off x="11144250" y="64293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CE56D"/>
                </a:solidFill>
                <a:latin typeface="Calibri"/>
                <a:ea typeface="Calibri"/>
                <a:cs typeface="Calibri"/>
              </a:defRPr>
            </a:pPr>
            <a:r>
              <a:rPr sz="1200" b="0">
                <a:solidFill>
                  <a:srgbClr val="BCE56D"/>
                </a:solidFill>
                <a:latin typeface="Calibri"/>
                <a:ea typeface="Calibri"/>
                <a:cs typeface="Calibri"/>
              </a:rPr>
              <a:t>08</a:t>
            </a:r>
          </a:p>
        </p:txBody>
      </p:sp>
      <p:sp>
        <p:nvSpPr>
          <p:cNvPr id="4" name="">
            <a:extLst xmlns:a="http://schemas.openxmlformats.org/drawingml/2006/main">
              <a:ext uri="{FF2B5EF4-FFF2-40B4-BE49-F238E27FC236}">
                <a16:creationId xmlns:a16="http://schemas.microsoft.com/office/drawing/2014/main" id="{E54AD1F6-8F2D-4B66-9C8D-253FBE171803}"/>
              </a:ext>
            </a:extLst>
          </p:cNvPr>
          <p:cNvSpPr>
            <a:spLocks xmlns:a="http://schemas.openxmlformats.org/drawingml/2006/main" noGrp="1"/>
          </p:cNvSpPr>
          <p:nvPr/>
        </p:nvSpPr>
        <p:spPr>
          <a:xfrm xmlns:a="http://schemas.openxmlformats.org/drawingml/2006/main">
            <a:off x="609600" y="1628775"/>
            <a:ext cx="1095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FFFFF"/>
                </a:solidFill>
                <a:latin typeface="Calibri"/>
                <a:ea typeface="Calibri"/>
                <a:cs typeface="Calibri"/>
              </a:defRPr>
            </a:pPr>
            <a:r>
              <a:rPr sz="2625" b="0">
                <a:solidFill>
                  <a:srgbClr val="FFFFFF"/>
                </a:solidFill>
                <a:latin typeface="Calibri"/>
                <a:ea typeface="Calibri"/>
                <a:cs typeface="Calibri"/>
              </a:rPr>
              <a:t>ε = actual solar − forecast solar</a:t>
            </a:r>
          </a:p>
        </p:txBody>
      </p:sp>
      <p:sp>
        <p:nvSpPr>
          <p:cNvPr id="5" name="">
            <a:extLst xmlns:a="http://schemas.openxmlformats.org/drawingml/2006/main">
              <a:ext uri="{FF2B5EF4-FFF2-40B4-BE49-F238E27FC236}">
                <a16:creationId xmlns:a16="http://schemas.microsoft.com/office/drawing/2014/main" id="{7C489BE9-3B2E-488A-ADF9-53C2C94A949B}"/>
              </a:ext>
            </a:extLst>
          </p:cNvPr>
          <p:cNvSpPr>
            <a:spLocks xmlns:a="http://schemas.openxmlformats.org/drawingml/2006/main" noGrp="1"/>
          </p:cNvSpPr>
          <p:nvPr/>
        </p:nvSpPr>
        <p:spPr>
          <a:xfrm xmlns:a="http://schemas.openxmlformats.org/drawingml/2006/main">
            <a:off x="609600" y="2590800"/>
            <a:ext cx="109537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1">
                <a:solidFill>
                  <a:srgbClr val="BCE56D"/>
                </a:solidFill>
                <a:latin typeface="Calibri"/>
                <a:ea typeface="Calibri"/>
                <a:cs typeface="Calibri"/>
              </a:defRPr>
            </a:pPr>
            <a:r>
              <a:rPr sz="4425" b="1">
                <a:solidFill>
                  <a:srgbClr val="BCE56D"/>
                </a:solidFill>
                <a:latin typeface="Calibri"/>
                <a:ea typeface="Calibri"/>
                <a:cs typeface="Calibri"/>
              </a:rPr>
              <a:t>m = max(0, Φ⁻¹(1 − δ) σ − μ)</a:t>
            </a:r>
          </a:p>
        </p:txBody>
      </p:sp>
      <p:sp>
        <p:nvSpPr>
          <p:cNvPr id="6" name="">
            <a:extLst xmlns:a="http://schemas.openxmlformats.org/drawingml/2006/main">
              <a:ext uri="{FF2B5EF4-FFF2-40B4-BE49-F238E27FC236}">
                <a16:creationId xmlns:a16="http://schemas.microsoft.com/office/drawing/2014/main" id="{03FC455A-6324-4329-AD1A-54917D8A09D7}"/>
              </a:ext>
            </a:extLst>
          </p:cNvPr>
          <p:cNvSpPr>
            <a:spLocks xmlns:a="http://schemas.openxmlformats.org/drawingml/2006/main" noGrp="1"/>
          </p:cNvSpPr>
          <p:nvPr/>
        </p:nvSpPr>
        <p:spPr>
          <a:xfrm xmlns:a="http://schemas.openxmlformats.org/drawingml/2006/main">
            <a:off x="609600" y="3762375"/>
            <a:ext cx="1095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Calibri"/>
                <a:ea typeface="Calibri"/>
                <a:cs typeface="Calibri"/>
              </a:defRPr>
            </a:pPr>
            <a:r>
              <a:rPr sz="2250" b="0">
                <a:solidFill>
                  <a:srgbClr val="FFFFFF"/>
                </a:solidFill>
                <a:latin typeface="Calibri"/>
                <a:ea typeface="Calibri"/>
                <a:cs typeface="Calibri"/>
              </a:rPr>
              <a:t>At δ = 0.05, z = 1.645</a:t>
            </a:r>
          </a:p>
        </p:txBody>
      </p:sp>
      <p:sp>
        <p:nvSpPr>
          <p:cNvPr id="7" name="">
            <a:extLst xmlns:a="http://schemas.openxmlformats.org/drawingml/2006/main">
              <a:ext uri="{FF2B5EF4-FFF2-40B4-BE49-F238E27FC236}">
                <a16:creationId xmlns:a16="http://schemas.microsoft.com/office/drawing/2014/main" id="{3BE38F01-260B-406E-A546-7DF6FFA2BAE4}"/>
              </a:ext>
            </a:extLst>
          </p:cNvPr>
          <p:cNvSpPr>
            <a:spLocks xmlns:a="http://schemas.openxmlformats.org/drawingml/2006/main" noGrp="1"/>
          </p:cNvSpPr>
          <p:nvPr/>
        </p:nvSpPr>
        <p:spPr>
          <a:xfrm xmlns:a="http://schemas.openxmlformats.org/drawingml/2006/main">
            <a:off x="609600" y="454342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FFFFFF"/>
                </a:solidFill>
                <a:latin typeface="Calibri"/>
                <a:ea typeface="Calibri"/>
                <a:cs typeface="Calibri"/>
              </a:defRPr>
            </a:pPr>
            <a:r>
              <a:rPr sz="2025" b="0">
                <a:solidFill>
                  <a:srgbClr val="FFFFFF"/>
                </a:solidFill>
                <a:latin typeface="Calibri"/>
                <a:ea typeface="Calibri"/>
                <a:cs typeface="Calibri"/>
              </a:rPr>
              <a:t>Illustrative: μ = −2 kW, σ = 6 kW</a:t>
            </a:r>
          </a:p>
        </p:txBody>
      </p:sp>
      <p:sp>
        <p:nvSpPr>
          <p:cNvPr id="8" name="">
            <a:extLst xmlns:a="http://schemas.openxmlformats.org/drawingml/2006/main">
              <a:ext uri="{FF2B5EF4-FFF2-40B4-BE49-F238E27FC236}">
                <a16:creationId xmlns:a16="http://schemas.microsoft.com/office/drawing/2014/main" id="{4FC88A04-127D-4DE3-8428-C3664C4036CF}"/>
              </a:ext>
            </a:extLst>
          </p:cNvPr>
          <p:cNvSpPr>
            <a:spLocks xmlns:a="http://schemas.openxmlformats.org/drawingml/2006/main" noGrp="1"/>
          </p:cNvSpPr>
          <p:nvPr/>
        </p:nvSpPr>
        <p:spPr>
          <a:xfrm xmlns:a="http://schemas.openxmlformats.org/drawingml/2006/main">
            <a:off x="609600" y="5133975"/>
            <a:ext cx="10953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FFFFFF"/>
                </a:solidFill>
                <a:latin typeface="Calibri"/>
                <a:ea typeface="Calibri"/>
                <a:cs typeface="Calibri"/>
              </a:defRPr>
            </a:pPr>
            <a:r>
              <a:rPr sz="2325" b="1">
                <a:solidFill>
                  <a:srgbClr val="FFFFFF"/>
                </a:solidFill>
                <a:latin typeface="Calibri"/>
                <a:ea typeface="Calibri"/>
                <a:cs typeface="Calibri"/>
              </a:rPr>
              <a:t>m = 11.87 kW, added to a 20 kW expected gap</a:t>
            </a:r>
          </a:p>
        </p:txBody>
      </p:sp>
      <p:sp>
        <p:nvSpPr>
          <p:cNvPr id="9" name="">
            <a:extLst xmlns:a="http://schemas.openxmlformats.org/drawingml/2006/main">
              <a:ext uri="{FF2B5EF4-FFF2-40B4-BE49-F238E27FC236}">
                <a16:creationId xmlns:a16="http://schemas.microsoft.com/office/drawing/2014/main" id="{D60009D7-E28A-48D9-A129-03CF5D224DE9}"/>
              </a:ext>
            </a:extLst>
          </p:cNvPr>
          <p:cNvSpPr>
            <a:spLocks xmlns:a="http://schemas.openxmlformats.org/drawingml/2006/main" noGrp="1"/>
          </p:cNvSpPr>
          <p:nvPr/>
        </p:nvSpPr>
        <p:spPr>
          <a:xfrm xmlns:a="http://schemas.openxmlformats.org/drawingml/2006/main">
            <a:off x="609600" y="573405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3E4D9"/>
                </a:solidFill>
                <a:latin typeface="Calibri"/>
                <a:ea typeface="Calibri"/>
                <a:cs typeface="Calibri"/>
              </a:defRPr>
            </a:pPr>
            <a:r>
              <a:rPr sz="1650" b="0">
                <a:solidFill>
                  <a:srgbClr val="D3E4D9"/>
                </a:solidFill>
                <a:latin typeface="Calibri"/>
                <a:ea typeface="Calibri"/>
                <a:cs typeface="Calibri"/>
              </a:rPr>
              <a:t>Only already-observable aggregate errors enter calibration. 95% margin ≠ 95% uptime.</a:t>
            </a:r>
          </a:p>
        </p:txBody>
      </p:sp>
      <p:sp>
        <p:nvSpPr>
          <p:cNvPr id="10" name="">
            <a:extLst xmlns:a="http://schemas.openxmlformats.org/drawingml/2006/main">
              <a:ext uri="{FF2B5EF4-FFF2-40B4-BE49-F238E27FC236}">
                <a16:creationId xmlns:a16="http://schemas.microsoft.com/office/drawing/2014/main" id="{50953B6F-EC12-41C1-BEA0-7A231A59586D}"/>
              </a:ext>
            </a:extLst>
          </p:cNvPr>
          <p:cNvSpPr>
            <a:spLocks xmlns:a="http://schemas.openxmlformats.org/drawingml/2006/main" noGrp="1"/>
          </p:cNvSpPr>
          <p:nvPr/>
        </p:nvSpPr>
        <p:spPr>
          <a:xfrm xmlns:a="http://schemas.openxmlformats.org/drawingml/2006/main">
            <a:off x="609600" y="6200775"/>
            <a:ext cx="10858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DD1C5"/>
                </a:solidFill>
                <a:latin typeface="Calibri"/>
                <a:ea typeface="Calibri"/>
                <a:cs typeface="Calibri"/>
              </a:defRPr>
            </a:pPr>
            <a:r>
              <a:rPr sz="1275" b="0">
                <a:solidFill>
                  <a:srgbClr val="BDD1C5"/>
                </a:solidFill>
                <a:latin typeface="Calibri"/>
                <a:ea typeface="Calibri"/>
                <a:cs typeface="Calibri"/>
              </a:rPr>
              <a:t>Khaing, Kannan &amp; Rao, Clean Energy (2026), Theorem 4.3, Eq. 62</a:t>
            </a:r>
          </a:p>
        </p:txBody>
      </p:sp>
    </p:spTree>
    <p:extLst>
      <p:ext uri="{BB962C8B-B14F-4D97-AF65-F5344CB8AC3E}">
        <p14:creationId xmlns:p14="http://schemas.microsoft.com/office/powerpoint/2010/main" val="623892641"/>
      </p:ext>
    </p:extLst>
  </p:cSld>
</p:sld>
</file>

<file path=ppt/slides/slide9.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8E97925B-3CE4-4A53-B07D-467FC94B821F}"/>
              </a:ext>
            </a:extLst>
          </p:cNvPr>
          <p:cNvSpPr>
            <a:spLocks xmlns:a="http://schemas.openxmlformats.org/drawingml/2006/main" noGrp="1"/>
          </p:cNvSpPr>
          <p:nvPr/>
        </p:nvSpPr>
        <p:spPr>
          <a:xfrm xmlns:a="http://schemas.openxmlformats.org/drawingml/2006/main">
            <a:off x="590550" y="466725"/>
            <a:ext cx="110109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73B35"/>
                </a:solidFill>
                <a:latin typeface="Calibri"/>
                <a:ea typeface="Calibri"/>
                <a:cs typeface="Calibri"/>
              </a:defRPr>
            </a:pPr>
            <a:r>
              <a:rPr sz="3150" b="1">
                <a:solidFill>
                  <a:srgbClr val="073B35"/>
                </a:solidFill>
                <a:latin typeface="Calibri"/>
                <a:ea typeface="Calibri"/>
                <a:cs typeface="Calibri"/>
              </a:rPr>
              <a:t>Constrained reserve scheduling</a:t>
            </a:r>
          </a:p>
        </p:txBody>
      </p:sp>
      <p:sp>
        <p:nvSpPr>
          <p:cNvPr id="2" name="">
            <a:extLst xmlns:a="http://schemas.openxmlformats.org/drawingml/2006/main">
              <a:ext uri="{FF2B5EF4-FFF2-40B4-BE49-F238E27FC236}">
                <a16:creationId xmlns:a16="http://schemas.microsoft.com/office/drawing/2014/main" id="{3EF2BB5F-E141-4285-A51A-37F88DA8C7FD}"/>
              </a:ext>
            </a:extLst>
          </p:cNvPr>
          <p:cNvSpPr>
            <a:spLocks xmlns:a="http://schemas.openxmlformats.org/drawingml/2006/main" noGrp="1"/>
          </p:cNvSpPr>
          <p:nvPr/>
        </p:nvSpPr>
        <p:spPr>
          <a:xfrm xmlns:a="http://schemas.openxmlformats.org/drawingml/2006/main">
            <a:off x="609600" y="64674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8716A"/>
                </a:solidFill>
                <a:latin typeface="Calibri"/>
                <a:ea typeface="Calibri"/>
                <a:cs typeface="Calibri"/>
              </a:defRPr>
            </a:pPr>
            <a:r>
              <a:rPr sz="975" b="0">
                <a:solidFill>
                  <a:srgbClr val="58716A"/>
                </a:solidFill>
                <a:latin typeface="Calibri"/>
                <a:ea typeface="Calibri"/>
                <a:cs typeface="Calibri"/>
              </a:rPr>
              <a:t>GRIDMESH  /  TEAM BP</a:t>
            </a:r>
          </a:p>
        </p:txBody>
      </p:sp>
      <p:sp>
        <p:nvSpPr>
          <p:cNvPr id="3" name="">
            <a:extLst xmlns:a="http://schemas.openxmlformats.org/drawingml/2006/main">
              <a:ext uri="{FF2B5EF4-FFF2-40B4-BE49-F238E27FC236}">
                <a16:creationId xmlns:a16="http://schemas.microsoft.com/office/drawing/2014/main" id="{D322F1CE-DE31-41E0-8EA9-13E0804C9C87}"/>
              </a:ext>
            </a:extLst>
          </p:cNvPr>
          <p:cNvSpPr>
            <a:spLocks xmlns:a="http://schemas.openxmlformats.org/drawingml/2006/main" noGrp="1"/>
          </p:cNvSpPr>
          <p:nvPr/>
        </p:nvSpPr>
        <p:spPr>
          <a:xfrm xmlns:a="http://schemas.openxmlformats.org/drawingml/2006/main">
            <a:off x="11144250" y="64293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8716A"/>
                </a:solidFill>
                <a:latin typeface="Calibri"/>
                <a:ea typeface="Calibri"/>
                <a:cs typeface="Calibri"/>
              </a:defRPr>
            </a:pPr>
            <a:r>
              <a:rPr sz="1200" b="0">
                <a:solidFill>
                  <a:srgbClr val="58716A"/>
                </a:solidFill>
                <a:latin typeface="Calibri"/>
                <a:ea typeface="Calibri"/>
                <a:cs typeface="Calibri"/>
              </a:rPr>
              <a:t>09</a:t>
            </a:r>
          </a:p>
        </p:txBody>
      </p:sp>
      <p:sp>
        <p:nvSpPr>
          <p:cNvPr id="4" name="">
            <a:extLst xmlns:a="http://schemas.openxmlformats.org/drawingml/2006/main">
              <a:ext uri="{FF2B5EF4-FFF2-40B4-BE49-F238E27FC236}">
                <a16:creationId xmlns:a16="http://schemas.microsoft.com/office/drawing/2014/main" id="{7F696F3D-9F6C-4BBB-83F8-BD652AA6D762}"/>
              </a:ext>
            </a:extLst>
          </p:cNvPr>
          <p:cNvSpPr>
            <a:spLocks xmlns:a="http://schemas.openxmlformats.org/drawingml/2006/main" noGrp="1"/>
          </p:cNvSpPr>
          <p:nvPr/>
        </p:nvSpPr>
        <p:spPr>
          <a:xfrm xmlns:a="http://schemas.openxmlformats.org/drawingml/2006/main">
            <a:off x="609600" y="1619250"/>
            <a:ext cx="109061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73B35"/>
                </a:solidFill>
                <a:latin typeface="Calibri"/>
                <a:ea typeface="Calibri"/>
                <a:cs typeface="Calibri"/>
              </a:defRPr>
            </a:pPr>
            <a:r>
              <a:rPr sz="2325" b="1">
                <a:solidFill>
                  <a:srgbClr val="073B35"/>
                </a:solidFill>
                <a:latin typeface="Calibri"/>
                <a:ea typeface="Calibri"/>
                <a:cs typeface="Calibri"/>
              </a:rPr>
              <a:t>Expected gap g = max(0, demand − grid − forecast solar)</a:t>
            </a:r>
          </a:p>
        </p:txBody>
      </p:sp>
      <p:sp>
        <p:nvSpPr>
          <p:cNvPr id="5" name="">
            <a:extLst xmlns:a="http://schemas.openxmlformats.org/drawingml/2006/main">
              <a:ext uri="{FF2B5EF4-FFF2-40B4-BE49-F238E27FC236}">
                <a16:creationId xmlns:a16="http://schemas.microsoft.com/office/drawing/2014/main" id="{D402CF82-3CC1-4688-A708-78E3D1E3DF84}"/>
              </a:ext>
            </a:extLst>
          </p:cNvPr>
          <p:cNvSpPr>
            <a:spLocks xmlns:a="http://schemas.openxmlformats.org/drawingml/2006/main" noGrp="1"/>
          </p:cNvSpPr>
          <p:nvPr/>
        </p:nvSpPr>
        <p:spPr>
          <a:xfrm xmlns:a="http://schemas.openxmlformats.org/drawingml/2006/main">
            <a:off x="609600" y="2333625"/>
            <a:ext cx="109061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4E7D61"/>
                </a:solidFill>
                <a:latin typeface="Calibri"/>
                <a:ea typeface="Calibri"/>
                <a:cs typeface="Calibri"/>
              </a:defRPr>
            </a:pPr>
            <a:r>
              <a:rPr sz="2325" b="1">
                <a:solidFill>
                  <a:srgbClr val="4E7D61"/>
                </a:solidFill>
                <a:latin typeface="Calibri"/>
                <a:ea typeface="Calibri"/>
                <a:cs typeface="Calibri"/>
              </a:rPr>
              <a:t>Required backup = g + uncertainty margin</a:t>
            </a:r>
          </a:p>
        </p:txBody>
      </p:sp>
      <p:sp>
        <p:nvSpPr>
          <p:cNvPr id="6" name="">
            <a:extLst xmlns:a="http://schemas.openxmlformats.org/drawingml/2006/main">
              <a:ext uri="{FF2B5EF4-FFF2-40B4-BE49-F238E27FC236}">
                <a16:creationId xmlns:a16="http://schemas.microsoft.com/office/drawing/2014/main" id="{CE88114A-8E0F-40A8-B204-9B2A419B9CF0}"/>
              </a:ext>
            </a:extLst>
          </p:cNvPr>
          <p:cNvSpPr>
            <a:spLocks xmlns:a="http://schemas.openxmlformats.org/drawingml/2006/main" noGrp="1"/>
          </p:cNvSpPr>
          <p:nvPr/>
        </p:nvSpPr>
        <p:spPr>
          <a:xfrm xmlns:a="http://schemas.openxmlformats.org/drawingml/2006/main">
            <a:off x="609600" y="3067050"/>
            <a:ext cx="10953750" cy="0"/>
          </a:xfrm>
          <a:prstGeom xmlns:a="http://schemas.openxmlformats.org/drawingml/2006/main" prst="line">
            <a:avLst/>
          </a:prstGeom>
          <a:ln xmlns:a="http://schemas.openxmlformats.org/drawingml/2006/main" w="19050">
            <a:solidFill>
              <a:srgbClr val="CBD8CF"/>
            </a:solidFill>
          </a:ln>
        </p:spPr>
      </p:sp>
      <p:sp>
        <p:nvSpPr>
          <p:cNvPr id="7" name="">
            <a:extLst xmlns:a="http://schemas.openxmlformats.org/drawingml/2006/main">
              <a:ext uri="{FF2B5EF4-FFF2-40B4-BE49-F238E27FC236}">
                <a16:creationId xmlns:a16="http://schemas.microsoft.com/office/drawing/2014/main" id="{2C7F341E-667D-455B-9F03-5286E1DA2990}"/>
              </a:ext>
            </a:extLst>
          </p:cNvPr>
          <p:cNvSpPr>
            <a:spLocks xmlns:a="http://schemas.openxmlformats.org/drawingml/2006/main" noGrp="1"/>
          </p:cNvSpPr>
          <p:nvPr/>
        </p:nvSpPr>
        <p:spPr>
          <a:xfrm xmlns:a="http://schemas.openxmlformats.org/drawingml/2006/main">
            <a:off x="609600" y="3486150"/>
            <a:ext cx="2952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58716A"/>
                </a:solidFill>
                <a:latin typeface="Calibri"/>
                <a:ea typeface="Calibri"/>
                <a:cs typeface="Calibri"/>
              </a:defRPr>
            </a:pPr>
            <a:r>
              <a:rPr sz="1500" b="1">
                <a:solidFill>
                  <a:srgbClr val="58716A"/>
                </a:solidFill>
                <a:latin typeface="Calibri"/>
                <a:ea typeface="Calibri"/>
                <a:cs typeface="Calibri"/>
              </a:rPr>
              <a:t>MINIMIZE</a:t>
            </a:r>
          </a:p>
        </p:txBody>
      </p:sp>
      <p:sp>
        <p:nvSpPr>
          <p:cNvPr id="8" name="">
            <a:extLst xmlns:a="http://schemas.openxmlformats.org/drawingml/2006/main">
              <a:ext uri="{FF2B5EF4-FFF2-40B4-BE49-F238E27FC236}">
                <a16:creationId xmlns:a16="http://schemas.microsoft.com/office/drawing/2014/main" id="{45C2B4F1-64F7-4974-AD32-238685D2CA85}"/>
              </a:ext>
            </a:extLst>
          </p:cNvPr>
          <p:cNvSpPr>
            <a:spLocks xmlns:a="http://schemas.openxmlformats.org/drawingml/2006/main" noGrp="1"/>
          </p:cNvSpPr>
          <p:nvPr/>
        </p:nvSpPr>
        <p:spPr>
          <a:xfrm xmlns:a="http://schemas.openxmlformats.org/drawingml/2006/main">
            <a:off x="609600" y="3971925"/>
            <a:ext cx="108394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073B35"/>
                </a:solidFill>
                <a:latin typeface="Calibri"/>
                <a:ea typeface="Calibri"/>
                <a:cs typeface="Calibri"/>
              </a:defRPr>
            </a:pPr>
            <a:r>
              <a:rPr sz="2550" b="1">
                <a:solidFill>
                  <a:srgbClr val="073B35"/>
                </a:solidFill>
                <a:latin typeface="Calibri"/>
                <a:ea typeface="Calibri"/>
                <a:cs typeface="Calibri"/>
              </a:rPr>
              <a:t>Σ Δt (backup cost × q + gap penalty × u)</a:t>
            </a:r>
          </a:p>
        </p:txBody>
      </p:sp>
      <p:sp>
        <p:nvSpPr>
          <p:cNvPr id="9" name="">
            <a:extLst xmlns:a="http://schemas.openxmlformats.org/drawingml/2006/main">
              <a:ext uri="{FF2B5EF4-FFF2-40B4-BE49-F238E27FC236}">
                <a16:creationId xmlns:a16="http://schemas.microsoft.com/office/drawing/2014/main" id="{89B7E5D4-0FD1-497D-A27C-BC787391B05F}"/>
              </a:ext>
            </a:extLst>
          </p:cNvPr>
          <p:cNvSpPr>
            <a:spLocks xmlns:a="http://schemas.openxmlformats.org/drawingml/2006/main" noGrp="1"/>
          </p:cNvSpPr>
          <p:nvPr/>
        </p:nvSpPr>
        <p:spPr>
          <a:xfrm xmlns:a="http://schemas.openxmlformats.org/drawingml/2006/main">
            <a:off x="609600" y="4848225"/>
            <a:ext cx="6048375"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073B35"/>
                </a:solidFill>
                <a:latin typeface="Calibri"/>
                <a:ea typeface="Calibri"/>
                <a:cs typeface="Calibri"/>
              </a:defRPr>
            </a:pPr>
            <a:r>
              <a:rPr sz="2175" b="0">
                <a:solidFill>
                  <a:srgbClr val="073B35"/>
                </a:solidFill>
                <a:latin typeface="Calibri"/>
                <a:ea typeface="Calibri"/>
                <a:cs typeface="Calibri"/>
              </a:rPr>
              <a:t>q + u ≥ g + m</a:t>
            </a:r>
          </a:p>
          <a:p xmlns:a="http://schemas.openxmlformats.org/drawingml/2006/main">
            <a:pPr>
              <a:defRPr sz="2175" b="0">
                <a:solidFill>
                  <a:srgbClr val="073B35"/>
                </a:solidFill>
                <a:latin typeface="Calibri"/>
                <a:ea typeface="Calibri"/>
                <a:cs typeface="Calibri"/>
              </a:defRPr>
            </a:pPr>
            <a:r>
              <a:rPr sz="2175" b="0">
                <a:solidFill>
                  <a:srgbClr val="073B35"/>
                </a:solidFill>
                <a:latin typeface="Calibri"/>
                <a:ea typeface="Calibri"/>
                <a:cs typeface="Calibri"/>
              </a:rPr>
              <a:t>0 ≤ q ≤ power limit</a:t>
            </a:r>
          </a:p>
          <a:p xmlns:a="http://schemas.openxmlformats.org/drawingml/2006/main">
            <a:pPr>
              <a:defRPr sz="2175" b="0">
                <a:solidFill>
                  <a:srgbClr val="073B35"/>
                </a:solidFill>
                <a:latin typeface="Calibri"/>
                <a:ea typeface="Calibri"/>
                <a:cs typeface="Calibri"/>
              </a:defRPr>
            </a:pPr>
            <a:r>
              <a:rPr sz="2175" b="0">
                <a:solidFill>
                  <a:srgbClr val="073B35"/>
                </a:solidFill>
                <a:latin typeface="Calibri"/>
                <a:ea typeface="Calibri"/>
                <a:cs typeface="Calibri"/>
              </a:rPr>
              <a:t>Σ q Δt ≤ daily energy budget</a:t>
            </a:r>
          </a:p>
        </p:txBody>
      </p:sp>
      <p:sp>
        <p:nvSpPr>
          <p:cNvPr id="10" name="">
            <a:extLst xmlns:a="http://schemas.openxmlformats.org/drawingml/2006/main">
              <a:ext uri="{FF2B5EF4-FFF2-40B4-BE49-F238E27FC236}">
                <a16:creationId xmlns:a16="http://schemas.microsoft.com/office/drawing/2014/main" id="{F9DAFEB0-1DD9-45F2-A1B1-BAA7759930E3}"/>
              </a:ext>
            </a:extLst>
          </p:cNvPr>
          <p:cNvSpPr>
            <a:spLocks xmlns:a="http://schemas.openxmlformats.org/drawingml/2006/main" noGrp="1"/>
          </p:cNvSpPr>
          <p:nvPr/>
        </p:nvSpPr>
        <p:spPr>
          <a:xfrm xmlns:a="http://schemas.openxmlformats.org/drawingml/2006/main">
            <a:off x="7239000" y="4791075"/>
            <a:ext cx="432435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BB5B52"/>
                </a:solidFill>
                <a:latin typeface="Calibri"/>
                <a:ea typeface="Calibri"/>
                <a:cs typeface="Calibri"/>
              </a:defRPr>
            </a:pPr>
            <a:r>
              <a:rPr sz="2175" b="1">
                <a:solidFill>
                  <a:srgbClr val="BB5B52"/>
                </a:solidFill>
                <a:latin typeface="Calibri"/>
                <a:ea typeface="Calibri"/>
                <a:cs typeface="Calibri"/>
              </a:rPr>
              <a:t>Any uncovered requirement</a:t>
            </a:r>
          </a:p>
          <a:p xmlns:a="http://schemas.openxmlformats.org/drawingml/2006/main">
            <a:pPr>
              <a:defRPr sz="2175" b="1">
                <a:solidFill>
                  <a:srgbClr val="BB5B52"/>
                </a:solidFill>
                <a:latin typeface="Calibri"/>
                <a:ea typeface="Calibri"/>
                <a:cs typeface="Calibri"/>
              </a:defRPr>
            </a:pPr>
            <a:r>
              <a:rPr sz="2175" b="1">
                <a:solidFill>
                  <a:srgbClr val="BB5B52"/>
                </a:solidFill>
                <a:latin typeface="Calibri"/>
                <a:ea typeface="Calibri"/>
                <a:cs typeface="Calibri"/>
              </a:rPr>
              <a:t>remains a visible capacity warning</a:t>
            </a:r>
          </a:p>
        </p:txBody>
      </p:sp>
      <p:sp>
        <p:nvSpPr>
          <p:cNvPr id="11" name="">
            <a:extLst xmlns:a="http://schemas.openxmlformats.org/drawingml/2006/main">
              <a:ext uri="{FF2B5EF4-FFF2-40B4-BE49-F238E27FC236}">
                <a16:creationId xmlns:a16="http://schemas.microsoft.com/office/drawing/2014/main" id="{EAA820D0-90B7-4B61-BF2C-D0F57D5B465B}"/>
              </a:ext>
            </a:extLst>
          </p:cNvPr>
          <p:cNvSpPr>
            <a:spLocks xmlns:a="http://schemas.openxmlformats.org/drawingml/2006/main" noGrp="1"/>
          </p:cNvSpPr>
          <p:nvPr/>
        </p:nvSpPr>
        <p:spPr>
          <a:xfrm xmlns:a="http://schemas.openxmlformats.org/drawingml/2006/main">
            <a:off x="609600" y="6153150"/>
            <a:ext cx="10906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8716A"/>
                </a:solidFill>
                <a:latin typeface="Calibri"/>
                <a:ea typeface="Calibri"/>
                <a:cs typeface="Calibri"/>
              </a:defRPr>
            </a:pPr>
            <a:r>
              <a:rPr sz="1425" b="0">
                <a:solidFill>
                  <a:srgbClr val="58716A"/>
                </a:solidFill>
                <a:latin typeface="Calibri"/>
                <a:ea typeface="Calibri"/>
                <a:cs typeface="Calibri"/>
              </a:rPr>
              <a:t>Retrospective daily benchmark. Live operation needs rolling planning and approved control.</a:t>
            </a:r>
          </a:p>
        </p:txBody>
      </p:sp>
    </p:spTree>
    <p:extLst>
      <p:ext uri="{BB962C8B-B14F-4D97-AF65-F5344CB8AC3E}">
        <p14:creationId xmlns:p14="http://schemas.microsoft.com/office/powerpoint/2010/main" val="1946130524"/>
      </p:ext>
    </p:extLst>
  </p:cSld>
</p:sld>
</file>

<file path=ppt/slides/slide10.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CE916E4-BBA6-4F1D-98F8-05BCEB79A831}"/>
              </a:ext>
            </a:extLst>
          </p:cNvPr>
          <p:cNvSpPr>
            <a:spLocks xmlns:a="http://schemas.openxmlformats.org/drawingml/2006/main" noGrp="1"/>
          </p:cNvSpPr>
          <p:nvPr/>
        </p:nvSpPr>
        <p:spPr>
          <a:xfrm xmlns:a="http://schemas.openxmlformats.org/drawingml/2006/main">
            <a:off x="590550" y="466725"/>
            <a:ext cx="110109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73B35"/>
                </a:solidFill>
                <a:latin typeface="Calibri"/>
                <a:ea typeface="Calibri"/>
                <a:cs typeface="Calibri"/>
              </a:defRPr>
            </a:pPr>
            <a:r>
              <a:rPr sz="3150" b="1">
                <a:solidFill>
                  <a:srgbClr val="073B35"/>
                </a:solidFill>
                <a:latin typeface="Calibri"/>
                <a:ea typeface="Calibri"/>
                <a:cs typeface="Calibri"/>
              </a:rPr>
              <a:t>Forecasts change reserve outcomes</a:t>
            </a:r>
          </a:p>
        </p:txBody>
      </p:sp>
      <p:sp>
        <p:nvSpPr>
          <p:cNvPr id="2" name="">
            <a:extLst xmlns:a="http://schemas.openxmlformats.org/drawingml/2006/main">
              <a:ext uri="{FF2B5EF4-FFF2-40B4-BE49-F238E27FC236}">
                <a16:creationId xmlns:a16="http://schemas.microsoft.com/office/drawing/2014/main" id="{C0D7320D-63BC-4887-8D1C-E6413A8EC148}"/>
              </a:ext>
            </a:extLst>
          </p:cNvPr>
          <p:cNvSpPr>
            <a:spLocks xmlns:a="http://schemas.openxmlformats.org/drawingml/2006/main" noGrp="1"/>
          </p:cNvSpPr>
          <p:nvPr/>
        </p:nvSpPr>
        <p:spPr>
          <a:xfrm xmlns:a="http://schemas.openxmlformats.org/drawingml/2006/main">
            <a:off x="609600" y="64674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8716A"/>
                </a:solidFill>
                <a:latin typeface="Calibri"/>
                <a:ea typeface="Calibri"/>
                <a:cs typeface="Calibri"/>
              </a:defRPr>
            </a:pPr>
            <a:r>
              <a:rPr sz="975" b="0">
                <a:solidFill>
                  <a:srgbClr val="58716A"/>
                </a:solidFill>
                <a:latin typeface="Calibri"/>
                <a:ea typeface="Calibri"/>
                <a:cs typeface="Calibri"/>
              </a:rPr>
              <a:t>GRIDMESH  /  TEAM BP</a:t>
            </a:r>
          </a:p>
        </p:txBody>
      </p:sp>
      <p:sp>
        <p:nvSpPr>
          <p:cNvPr id="3" name="">
            <a:extLst xmlns:a="http://schemas.openxmlformats.org/drawingml/2006/main">
              <a:ext uri="{FF2B5EF4-FFF2-40B4-BE49-F238E27FC236}">
                <a16:creationId xmlns:a16="http://schemas.microsoft.com/office/drawing/2014/main" id="{22EEF2CB-C932-489E-8711-ABE7A198D52C}"/>
              </a:ext>
            </a:extLst>
          </p:cNvPr>
          <p:cNvSpPr>
            <a:spLocks xmlns:a="http://schemas.openxmlformats.org/drawingml/2006/main" noGrp="1"/>
          </p:cNvSpPr>
          <p:nvPr/>
        </p:nvSpPr>
        <p:spPr>
          <a:xfrm xmlns:a="http://schemas.openxmlformats.org/drawingml/2006/main">
            <a:off x="11144250" y="64293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8716A"/>
                </a:solidFill>
                <a:latin typeface="Calibri"/>
                <a:ea typeface="Calibri"/>
                <a:cs typeface="Calibri"/>
              </a:defRPr>
            </a:pPr>
            <a:r>
              <a:rPr sz="1200" b="0">
                <a:solidFill>
                  <a:srgbClr val="58716A"/>
                </a:solidFill>
                <a:latin typeface="Calibri"/>
                <a:ea typeface="Calibri"/>
                <a:cs typeface="Calibri"/>
              </a:rPr>
              <a:t>10</a:t>
            </a:r>
          </a:p>
        </p:txBody>
      </p:sp>
      <p:graphicFrame>
        <p:nvGraphicFramePr>
          <p:cNvPr id="15" name=""/>
          <p:cNvGraphicFramePr/>
          <p:nvPr/>
        </p:nvGraphicFramePr>
        <p:xfrm>
          <a:off xmlns:a="http://schemas.openxmlformats.org/drawingml/2006/main" x="609600" y="1790700"/>
          <a:ext xmlns:a="http://schemas.openxmlformats.org/drawingml/2006/main" cx="10953750" cy="2914650"/>
        </p:xfrm>
        <a:graphic xmlns:a="http://schemas.openxmlformats.org/drawingml/2006/main">
          <a:graphicData uri="http://schemas.openxmlformats.org/drawingml/2006/table">
            <a:tbl>
              <a:tblPr/>
              <a:tblGrid>
                <a:gridCol w="4000500"/>
                <a:gridCol w="2286000"/>
                <a:gridCol w="2476500"/>
                <a:gridCol w="2190750"/>
              </a:tblGrid>
              <a:tr h="582930">
                <a:tc>
                  <a:txBody>
                    <a:bodyPr/>
                    <a:lstStyle/>
                    <a:p>
                      <a:r>
                        <a:rPr sz="1875" b="1">
                          <a:solidFill>
                            <a:srgbClr val="FFFFFF"/>
                          </a:solidFill>
                          <a:latin typeface="Calibri"/>
                          <a:ea typeface="Calibri"/>
                          <a:cs typeface="Calibri"/>
                        </a:rPr>
                        <a:t>Forecast / policy</a:t>
                      </a:r>
                    </a:p>
                  </a:txBody>
                  <a:tcPr marL="91440" marR="91440" marT="45720" marB="45720">
                    <a:solidFill>
                      <a:srgbClr val="073B35"/>
                    </a:solidFill>
                  </a:tcPr>
                </a:tc>
                <a:tc>
                  <a:txBody>
                    <a:bodyPr/>
                    <a:lstStyle/>
                    <a:p>
                      <a:r>
                        <a:rPr sz="1875" b="1">
                          <a:solidFill>
                            <a:srgbClr val="FFFFFF"/>
                          </a:solidFill>
                          <a:latin typeface="Calibri"/>
                          <a:ea typeface="Calibri"/>
                          <a:cs typeface="Calibri"/>
                        </a:rPr>
                        <a:t>Backup, MWh</a:t>
                      </a:r>
                    </a:p>
                  </a:txBody>
                  <a:tcPr marL="91440" marR="91440" marT="45720" marB="45720">
                    <a:solidFill>
                      <a:srgbClr val="073B35"/>
                    </a:solidFill>
                  </a:tcPr>
                </a:tc>
                <a:tc>
                  <a:txBody>
                    <a:bodyPr/>
                    <a:lstStyle/>
                    <a:p>
                      <a:r>
                        <a:rPr sz="1875" b="1">
                          <a:solidFill>
                            <a:srgbClr val="FFFFFF"/>
                          </a:solidFill>
                          <a:latin typeface="Calibri"/>
                          <a:ea typeface="Calibri"/>
                          <a:cs typeface="Calibri"/>
                        </a:rPr>
                        <a:t>Unserved, MWh</a:t>
                      </a:r>
                    </a:p>
                  </a:txBody>
                  <a:tcPr marL="91440" marR="91440" marT="45720" marB="45720">
                    <a:solidFill>
                      <a:srgbClr val="073B35"/>
                    </a:solidFill>
                  </a:tcPr>
                </a:tc>
                <a:tc>
                  <a:txBody>
                    <a:bodyPr/>
                    <a:lstStyle/>
                    <a:p>
                      <a:r>
                        <a:rPr sz="1875" b="1">
                          <a:solidFill>
                            <a:srgbClr val="FFFFFF"/>
                          </a:solidFill>
                          <a:latin typeface="Calibri"/>
                          <a:ea typeface="Calibri"/>
                          <a:cs typeface="Calibri"/>
                        </a:rPr>
                        <a:t>Assumed cost</a:t>
                      </a:r>
                    </a:p>
                  </a:txBody>
                  <a:tcPr marL="91440" marR="91440" marT="45720" marB="45720">
                    <a:solidFill>
                      <a:srgbClr val="073B35"/>
                    </a:solidFill>
                  </a:tcPr>
                </a:tc>
              </a:tr>
              <a:tr h="582930">
                <a:tc>
                  <a:txBody>
                    <a:bodyPr/>
                    <a:lstStyle/>
                    <a:p>
                      <a:r>
                        <a:rPr sz="1875" b="0">
                          <a:solidFill>
                            <a:srgbClr val="073B35"/>
                          </a:solidFill>
                          <a:latin typeface="Calibri"/>
                          <a:ea typeface="Calibri"/>
                          <a:cs typeface="Calibri"/>
                        </a:rPr>
                        <a:t>MLP / fixed 20%</a:t>
                      </a:r>
                    </a:p>
                  </a:txBody>
                  <a:tcPr marL="91440" marR="91440" marT="45720" marB="45720">
                    <a:solidFill>
                      <a:srgbClr val="FFFFFF"/>
                    </a:solidFill>
                  </a:tcPr>
                </a:tc>
                <a:tc>
                  <a:txBody>
                    <a:bodyPr/>
                    <a:lstStyle/>
                    <a:p>
                      <a:r>
                        <a:rPr sz="1875" b="0">
                          <a:solidFill>
                            <a:srgbClr val="073B35"/>
                          </a:solidFill>
                          <a:latin typeface="Calibri"/>
                          <a:ea typeface="Calibri"/>
                          <a:cs typeface="Calibri"/>
                        </a:rPr>
                        <a:t>2421</a:t>
                      </a:r>
                    </a:p>
                  </a:txBody>
                  <a:tcPr marL="91440" marR="91440" marT="45720" marB="45720">
                    <a:solidFill>
                      <a:srgbClr val="FFFFFF"/>
                    </a:solidFill>
                  </a:tcPr>
                </a:tc>
                <a:tc>
                  <a:txBody>
                    <a:bodyPr/>
                    <a:lstStyle/>
                    <a:p>
                      <a:r>
                        <a:rPr sz="1875" b="0">
                          <a:solidFill>
                            <a:srgbClr val="073B35"/>
                          </a:solidFill>
                          <a:latin typeface="Calibri"/>
                          <a:ea typeface="Calibri"/>
                          <a:cs typeface="Calibri"/>
                        </a:rPr>
                        <a:t>310.0</a:t>
                      </a:r>
                    </a:p>
                  </a:txBody>
                  <a:tcPr marL="91440" marR="91440" marT="45720" marB="45720">
                    <a:solidFill>
                      <a:srgbClr val="FFFFFF"/>
                    </a:solidFill>
                  </a:tcPr>
                </a:tc>
                <a:tc>
                  <a:txBody>
                    <a:bodyPr/>
                    <a:lstStyle/>
                    <a:p>
                      <a:r>
                        <a:rPr sz="1875" b="0">
                          <a:solidFill>
                            <a:srgbClr val="073B35"/>
                          </a:solidFill>
                          <a:latin typeface="Calibri"/>
                          <a:ea typeface="Calibri"/>
                          <a:cs typeface="Calibri"/>
                        </a:rPr>
                        <a:t>8621</a:t>
                      </a:r>
                    </a:p>
                  </a:txBody>
                  <a:tcPr marL="91440" marR="91440" marT="45720" marB="45720">
                    <a:solidFill>
                      <a:srgbClr val="FFFFFF"/>
                    </a:solidFill>
                  </a:tcPr>
                </a:tc>
              </a:tr>
              <a:tr h="582930">
                <a:tc>
                  <a:txBody>
                    <a:bodyPr/>
                    <a:lstStyle/>
                    <a:p>
                      <a:r>
                        <a:rPr sz="1875" b="0">
                          <a:solidFill>
                            <a:srgbClr val="073B35"/>
                          </a:solidFill>
                          <a:latin typeface="Calibri"/>
                          <a:ea typeface="Calibri"/>
                          <a:cs typeface="Calibri"/>
                        </a:rPr>
                        <a:t>MLP / n-sigma</a:t>
                      </a:r>
                    </a:p>
                  </a:txBody>
                  <a:tcPr marL="91440" marR="91440" marT="45720" marB="45720">
                    <a:solidFill>
                      <a:srgbClr val="EBF0E7"/>
                    </a:solidFill>
                  </a:tcPr>
                </a:tc>
                <a:tc>
                  <a:txBody>
                    <a:bodyPr/>
                    <a:lstStyle/>
                    <a:p>
                      <a:r>
                        <a:rPr sz="1875" b="0">
                          <a:solidFill>
                            <a:srgbClr val="073B35"/>
                          </a:solidFill>
                          <a:latin typeface="Calibri"/>
                          <a:ea typeface="Calibri"/>
                          <a:cs typeface="Calibri"/>
                        </a:rPr>
                        <a:t>1576</a:t>
                      </a:r>
                    </a:p>
                  </a:txBody>
                  <a:tcPr marL="91440" marR="91440" marT="45720" marB="45720">
                    <a:solidFill>
                      <a:srgbClr val="EBF0E7"/>
                    </a:solidFill>
                  </a:tcPr>
                </a:tc>
                <a:tc>
                  <a:txBody>
                    <a:bodyPr/>
                    <a:lstStyle/>
                    <a:p>
                      <a:r>
                        <a:rPr sz="1875" b="0">
                          <a:solidFill>
                            <a:srgbClr val="073B35"/>
                          </a:solidFill>
                          <a:latin typeface="Calibri"/>
                          <a:ea typeface="Calibri"/>
                          <a:cs typeface="Calibri"/>
                        </a:rPr>
                        <a:t>278.1</a:t>
                      </a:r>
                    </a:p>
                  </a:txBody>
                  <a:tcPr marL="91440" marR="91440" marT="45720" marB="45720">
                    <a:solidFill>
                      <a:srgbClr val="EBF0E7"/>
                    </a:solidFill>
                  </a:tcPr>
                </a:tc>
                <a:tc>
                  <a:txBody>
                    <a:bodyPr/>
                    <a:lstStyle/>
                    <a:p>
                      <a:r>
                        <a:rPr sz="1875" b="0">
                          <a:solidFill>
                            <a:srgbClr val="073B35"/>
                          </a:solidFill>
                          <a:latin typeface="Calibri"/>
                          <a:ea typeface="Calibri"/>
                          <a:cs typeface="Calibri"/>
                        </a:rPr>
                        <a:t>7137</a:t>
                      </a:r>
                    </a:p>
                  </a:txBody>
                  <a:tcPr marL="91440" marR="91440" marT="45720" marB="45720">
                    <a:solidFill>
                      <a:srgbClr val="EBF0E7"/>
                    </a:solidFill>
                  </a:tcPr>
                </a:tc>
              </a:tr>
              <a:tr h="582930">
                <a:tc>
                  <a:txBody>
                    <a:bodyPr/>
                    <a:lstStyle/>
                    <a:p>
                      <a:r>
                        <a:rPr sz="1875" b="0">
                          <a:solidFill>
                            <a:srgbClr val="073B35"/>
                          </a:solidFill>
                          <a:latin typeface="Calibri"/>
                          <a:ea typeface="Calibri"/>
                          <a:cs typeface="Calibri"/>
                        </a:rPr>
                        <a:t>Local XGB / n-sigma</a:t>
                      </a:r>
                    </a:p>
                  </a:txBody>
                  <a:tcPr marL="91440" marR="91440" marT="45720" marB="45720">
                    <a:solidFill>
                      <a:srgbClr val="FFFFFF"/>
                    </a:solidFill>
                  </a:tcPr>
                </a:tc>
                <a:tc>
                  <a:txBody>
                    <a:bodyPr/>
                    <a:lstStyle/>
                    <a:p>
                      <a:r>
                        <a:rPr sz="1875" b="0">
                          <a:solidFill>
                            <a:srgbClr val="073B35"/>
                          </a:solidFill>
                          <a:latin typeface="Calibri"/>
                          <a:ea typeface="Calibri"/>
                          <a:cs typeface="Calibri"/>
                        </a:rPr>
                        <a:t>1575</a:t>
                      </a:r>
                    </a:p>
                  </a:txBody>
                  <a:tcPr marL="91440" marR="91440" marT="45720" marB="45720">
                    <a:solidFill>
                      <a:srgbClr val="FFFFFF"/>
                    </a:solidFill>
                  </a:tcPr>
                </a:tc>
                <a:tc>
                  <a:txBody>
                    <a:bodyPr/>
                    <a:lstStyle/>
                    <a:p>
                      <a:r>
                        <a:rPr sz="1875" b="0">
                          <a:solidFill>
                            <a:srgbClr val="073B35"/>
                          </a:solidFill>
                          <a:latin typeface="Calibri"/>
                          <a:ea typeface="Calibri"/>
                          <a:cs typeface="Calibri"/>
                        </a:rPr>
                        <a:t>275.0</a:t>
                      </a:r>
                    </a:p>
                  </a:txBody>
                  <a:tcPr marL="91440" marR="91440" marT="45720" marB="45720">
                    <a:solidFill>
                      <a:srgbClr val="FFFFFF"/>
                    </a:solidFill>
                  </a:tcPr>
                </a:tc>
                <a:tc>
                  <a:txBody>
                    <a:bodyPr/>
                    <a:lstStyle/>
                    <a:p>
                      <a:r>
                        <a:rPr sz="1875" b="0">
                          <a:solidFill>
                            <a:srgbClr val="073B35"/>
                          </a:solidFill>
                          <a:latin typeface="Calibri"/>
                          <a:ea typeface="Calibri"/>
                          <a:cs typeface="Calibri"/>
                        </a:rPr>
                        <a:t>7076</a:t>
                      </a:r>
                    </a:p>
                  </a:txBody>
                  <a:tcPr marL="91440" marR="91440" marT="45720" marB="45720">
                    <a:solidFill>
                      <a:srgbClr val="FFFFFF"/>
                    </a:solidFill>
                  </a:tcPr>
                </a:tc>
              </a:tr>
              <a:tr h="582930">
                <a:tc>
                  <a:txBody>
                    <a:bodyPr/>
                    <a:lstStyle/>
                    <a:p>
                      <a:r>
                        <a:rPr sz="1875" b="0">
                          <a:solidFill>
                            <a:srgbClr val="073B35"/>
                          </a:solidFill>
                          <a:latin typeface="Calibri"/>
                          <a:ea typeface="Calibri"/>
                          <a:cs typeface="Calibri"/>
                        </a:rPr>
                        <a:t>MLP / guarded</a:t>
                      </a:r>
                    </a:p>
                  </a:txBody>
                  <a:tcPr marL="91440" marR="91440" marT="45720" marB="45720">
                    <a:solidFill>
                      <a:srgbClr val="EBF0E7"/>
                    </a:solidFill>
                  </a:tcPr>
                </a:tc>
                <a:tc>
                  <a:txBody>
                    <a:bodyPr/>
                    <a:lstStyle/>
                    <a:p>
                      <a:r>
                        <a:rPr sz="1875" b="0">
                          <a:solidFill>
                            <a:srgbClr val="073B35"/>
                          </a:solidFill>
                          <a:latin typeface="Calibri"/>
                          <a:ea typeface="Calibri"/>
                          <a:cs typeface="Calibri"/>
                        </a:rPr>
                        <a:t>1896</a:t>
                      </a:r>
                    </a:p>
                  </a:txBody>
                  <a:tcPr marL="91440" marR="91440" marT="45720" marB="45720">
                    <a:solidFill>
                      <a:srgbClr val="EBF0E7"/>
                    </a:solidFill>
                  </a:tcPr>
                </a:tc>
                <a:tc>
                  <a:txBody>
                    <a:bodyPr/>
                    <a:lstStyle/>
                    <a:p>
                      <a:r>
                        <a:rPr sz="1875" b="0">
                          <a:solidFill>
                            <a:srgbClr val="073B35"/>
                          </a:solidFill>
                          <a:latin typeface="Calibri"/>
                          <a:ea typeface="Calibri"/>
                          <a:cs typeface="Calibri"/>
                        </a:rPr>
                        <a:t>280.8</a:t>
                      </a:r>
                    </a:p>
                  </a:txBody>
                  <a:tcPr marL="91440" marR="91440" marT="45720" marB="45720">
                    <a:solidFill>
                      <a:srgbClr val="EBF0E7"/>
                    </a:solidFill>
                  </a:tcPr>
                </a:tc>
                <a:tc>
                  <a:txBody>
                    <a:bodyPr/>
                    <a:lstStyle/>
                    <a:p>
                      <a:r>
                        <a:rPr sz="1875" b="0">
                          <a:solidFill>
                            <a:srgbClr val="073B35"/>
                          </a:solidFill>
                          <a:latin typeface="Calibri"/>
                          <a:ea typeface="Calibri"/>
                          <a:cs typeface="Calibri"/>
                        </a:rPr>
                        <a:t>7513</a:t>
                      </a:r>
                    </a:p>
                  </a:txBody>
                  <a:tcPr marL="91440" marR="91440" marT="45720" marB="45720">
                    <a:solidFill>
                      <a:srgbClr val="EBF0E7"/>
                    </a:solidFill>
                  </a:tcPr>
                </a:tc>
              </a:tr>
            </a:tbl>
          </a:graphicData>
        </a:graphic>
      </p:graphicFrame>
      <p:sp>
        <p:nvSpPr>
          <p:cNvPr id="5" name="">
            <a:extLst xmlns:a="http://schemas.openxmlformats.org/drawingml/2006/main">
              <a:ext uri="{FF2B5EF4-FFF2-40B4-BE49-F238E27FC236}">
                <a16:creationId xmlns:a16="http://schemas.microsoft.com/office/drawing/2014/main" id="{009282CC-8EE4-49A7-A6A9-F9470E18A48E}"/>
              </a:ext>
            </a:extLst>
          </p:cNvPr>
          <p:cNvSpPr>
            <a:spLocks xmlns:a="http://schemas.openxmlformats.org/drawingml/2006/main" noGrp="1"/>
          </p:cNvSpPr>
          <p:nvPr/>
        </p:nvSpPr>
        <p:spPr>
          <a:xfrm xmlns:a="http://schemas.openxmlformats.org/drawingml/2006/main">
            <a:off x="609600" y="5105400"/>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4E7D61"/>
                </a:solidFill>
                <a:latin typeface="Calibri"/>
                <a:ea typeface="Calibri"/>
                <a:cs typeface="Calibri"/>
              </a:defRPr>
            </a:pPr>
            <a:r>
              <a:rPr sz="3225" b="1">
                <a:solidFill>
                  <a:srgbClr val="4E7D61"/>
                </a:solidFill>
                <a:latin typeface="Calibri"/>
                <a:ea typeface="Calibri"/>
                <a:cs typeface="Calibri"/>
              </a:rPr>
              <a:t>34.9%</a:t>
            </a:r>
          </a:p>
        </p:txBody>
      </p:sp>
      <p:sp>
        <p:nvSpPr>
          <p:cNvPr id="6" name="">
            <a:extLst xmlns:a="http://schemas.openxmlformats.org/drawingml/2006/main">
              <a:ext uri="{FF2B5EF4-FFF2-40B4-BE49-F238E27FC236}">
                <a16:creationId xmlns:a16="http://schemas.microsoft.com/office/drawing/2014/main" id="{08F0020B-3762-45D0-8C4D-C8F60DEA53E5}"/>
              </a:ext>
            </a:extLst>
          </p:cNvPr>
          <p:cNvSpPr>
            <a:spLocks xmlns:a="http://schemas.openxmlformats.org/drawingml/2006/main" noGrp="1"/>
          </p:cNvSpPr>
          <p:nvPr/>
        </p:nvSpPr>
        <p:spPr>
          <a:xfrm xmlns:a="http://schemas.openxmlformats.org/drawingml/2006/main">
            <a:off x="609600" y="5743575"/>
            <a:ext cx="335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073B35"/>
                </a:solidFill>
                <a:latin typeface="Calibri"/>
                <a:ea typeface="Calibri"/>
                <a:cs typeface="Calibri"/>
              </a:defRPr>
            </a:pPr>
            <a:r>
              <a:rPr sz="1800" b="0">
                <a:solidFill>
                  <a:srgbClr val="073B35"/>
                </a:solidFill>
                <a:latin typeface="Calibri"/>
                <a:ea typeface="Calibri"/>
                <a:cs typeface="Calibri"/>
              </a:rPr>
              <a:t>less scheduled backup</a:t>
            </a:r>
          </a:p>
        </p:txBody>
      </p:sp>
      <p:sp>
        <p:nvSpPr>
          <p:cNvPr id="7" name="">
            <a:extLst xmlns:a="http://schemas.openxmlformats.org/drawingml/2006/main">
              <a:ext uri="{FF2B5EF4-FFF2-40B4-BE49-F238E27FC236}">
                <a16:creationId xmlns:a16="http://schemas.microsoft.com/office/drawing/2014/main" id="{643B39A8-2182-479F-946F-C55EB071A0B0}"/>
              </a:ext>
            </a:extLst>
          </p:cNvPr>
          <p:cNvSpPr>
            <a:spLocks xmlns:a="http://schemas.openxmlformats.org/drawingml/2006/main" noGrp="1"/>
          </p:cNvSpPr>
          <p:nvPr/>
        </p:nvSpPr>
        <p:spPr>
          <a:xfrm xmlns:a="http://schemas.openxmlformats.org/drawingml/2006/main">
            <a:off x="4533900" y="5105400"/>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4E7D61"/>
                </a:solidFill>
                <a:latin typeface="Calibri"/>
                <a:ea typeface="Calibri"/>
                <a:cs typeface="Calibri"/>
              </a:defRPr>
            </a:pPr>
            <a:r>
              <a:rPr sz="3225" b="1">
                <a:solidFill>
                  <a:srgbClr val="4E7D61"/>
                </a:solidFill>
                <a:latin typeface="Calibri"/>
                <a:ea typeface="Calibri"/>
                <a:cs typeface="Calibri"/>
              </a:rPr>
              <a:t>10.3%</a:t>
            </a:r>
          </a:p>
        </p:txBody>
      </p:sp>
      <p:sp>
        <p:nvSpPr>
          <p:cNvPr id="8" name="">
            <a:extLst xmlns:a="http://schemas.openxmlformats.org/drawingml/2006/main">
              <a:ext uri="{FF2B5EF4-FFF2-40B4-BE49-F238E27FC236}">
                <a16:creationId xmlns:a16="http://schemas.microsoft.com/office/drawing/2014/main" id="{B10F26B0-0A6F-415D-A9F7-C908A03FFB1F}"/>
              </a:ext>
            </a:extLst>
          </p:cNvPr>
          <p:cNvSpPr>
            <a:spLocks xmlns:a="http://schemas.openxmlformats.org/drawingml/2006/main" noGrp="1"/>
          </p:cNvSpPr>
          <p:nvPr/>
        </p:nvSpPr>
        <p:spPr>
          <a:xfrm xmlns:a="http://schemas.openxmlformats.org/drawingml/2006/main">
            <a:off x="4533900" y="5743575"/>
            <a:ext cx="335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073B35"/>
                </a:solidFill>
                <a:latin typeface="Calibri"/>
                <a:ea typeface="Calibri"/>
                <a:cs typeface="Calibri"/>
              </a:defRPr>
            </a:pPr>
            <a:r>
              <a:rPr sz="1800" b="0">
                <a:solidFill>
                  <a:srgbClr val="073B35"/>
                </a:solidFill>
                <a:latin typeface="Calibri"/>
                <a:ea typeface="Calibri"/>
                <a:cs typeface="Calibri"/>
              </a:rPr>
              <a:t>less unserved energy</a:t>
            </a:r>
          </a:p>
        </p:txBody>
      </p:sp>
      <p:sp>
        <p:nvSpPr>
          <p:cNvPr id="9" name="">
            <a:extLst xmlns:a="http://schemas.openxmlformats.org/drawingml/2006/main">
              <a:ext uri="{FF2B5EF4-FFF2-40B4-BE49-F238E27FC236}">
                <a16:creationId xmlns:a16="http://schemas.microsoft.com/office/drawing/2014/main" id="{DD38D953-7588-4B64-9B45-447F1CFD8F50}"/>
              </a:ext>
            </a:extLst>
          </p:cNvPr>
          <p:cNvSpPr>
            <a:spLocks xmlns:a="http://schemas.openxmlformats.org/drawingml/2006/main" noGrp="1"/>
          </p:cNvSpPr>
          <p:nvPr/>
        </p:nvSpPr>
        <p:spPr>
          <a:xfrm xmlns:a="http://schemas.openxmlformats.org/drawingml/2006/main">
            <a:off x="8496300" y="5105400"/>
            <a:ext cx="3038475"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4E7D61"/>
                </a:solidFill>
                <a:latin typeface="Calibri"/>
                <a:ea typeface="Calibri"/>
                <a:cs typeface="Calibri"/>
              </a:defRPr>
            </a:pPr>
            <a:r>
              <a:rPr sz="3225" b="1">
                <a:solidFill>
                  <a:srgbClr val="4E7D61"/>
                </a:solidFill>
                <a:latin typeface="Calibri"/>
                <a:ea typeface="Calibri"/>
                <a:cs typeface="Calibri"/>
              </a:rPr>
              <a:t>17.2%</a:t>
            </a:r>
          </a:p>
        </p:txBody>
      </p:sp>
      <p:sp>
        <p:nvSpPr>
          <p:cNvPr id="10" name="">
            <a:extLst xmlns:a="http://schemas.openxmlformats.org/drawingml/2006/main">
              <a:ext uri="{FF2B5EF4-FFF2-40B4-BE49-F238E27FC236}">
                <a16:creationId xmlns:a16="http://schemas.microsoft.com/office/drawing/2014/main" id="{77E470A9-EC9F-4FCB-A75E-B76BF45C2257}"/>
              </a:ext>
            </a:extLst>
          </p:cNvPr>
          <p:cNvSpPr>
            <a:spLocks xmlns:a="http://schemas.openxmlformats.org/drawingml/2006/main" noGrp="1"/>
          </p:cNvSpPr>
          <p:nvPr/>
        </p:nvSpPr>
        <p:spPr>
          <a:xfrm xmlns:a="http://schemas.openxmlformats.org/drawingml/2006/main">
            <a:off x="8496300" y="5743575"/>
            <a:ext cx="30384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073B35"/>
                </a:solidFill>
                <a:latin typeface="Calibri"/>
                <a:ea typeface="Calibri"/>
                <a:cs typeface="Calibri"/>
              </a:defRPr>
            </a:pPr>
            <a:r>
              <a:rPr sz="1800" b="0">
                <a:solidFill>
                  <a:srgbClr val="073B35"/>
                </a:solidFill>
                <a:latin typeface="Calibri"/>
                <a:ea typeface="Calibri"/>
                <a:cs typeface="Calibri"/>
              </a:rPr>
              <a:t>lower assumed total cost</a:t>
            </a:r>
          </a:p>
        </p:txBody>
      </p:sp>
      <p:sp>
        <p:nvSpPr>
          <p:cNvPr id="11" name="">
            <a:extLst xmlns:a="http://schemas.openxmlformats.org/drawingml/2006/main">
              <a:ext uri="{FF2B5EF4-FFF2-40B4-BE49-F238E27FC236}">
                <a16:creationId xmlns:a16="http://schemas.microsoft.com/office/drawing/2014/main" id="{C0417F34-9D69-4F47-9F21-D21AD14AD2CB}"/>
              </a:ext>
            </a:extLst>
          </p:cNvPr>
          <p:cNvSpPr>
            <a:spLocks xmlns:a="http://schemas.openxmlformats.org/drawingml/2006/main" noGrp="1"/>
          </p:cNvSpPr>
          <p:nvPr/>
        </p:nvSpPr>
        <p:spPr>
          <a:xfrm xmlns:a="http://schemas.openxmlformats.org/drawingml/2006/main">
            <a:off x="609600" y="6191250"/>
            <a:ext cx="109061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8716A"/>
                </a:solidFill>
                <a:latin typeface="Calibri"/>
                <a:ea typeface="Calibri"/>
                <a:cs typeface="Calibri"/>
              </a:defRPr>
            </a:pPr>
            <a:r>
              <a:rPr sz="1350" b="0">
                <a:solidFill>
                  <a:srgbClr val="58716A"/>
                </a:solidFill>
                <a:latin typeface="Calibri"/>
                <a:ea typeface="Calibri"/>
                <a:cs typeface="Calibri"/>
              </a:rPr>
              <a:t>Nominal MLP n-sigma vs its fixed baseline. Five-seed simulation means, daytime only.</a:t>
            </a:r>
          </a:p>
        </p:txBody>
      </p:sp>
    </p:spTree>
    <p:extLst>
      <p:ext uri="{BB962C8B-B14F-4D97-AF65-F5344CB8AC3E}">
        <p14:creationId xmlns:p14="http://schemas.microsoft.com/office/powerpoint/2010/main" val="593123818"/>
      </p:ext>
    </p:extLst>
  </p:cSld>
</p:sld>
</file>

<file path=ppt/slides/slide11.xml><?xml version="1.0" encoding="utf-8"?>
<p:sld xmlns:p="http://schemas.openxmlformats.org/presentationml/2006/main">
  <p:cSld>
    <p:bg>
      <p:bgPr>
        <a:solidFill xmlns:a="http://schemas.openxmlformats.org/drawingml/2006/main">
          <a:srgbClr val="F7F7F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E90EF2F-D363-45EF-89DE-E27CA19BF977}"/>
              </a:ext>
            </a:extLst>
          </p:cNvPr>
          <p:cNvSpPr>
            <a:spLocks xmlns:a="http://schemas.openxmlformats.org/drawingml/2006/main" noGrp="1"/>
          </p:cNvSpPr>
          <p:nvPr/>
        </p:nvSpPr>
        <p:spPr>
          <a:xfrm xmlns:a="http://schemas.openxmlformats.org/drawingml/2006/main">
            <a:off x="590550" y="466725"/>
            <a:ext cx="110109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073B35"/>
                </a:solidFill>
                <a:latin typeface="Calibri"/>
                <a:ea typeface="Calibri"/>
                <a:cs typeface="Calibri"/>
              </a:defRPr>
            </a:pPr>
            <a:r>
              <a:rPr sz="3150" b="1">
                <a:solidFill>
                  <a:srgbClr val="073B35"/>
                </a:solidFill>
                <a:latin typeface="Calibri"/>
                <a:ea typeface="Calibri"/>
                <a:cs typeface="Calibri"/>
              </a:rPr>
              <a:t>Schneider fit and affordability</a:t>
            </a:r>
          </a:p>
        </p:txBody>
      </p:sp>
      <p:sp>
        <p:nvSpPr>
          <p:cNvPr id="2" name="">
            <a:extLst xmlns:a="http://schemas.openxmlformats.org/drawingml/2006/main">
              <a:ext uri="{FF2B5EF4-FFF2-40B4-BE49-F238E27FC236}">
                <a16:creationId xmlns:a16="http://schemas.microsoft.com/office/drawing/2014/main" id="{9AE635ED-6A43-4018-9B53-6EF2D3A5A6A6}"/>
              </a:ext>
            </a:extLst>
          </p:cNvPr>
          <p:cNvSpPr>
            <a:spLocks xmlns:a="http://schemas.openxmlformats.org/drawingml/2006/main" noGrp="1"/>
          </p:cNvSpPr>
          <p:nvPr/>
        </p:nvSpPr>
        <p:spPr>
          <a:xfrm xmlns:a="http://schemas.openxmlformats.org/drawingml/2006/main">
            <a:off x="609600" y="64674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58716A"/>
                </a:solidFill>
                <a:latin typeface="Calibri"/>
                <a:ea typeface="Calibri"/>
                <a:cs typeface="Calibri"/>
              </a:defRPr>
            </a:pPr>
            <a:r>
              <a:rPr sz="975" b="0">
                <a:solidFill>
                  <a:srgbClr val="58716A"/>
                </a:solidFill>
                <a:latin typeface="Calibri"/>
                <a:ea typeface="Calibri"/>
                <a:cs typeface="Calibri"/>
              </a:rPr>
              <a:t>GRIDMESH  /  TEAM BP</a:t>
            </a:r>
          </a:p>
        </p:txBody>
      </p:sp>
      <p:sp>
        <p:nvSpPr>
          <p:cNvPr id="3" name="">
            <a:extLst xmlns:a="http://schemas.openxmlformats.org/drawingml/2006/main">
              <a:ext uri="{FF2B5EF4-FFF2-40B4-BE49-F238E27FC236}">
                <a16:creationId xmlns:a16="http://schemas.microsoft.com/office/drawing/2014/main" id="{1136002B-0B32-4BB2-85F7-4002447855C4}"/>
              </a:ext>
            </a:extLst>
          </p:cNvPr>
          <p:cNvSpPr>
            <a:spLocks xmlns:a="http://schemas.openxmlformats.org/drawingml/2006/main" noGrp="1"/>
          </p:cNvSpPr>
          <p:nvPr/>
        </p:nvSpPr>
        <p:spPr>
          <a:xfrm xmlns:a="http://schemas.openxmlformats.org/drawingml/2006/main">
            <a:off x="11144250" y="64293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8716A"/>
                </a:solidFill>
                <a:latin typeface="Calibri"/>
                <a:ea typeface="Calibri"/>
                <a:cs typeface="Calibri"/>
              </a:defRPr>
            </a:pPr>
            <a:r>
              <a:rPr sz="1200" b="0">
                <a:solidFill>
                  <a:srgbClr val="58716A"/>
                </a:solidFill>
                <a:latin typeface="Calibri"/>
                <a:ea typeface="Calibri"/>
                <a:cs typeface="Calibri"/>
              </a:rPr>
              <a:t>11</a:t>
            </a:r>
          </a:p>
        </p:txBody>
      </p:sp>
      <p:sp>
        <p:nvSpPr>
          <p:cNvPr id="4" name="">
            <a:extLst xmlns:a="http://schemas.openxmlformats.org/drawingml/2006/main">
              <a:ext uri="{FF2B5EF4-FFF2-40B4-BE49-F238E27FC236}">
                <a16:creationId xmlns:a16="http://schemas.microsoft.com/office/drawing/2014/main" id="{88C34B76-AE22-46AC-AFD2-E5D274C0DE1C}"/>
              </a:ext>
            </a:extLst>
          </p:cNvPr>
          <p:cNvSpPr>
            <a:spLocks xmlns:a="http://schemas.openxmlformats.org/drawingml/2006/main" noGrp="1"/>
          </p:cNvSpPr>
          <p:nvPr/>
        </p:nvSpPr>
        <p:spPr>
          <a:xfrm xmlns:a="http://schemas.openxmlformats.org/drawingml/2006/main">
            <a:off x="609600" y="1619250"/>
            <a:ext cx="52197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73B35"/>
                </a:solidFill>
                <a:latin typeface="Calibri"/>
                <a:ea typeface="Calibri"/>
                <a:cs typeface="Calibri"/>
              </a:defRPr>
            </a:pPr>
            <a:r>
              <a:rPr sz="2325" b="1">
                <a:solidFill>
                  <a:srgbClr val="073B35"/>
                </a:solidFill>
                <a:latin typeface="Calibri"/>
                <a:ea typeface="Calibri"/>
                <a:cs typeface="Calibri"/>
              </a:rPr>
              <a:t>Schneider ecosystem</a:t>
            </a:r>
          </a:p>
        </p:txBody>
      </p:sp>
      <p:sp>
        <p:nvSpPr>
          <p:cNvPr id="5" name="">
            <a:extLst xmlns:a="http://schemas.openxmlformats.org/drawingml/2006/main">
              <a:ext uri="{FF2B5EF4-FFF2-40B4-BE49-F238E27FC236}">
                <a16:creationId xmlns:a16="http://schemas.microsoft.com/office/drawing/2014/main" id="{5CF5BFC3-27EF-40F4-9658-12BDB079B6C9}"/>
              </a:ext>
            </a:extLst>
          </p:cNvPr>
          <p:cNvSpPr>
            <a:spLocks xmlns:a="http://schemas.openxmlformats.org/drawingml/2006/main" noGrp="1"/>
          </p:cNvSpPr>
          <p:nvPr/>
        </p:nvSpPr>
        <p:spPr>
          <a:xfrm xmlns:a="http://schemas.openxmlformats.org/drawingml/2006/main">
            <a:off x="609600" y="2286000"/>
            <a:ext cx="52197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073B35"/>
                </a:solidFill>
                <a:latin typeface="Calibri"/>
                <a:ea typeface="Calibri"/>
                <a:cs typeface="Calibri"/>
              </a:defRPr>
            </a:pPr>
            <a:r>
              <a:rPr sz="2100" b="0">
                <a:solidFill>
                  <a:srgbClr val="073B35"/>
                </a:solidFill>
                <a:latin typeface="Calibri"/>
                <a:ea typeface="Calibri"/>
                <a:cs typeface="Calibri"/>
              </a:rPr>
              <a:t>DER coordination</a:t>
            </a:r>
          </a:p>
          <a:p xmlns:a="http://schemas.openxmlformats.org/drawingml/2006/main">
            <a:pPr>
              <a:defRPr sz="2100" b="0">
                <a:solidFill>
                  <a:srgbClr val="073B35"/>
                </a:solidFill>
                <a:latin typeface="Calibri"/>
                <a:ea typeface="Calibri"/>
                <a:cs typeface="Calibri"/>
              </a:defRPr>
            </a:pPr>
            <a:r>
              <a:rPr sz="2100" b="0">
                <a:solidFill>
                  <a:srgbClr val="073B35"/>
                </a:solidFill>
                <a:latin typeface="Calibri"/>
                <a:ea typeface="Calibri"/>
                <a:cs typeface="Calibri"/>
              </a:rPr>
              <a:t>Forecasting and optimization</a:t>
            </a:r>
          </a:p>
          <a:p xmlns:a="http://schemas.openxmlformats.org/drawingml/2006/main">
            <a:pPr>
              <a:defRPr sz="2100" b="0">
                <a:solidFill>
                  <a:srgbClr val="073B35"/>
                </a:solidFill>
                <a:latin typeface="Calibri"/>
                <a:ea typeface="Calibri"/>
                <a:cs typeface="Calibri"/>
              </a:defRPr>
            </a:pPr>
            <a:r>
              <a:rPr sz="2100" b="0">
                <a:solidFill>
                  <a:srgbClr val="073B35"/>
                </a:solidFill>
                <a:latin typeface="Calibri"/>
                <a:ea typeface="Calibri"/>
                <a:cs typeface="Calibri"/>
              </a:rPr>
              <a:t>Microgrid operation and control</a:t>
            </a:r>
          </a:p>
        </p:txBody>
      </p:sp>
      <p:sp>
        <p:nvSpPr>
          <p:cNvPr id="6" name="">
            <a:extLst xmlns:a="http://schemas.openxmlformats.org/drawingml/2006/main">
              <a:ext uri="{FF2B5EF4-FFF2-40B4-BE49-F238E27FC236}">
                <a16:creationId xmlns:a16="http://schemas.microsoft.com/office/drawing/2014/main" id="{5452E289-0BB3-43FA-ADB2-C5BA9A868F5D}"/>
              </a:ext>
            </a:extLst>
          </p:cNvPr>
          <p:cNvSpPr>
            <a:spLocks xmlns:a="http://schemas.openxmlformats.org/drawingml/2006/main" noGrp="1"/>
          </p:cNvSpPr>
          <p:nvPr/>
        </p:nvSpPr>
        <p:spPr>
          <a:xfrm xmlns:a="http://schemas.openxmlformats.org/drawingml/2006/main">
            <a:off x="6562725" y="1619250"/>
            <a:ext cx="49911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073B35"/>
                </a:solidFill>
                <a:latin typeface="Calibri"/>
                <a:ea typeface="Calibri"/>
                <a:cs typeface="Calibri"/>
              </a:defRPr>
            </a:pPr>
            <a:r>
              <a:rPr sz="2325" b="1">
                <a:solidFill>
                  <a:srgbClr val="073B35"/>
                </a:solidFill>
                <a:latin typeface="Calibri"/>
                <a:ea typeface="Calibri"/>
                <a:cs typeface="Calibri"/>
              </a:rPr>
              <a:t>GridMesh research focus</a:t>
            </a:r>
          </a:p>
        </p:txBody>
      </p:sp>
      <p:sp>
        <p:nvSpPr>
          <p:cNvPr id="7" name="">
            <a:extLst xmlns:a="http://schemas.openxmlformats.org/drawingml/2006/main">
              <a:ext uri="{FF2B5EF4-FFF2-40B4-BE49-F238E27FC236}">
                <a16:creationId xmlns:a16="http://schemas.microsoft.com/office/drawing/2014/main" id="{33AC7F52-C03D-4962-B2B9-661A1AEAA915}"/>
              </a:ext>
            </a:extLst>
          </p:cNvPr>
          <p:cNvSpPr>
            <a:spLocks xmlns:a="http://schemas.openxmlformats.org/drawingml/2006/main" noGrp="1"/>
          </p:cNvSpPr>
          <p:nvPr/>
        </p:nvSpPr>
        <p:spPr>
          <a:xfrm xmlns:a="http://schemas.openxmlformats.org/drawingml/2006/main">
            <a:off x="6562725" y="2286000"/>
            <a:ext cx="499110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073B35"/>
                </a:solidFill>
                <a:latin typeface="Calibri"/>
                <a:ea typeface="Calibri"/>
                <a:cs typeface="Calibri"/>
              </a:defRPr>
            </a:pPr>
            <a:r>
              <a:rPr sz="2100" b="0">
                <a:solidFill>
                  <a:srgbClr val="073B35"/>
                </a:solidFill>
                <a:latin typeface="Calibri"/>
                <a:ea typeface="Calibri"/>
                <a:cs typeface="Calibri"/>
              </a:rPr>
              <a:t>Cross-owner local learning</a:t>
            </a:r>
          </a:p>
          <a:p xmlns:a="http://schemas.openxmlformats.org/drawingml/2006/main">
            <a:pPr>
              <a:defRPr sz="2100" b="0">
                <a:solidFill>
                  <a:srgbClr val="073B35"/>
                </a:solidFill>
                <a:latin typeface="Calibri"/>
                <a:ea typeface="Calibri"/>
                <a:cs typeface="Calibri"/>
              </a:defRPr>
            </a:pPr>
            <a:r>
              <a:rPr sz="2100" b="0">
                <a:solidFill>
                  <a:srgbClr val="073B35"/>
                </a:solidFill>
                <a:latin typeface="Calibri"/>
                <a:ea typeface="Calibri"/>
                <a:cs typeface="Calibri"/>
              </a:rPr>
              <a:t>Update trust and safe degradation</a:t>
            </a:r>
          </a:p>
          <a:p xmlns:a="http://schemas.openxmlformats.org/drawingml/2006/main">
            <a:pPr>
              <a:defRPr sz="2100" b="0">
                <a:solidFill>
                  <a:srgbClr val="073B35"/>
                </a:solidFill>
                <a:latin typeface="Calibri"/>
                <a:ea typeface="Calibri"/>
                <a:cs typeface="Calibri"/>
              </a:defRPr>
            </a:pPr>
            <a:r>
              <a:rPr sz="2100" b="0">
                <a:solidFill>
                  <a:srgbClr val="073B35"/>
                </a:solidFill>
                <a:latin typeface="Calibri"/>
                <a:ea typeface="Calibri"/>
                <a:cs typeface="Calibri"/>
              </a:rPr>
              <a:t>Transparent community reserve advice</a:t>
            </a:r>
          </a:p>
        </p:txBody>
      </p:sp>
      <p:sp>
        <p:nvSpPr>
          <p:cNvPr id="8" name="">
            <a:extLst xmlns:a="http://schemas.openxmlformats.org/drawingml/2006/main">
              <a:ext uri="{FF2B5EF4-FFF2-40B4-BE49-F238E27FC236}">
                <a16:creationId xmlns:a16="http://schemas.microsoft.com/office/drawing/2014/main" id="{0E456F90-EDD9-4DC2-B824-AD00DE1B1D2B}"/>
              </a:ext>
            </a:extLst>
          </p:cNvPr>
          <p:cNvSpPr>
            <a:spLocks xmlns:a="http://schemas.openxmlformats.org/drawingml/2006/main" noGrp="1"/>
          </p:cNvSpPr>
          <p:nvPr/>
        </p:nvSpPr>
        <p:spPr>
          <a:xfrm xmlns:a="http://schemas.openxmlformats.org/drawingml/2006/main">
            <a:off x="609600" y="3914775"/>
            <a:ext cx="10953750" cy="0"/>
          </a:xfrm>
          <a:prstGeom xmlns:a="http://schemas.openxmlformats.org/drawingml/2006/main" prst="line">
            <a:avLst/>
          </a:prstGeom>
          <a:ln xmlns:a="http://schemas.openxmlformats.org/drawingml/2006/main" w="19050">
            <a:solidFill>
              <a:srgbClr val="CBD8CF"/>
            </a:solidFill>
          </a:ln>
        </p:spPr>
      </p:sp>
      <p:sp>
        <p:nvSpPr>
          <p:cNvPr id="9" name="">
            <a:extLst xmlns:a="http://schemas.openxmlformats.org/drawingml/2006/main">
              <a:ext uri="{FF2B5EF4-FFF2-40B4-BE49-F238E27FC236}">
                <a16:creationId xmlns:a16="http://schemas.microsoft.com/office/drawing/2014/main" id="{3796E8A3-7091-4F9C-BB5D-D12C25833F15}"/>
              </a:ext>
            </a:extLst>
          </p:cNvPr>
          <p:cNvSpPr>
            <a:spLocks xmlns:a="http://schemas.openxmlformats.org/drawingml/2006/main" noGrp="1"/>
          </p:cNvSpPr>
          <p:nvPr/>
        </p:nvSpPr>
        <p:spPr>
          <a:xfrm xmlns:a="http://schemas.openxmlformats.org/drawingml/2006/main">
            <a:off x="609600" y="4410075"/>
            <a:ext cx="48577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725" b="1">
                <a:solidFill>
                  <a:srgbClr val="073B35"/>
                </a:solidFill>
                <a:latin typeface="Calibri"/>
                <a:ea typeface="Calibri"/>
                <a:cs typeface="Calibri"/>
              </a:defRPr>
            </a:pPr>
            <a:r>
              <a:rPr sz="4725" b="1">
                <a:solidFill>
                  <a:srgbClr val="073B35"/>
                </a:solidFill>
                <a:latin typeface="Calibri"/>
                <a:ea typeface="Calibri"/>
                <a:cs typeface="Calibri"/>
              </a:rPr>
              <a:t>₹46.50</a:t>
            </a:r>
          </a:p>
        </p:txBody>
      </p:sp>
      <p:sp>
        <p:nvSpPr>
          <p:cNvPr id="10" name="">
            <a:extLst xmlns:a="http://schemas.openxmlformats.org/drawingml/2006/main">
              <a:ext uri="{FF2B5EF4-FFF2-40B4-BE49-F238E27FC236}">
                <a16:creationId xmlns:a16="http://schemas.microsoft.com/office/drawing/2014/main" id="{51362901-CDB8-46E6-B3B6-4D0E8216E76B}"/>
              </a:ext>
            </a:extLst>
          </p:cNvPr>
          <p:cNvSpPr>
            <a:spLocks xmlns:a="http://schemas.openxmlformats.org/drawingml/2006/main" noGrp="1"/>
          </p:cNvSpPr>
          <p:nvPr/>
        </p:nvSpPr>
        <p:spPr>
          <a:xfrm xmlns:a="http://schemas.openxmlformats.org/drawingml/2006/main">
            <a:off x="609600" y="544830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073B35"/>
                </a:solidFill>
                <a:latin typeface="Calibri"/>
                <a:ea typeface="Calibri"/>
                <a:cs typeface="Calibri"/>
              </a:defRPr>
            </a:pPr>
            <a:r>
              <a:rPr sz="1875" b="0">
                <a:solidFill>
                  <a:srgbClr val="073B35"/>
                </a:solidFill>
                <a:latin typeface="Calibri"/>
                <a:ea typeface="Calibri"/>
                <a:cs typeface="Calibri"/>
              </a:rPr>
              <a:t>per household / month at 100 households</a:t>
            </a:r>
          </a:p>
        </p:txBody>
      </p:sp>
      <p:graphicFrame>
        <p:nvGraphicFramePr>
          <p:cNvPr id="23" name=""/>
          <p:cNvGraphicFramePr/>
          <p:nvPr/>
        </p:nvGraphicFramePr>
        <p:xfrm>
          <a:off xmlns:a="http://schemas.openxmlformats.org/drawingml/2006/main" x="6581775" y="4362450"/>
          <a:ext xmlns:a="http://schemas.openxmlformats.org/drawingml/2006/main" cx="4953000" cy="1676400"/>
        </p:xfrm>
        <a:graphic xmlns:a="http://schemas.openxmlformats.org/drawingml/2006/main">
          <a:graphicData uri="http://schemas.openxmlformats.org/drawingml/2006/table">
            <a:tbl>
              <a:tblPr/>
              <a:tblGrid>
                <a:gridCol w="3409950"/>
                <a:gridCol w="1543050"/>
              </a:tblGrid>
              <a:tr h="558800">
                <a:tc>
                  <a:txBody>
                    <a:bodyPr/>
                    <a:lstStyle/>
                    <a:p>
                      <a:r>
                        <a:rPr sz="1725" b="1">
                          <a:solidFill>
                            <a:srgbClr val="FFFFFF"/>
                          </a:solidFill>
                          <a:latin typeface="Calibri"/>
                          <a:ea typeface="Calibri"/>
                          <a:cs typeface="Calibri"/>
                        </a:rPr>
                        <a:t>Software assumption</a:t>
                      </a:r>
                    </a:p>
                  </a:txBody>
                  <a:tcPr marL="91440" marR="91440" marT="45720" marB="45720">
                    <a:solidFill>
                      <a:srgbClr val="073B35"/>
                    </a:solidFill>
                  </a:tcPr>
                </a:tc>
                <a:tc>
                  <a:txBody>
                    <a:bodyPr/>
                    <a:lstStyle/>
                    <a:p>
                      <a:r>
                        <a:rPr sz="1725" b="1">
                          <a:solidFill>
                            <a:srgbClr val="FFFFFF"/>
                          </a:solidFill>
                          <a:latin typeface="Calibri"/>
                          <a:ea typeface="Calibri"/>
                          <a:cs typeface="Calibri"/>
                        </a:rPr>
                        <a:t>Monthly</a:t>
                      </a:r>
                    </a:p>
                  </a:txBody>
                  <a:tcPr marL="91440" marR="91440" marT="45720" marB="45720">
                    <a:solidFill>
                      <a:srgbClr val="073B35"/>
                    </a:solidFill>
                  </a:tcPr>
                </a:tc>
              </a:tr>
              <a:tr h="558800">
                <a:tc>
                  <a:txBody>
                    <a:bodyPr/>
                    <a:lstStyle/>
                    <a:p>
                      <a:r>
                        <a:rPr sz="1725" b="0">
                          <a:solidFill>
                            <a:srgbClr val="073B35"/>
                          </a:solidFill>
                          <a:latin typeface="Calibri"/>
                          <a:ea typeface="Calibri"/>
                          <a:cs typeface="Calibri"/>
                        </a:rPr>
                        <a:t>Shared budget</a:t>
                      </a:r>
                    </a:p>
                  </a:txBody>
                  <a:tcPr marL="91440" marR="91440" marT="45720" marB="45720">
                    <a:solidFill>
                      <a:srgbClr val="FFFFFF"/>
                    </a:solidFill>
                  </a:tcPr>
                </a:tc>
                <a:tc>
                  <a:txBody>
                    <a:bodyPr/>
                    <a:lstStyle/>
                    <a:p>
                      <a:r>
                        <a:rPr sz="1725" b="0">
                          <a:solidFill>
                            <a:srgbClr val="073B35"/>
                          </a:solidFill>
                          <a:latin typeface="Calibri"/>
                          <a:ea typeface="Calibri"/>
                          <a:cs typeface="Calibri"/>
                        </a:rPr>
                        <a:t>₹4,650</a:t>
                      </a:r>
                    </a:p>
                  </a:txBody>
                  <a:tcPr marL="91440" marR="91440" marT="45720" marB="45720">
                    <a:solidFill>
                      <a:srgbClr val="FFFFFF"/>
                    </a:solidFill>
                  </a:tcPr>
                </a:tc>
              </a:tr>
              <a:tr h="558800">
                <a:tc>
                  <a:txBody>
                    <a:bodyPr/>
                    <a:lstStyle/>
                    <a:p>
                      <a:r>
                        <a:rPr sz="1725" b="0">
                          <a:solidFill>
                            <a:srgbClr val="073B35"/>
                          </a:solidFill>
                          <a:latin typeface="Calibri"/>
                          <a:ea typeface="Calibri"/>
                          <a:cs typeface="Calibri"/>
                        </a:rPr>
                        <a:t>50 households</a:t>
                      </a:r>
                    </a:p>
                  </a:txBody>
                  <a:tcPr marL="91440" marR="91440" marT="45720" marB="45720">
                    <a:solidFill>
                      <a:srgbClr val="EBF0E7"/>
                    </a:solidFill>
                  </a:tcPr>
                </a:tc>
                <a:tc>
                  <a:txBody>
                    <a:bodyPr/>
                    <a:lstStyle/>
                    <a:p>
                      <a:r>
                        <a:rPr sz="1725" b="0">
                          <a:solidFill>
                            <a:srgbClr val="073B35"/>
                          </a:solidFill>
                          <a:latin typeface="Calibri"/>
                          <a:ea typeface="Calibri"/>
                          <a:cs typeface="Calibri"/>
                        </a:rPr>
                        <a:t>₹93 each</a:t>
                      </a:r>
                    </a:p>
                  </a:txBody>
                  <a:tcPr marL="91440" marR="91440" marT="45720" marB="45720">
                    <a:solidFill>
                      <a:srgbClr val="EBF0E7"/>
                    </a:solidFill>
                  </a:tcPr>
                </a:tc>
              </a:tr>
            </a:tbl>
          </a:graphicData>
        </a:graphic>
      </p:graphicFrame>
      <p:sp>
        <p:nvSpPr>
          <p:cNvPr id="12" name="">
            <a:extLst xmlns:a="http://schemas.openxmlformats.org/drawingml/2006/main">
              <a:ext uri="{FF2B5EF4-FFF2-40B4-BE49-F238E27FC236}">
                <a16:creationId xmlns:a16="http://schemas.microsoft.com/office/drawing/2014/main" id="{B6299053-C47B-4556-9BF8-177DE2EFE44E}"/>
              </a:ext>
            </a:extLst>
          </p:cNvPr>
          <p:cNvSpPr>
            <a:spLocks xmlns:a="http://schemas.openxmlformats.org/drawingml/2006/main" noGrp="1"/>
          </p:cNvSpPr>
          <p:nvPr/>
        </p:nvSpPr>
        <p:spPr>
          <a:xfrm xmlns:a="http://schemas.openxmlformats.org/drawingml/2006/main">
            <a:off x="609600" y="6105525"/>
            <a:ext cx="108966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8716A"/>
                </a:solidFill>
                <a:latin typeface="Calibri"/>
                <a:ea typeface="Calibri"/>
                <a:cs typeface="Calibri"/>
              </a:defRPr>
            </a:pPr>
            <a:r>
              <a:rPr sz="1350" b="0">
                <a:solidFill>
                  <a:srgbClr val="58716A"/>
                </a:solidFill>
                <a:latin typeface="Calibri"/>
                <a:ea typeface="Calibri"/>
                <a:cs typeface="Calibri"/>
              </a:rPr>
              <a:t>Lower traffic and backup support efficiency. Emissions benefits need a pilot.</a:t>
            </a:r>
          </a:p>
          <a:p xmlns:a="http://schemas.openxmlformats.org/drawingml/2006/main">
            <a:pPr>
              <a:defRPr sz="1350" b="0">
                <a:solidFill>
                  <a:srgbClr val="58716A"/>
                </a:solidFill>
                <a:latin typeface="Calibri"/>
                <a:ea typeface="Calibri"/>
                <a:cs typeface="Calibri"/>
              </a:defRPr>
            </a:pPr>
            <a:r>
              <a:rPr sz="1350" b="0">
                <a:solidFill>
                  <a:srgbClr val="58716A"/>
                </a:solidFill>
                <a:latin typeface="Calibri"/>
                <a:ea typeface="Calibri"/>
                <a:cs typeface="Calibri"/>
              </a:rPr>
              <a:t>Software-only budget excludes hardware and energy. Integration requires approval.</a:t>
            </a:r>
          </a:p>
        </p:txBody>
      </p:sp>
    </p:spTree>
    <p:extLst>
      <p:ext uri="{BB962C8B-B14F-4D97-AF65-F5344CB8AC3E}">
        <p14:creationId xmlns:p14="http://schemas.microsoft.com/office/powerpoint/2010/main" val="346562183"/>
      </p:ext>
    </p:extLst>
  </p:cSld>
</p:sld>
</file>

<file path=ppt/slides/slide12.xml><?xml version="1.0" encoding="utf-8"?>
<p:sld xmlns:p="http://schemas.openxmlformats.org/presentationml/2006/main">
  <p:cSld>
    <p:bg>
      <p:bgPr>
        <a:solidFill xmlns:a="http://schemas.openxmlformats.org/drawingml/2006/main">
          <a:srgbClr val="073B35"/>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F1C2D75-486E-4DAA-8DA5-17D418023197}"/>
              </a:ext>
            </a:extLst>
          </p:cNvPr>
          <p:cNvSpPr>
            <a:spLocks xmlns:a="http://schemas.openxmlformats.org/drawingml/2006/main" noGrp="1"/>
          </p:cNvSpPr>
          <p:nvPr/>
        </p:nvSpPr>
        <p:spPr>
          <a:xfrm xmlns:a="http://schemas.openxmlformats.org/drawingml/2006/main">
            <a:off x="590550" y="466725"/>
            <a:ext cx="110109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Team BP and the prototype-round plan</a:t>
            </a:r>
          </a:p>
        </p:txBody>
      </p:sp>
      <p:sp>
        <p:nvSpPr>
          <p:cNvPr id="2" name="">
            <a:extLst xmlns:a="http://schemas.openxmlformats.org/drawingml/2006/main">
              <a:ext uri="{FF2B5EF4-FFF2-40B4-BE49-F238E27FC236}">
                <a16:creationId xmlns:a16="http://schemas.microsoft.com/office/drawing/2014/main" id="{8A5F85B6-7FE6-4F3E-9FA7-13EFDAB780F4}"/>
              </a:ext>
            </a:extLst>
          </p:cNvPr>
          <p:cNvSpPr>
            <a:spLocks xmlns:a="http://schemas.openxmlformats.org/drawingml/2006/main" noGrp="1"/>
          </p:cNvSpPr>
          <p:nvPr/>
        </p:nvSpPr>
        <p:spPr>
          <a:xfrm xmlns:a="http://schemas.openxmlformats.org/drawingml/2006/main">
            <a:off x="609600" y="6467475"/>
            <a:ext cx="914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0">
                <a:solidFill>
                  <a:srgbClr val="BDD1C5"/>
                </a:solidFill>
                <a:latin typeface="Calibri"/>
                <a:ea typeface="Calibri"/>
                <a:cs typeface="Calibri"/>
              </a:defRPr>
            </a:pPr>
            <a:r>
              <a:rPr sz="975" b="0">
                <a:solidFill>
                  <a:srgbClr val="BDD1C5"/>
                </a:solidFill>
                <a:latin typeface="Calibri"/>
                <a:ea typeface="Calibri"/>
                <a:cs typeface="Calibri"/>
              </a:rPr>
              <a:t>GRIDMESH  /  TEAM BP</a:t>
            </a:r>
          </a:p>
        </p:txBody>
      </p:sp>
      <p:sp>
        <p:nvSpPr>
          <p:cNvPr id="3" name="">
            <a:extLst xmlns:a="http://schemas.openxmlformats.org/drawingml/2006/main">
              <a:ext uri="{FF2B5EF4-FFF2-40B4-BE49-F238E27FC236}">
                <a16:creationId xmlns:a16="http://schemas.microsoft.com/office/drawing/2014/main" id="{4140359E-9B24-4FBC-918F-0EE5F06111EC}"/>
              </a:ext>
            </a:extLst>
          </p:cNvPr>
          <p:cNvSpPr>
            <a:spLocks xmlns:a="http://schemas.openxmlformats.org/drawingml/2006/main" noGrp="1"/>
          </p:cNvSpPr>
          <p:nvPr/>
        </p:nvSpPr>
        <p:spPr>
          <a:xfrm xmlns:a="http://schemas.openxmlformats.org/drawingml/2006/main">
            <a:off x="11144250" y="642937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CE56D"/>
                </a:solidFill>
                <a:latin typeface="Calibri"/>
                <a:ea typeface="Calibri"/>
                <a:cs typeface="Calibri"/>
              </a:defRPr>
            </a:pPr>
            <a:r>
              <a:rPr sz="1200" b="0">
                <a:solidFill>
                  <a:srgbClr val="BCE56D"/>
                </a:solidFill>
                <a:latin typeface="Calibri"/>
                <a:ea typeface="Calibri"/>
                <a:cs typeface="Calibri"/>
              </a:rPr>
              <a:t>12</a:t>
            </a:r>
          </a:p>
        </p:txBody>
      </p:sp>
      <p:sp>
        <p:nvSpPr>
          <p:cNvPr id="4" name="">
            <a:extLst xmlns:a="http://schemas.openxmlformats.org/drawingml/2006/main">
              <a:ext uri="{FF2B5EF4-FFF2-40B4-BE49-F238E27FC236}">
                <a16:creationId xmlns:a16="http://schemas.microsoft.com/office/drawing/2014/main" id="{18582169-AA85-435C-AD92-EBF5CF32901A}"/>
              </a:ext>
            </a:extLst>
          </p:cNvPr>
          <p:cNvSpPr>
            <a:spLocks xmlns:a="http://schemas.openxmlformats.org/drawingml/2006/main" noGrp="1"/>
          </p:cNvSpPr>
          <p:nvPr/>
        </p:nvSpPr>
        <p:spPr>
          <a:xfrm xmlns:a="http://schemas.openxmlformats.org/drawingml/2006/main">
            <a:off x="609600" y="1704975"/>
            <a:ext cx="52292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FFFFF"/>
                </a:solidFill>
                <a:latin typeface="Calibri"/>
                <a:ea typeface="Calibri"/>
                <a:cs typeface="Calibri"/>
              </a:defRPr>
            </a:pPr>
            <a:r>
              <a:rPr sz="2625" b="1">
                <a:solidFill>
                  <a:srgbClr val="FFFFFF"/>
                </a:solidFill>
                <a:latin typeface="Calibri"/>
                <a:ea typeface="Calibri"/>
                <a:cs typeface="Calibri"/>
              </a:rPr>
              <a:t>Bhavesh M</a:t>
            </a:r>
          </a:p>
          <a:p xmlns:a="http://schemas.openxmlformats.org/drawingml/2006/main">
            <a:pPr>
              <a:defRPr sz="2625" b="1">
                <a:solidFill>
                  <a:srgbClr val="FFFFFF"/>
                </a:solidFill>
                <a:latin typeface="Calibri"/>
                <a:ea typeface="Calibri"/>
                <a:cs typeface="Calibri"/>
              </a:defRPr>
            </a:pPr>
            <a:r>
              <a:rPr sz="2625" b="1">
                <a:solidFill>
                  <a:srgbClr val="FFFFFF"/>
                </a:solidFill>
                <a:latin typeface="Calibri"/>
                <a:ea typeface="Calibri"/>
                <a:cs typeface="Calibri"/>
              </a:rPr>
              <a:t>Ajay Javali</a:t>
            </a:r>
          </a:p>
        </p:txBody>
      </p:sp>
      <p:sp>
        <p:nvSpPr>
          <p:cNvPr id="5" name="">
            <a:extLst xmlns:a="http://schemas.openxmlformats.org/drawingml/2006/main">
              <a:ext uri="{FF2B5EF4-FFF2-40B4-BE49-F238E27FC236}">
                <a16:creationId xmlns:a16="http://schemas.microsoft.com/office/drawing/2014/main" id="{5F5FB3D9-C659-4CC2-A1AC-97F7EFEBCE52}"/>
              </a:ext>
            </a:extLst>
          </p:cNvPr>
          <p:cNvSpPr>
            <a:spLocks xmlns:a="http://schemas.openxmlformats.org/drawingml/2006/main" noGrp="1"/>
          </p:cNvSpPr>
          <p:nvPr/>
        </p:nvSpPr>
        <p:spPr>
          <a:xfrm xmlns:a="http://schemas.openxmlformats.org/drawingml/2006/main">
            <a:off x="6562725" y="1704975"/>
            <a:ext cx="500062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FFFFF"/>
                </a:solidFill>
                <a:latin typeface="Calibri"/>
                <a:ea typeface="Calibri"/>
                <a:cs typeface="Calibri"/>
              </a:defRPr>
            </a:pPr>
            <a:r>
              <a:rPr sz="2625" b="1">
                <a:solidFill>
                  <a:srgbClr val="FFFFFF"/>
                </a:solidFill>
                <a:latin typeface="Calibri"/>
                <a:ea typeface="Calibri"/>
                <a:cs typeface="Calibri"/>
              </a:rPr>
              <a:t>Pragun kirani</a:t>
            </a:r>
          </a:p>
          <a:p xmlns:a="http://schemas.openxmlformats.org/drawingml/2006/main">
            <a:pPr>
              <a:defRPr sz="2625" b="1">
                <a:solidFill>
                  <a:srgbClr val="FFFFFF"/>
                </a:solidFill>
                <a:latin typeface="Calibri"/>
                <a:ea typeface="Calibri"/>
                <a:cs typeface="Calibri"/>
              </a:defRPr>
            </a:pPr>
            <a:r>
              <a:rPr sz="2625" b="1">
                <a:solidFill>
                  <a:srgbClr val="FFFFFF"/>
                </a:solidFill>
                <a:latin typeface="Calibri"/>
                <a:ea typeface="Calibri"/>
                <a:cs typeface="Calibri"/>
              </a:rPr>
              <a:t>Varshith M gowda</a:t>
            </a:r>
          </a:p>
        </p:txBody>
      </p:sp>
      <p:sp>
        <p:nvSpPr>
          <p:cNvPr id="6" name="">
            <a:extLst xmlns:a="http://schemas.openxmlformats.org/drawingml/2006/main">
              <a:ext uri="{FF2B5EF4-FFF2-40B4-BE49-F238E27FC236}">
                <a16:creationId xmlns:a16="http://schemas.microsoft.com/office/drawing/2014/main" id="{79FF9F0B-DC9F-4CB5-9AA9-06AEDF2F4905}"/>
              </a:ext>
            </a:extLst>
          </p:cNvPr>
          <p:cNvSpPr>
            <a:spLocks xmlns:a="http://schemas.openxmlformats.org/drawingml/2006/main" noGrp="1"/>
          </p:cNvSpPr>
          <p:nvPr/>
        </p:nvSpPr>
        <p:spPr>
          <a:xfrm xmlns:a="http://schemas.openxmlformats.org/drawingml/2006/main">
            <a:off x="609600" y="3162300"/>
            <a:ext cx="1057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BCE56D"/>
                </a:solidFill>
                <a:latin typeface="Calibri"/>
                <a:ea typeface="Calibri"/>
                <a:cs typeface="Calibri"/>
              </a:defRPr>
            </a:pPr>
            <a:r>
              <a:rPr sz="1350" b="1">
                <a:solidFill>
                  <a:srgbClr val="BCE56D"/>
                </a:solidFill>
                <a:latin typeface="Calibri"/>
                <a:ea typeface="Calibri"/>
                <a:cs typeface="Calibri"/>
              </a:rPr>
              <a:t>MENTORS</a:t>
            </a:r>
          </a:p>
        </p:txBody>
      </p:sp>
      <p:sp>
        <p:nvSpPr>
          <p:cNvPr id="7" name="">
            <a:extLst xmlns:a="http://schemas.openxmlformats.org/drawingml/2006/main">
              <a:ext uri="{FF2B5EF4-FFF2-40B4-BE49-F238E27FC236}">
                <a16:creationId xmlns:a16="http://schemas.microsoft.com/office/drawing/2014/main" id="{E7048A79-E89F-4A71-9AB8-A1215E6014C3}"/>
              </a:ext>
            </a:extLst>
          </p:cNvPr>
          <p:cNvSpPr>
            <a:spLocks xmlns:a="http://schemas.openxmlformats.org/drawingml/2006/main" noGrp="1"/>
          </p:cNvSpPr>
          <p:nvPr/>
        </p:nvSpPr>
        <p:spPr>
          <a:xfrm xmlns:a="http://schemas.openxmlformats.org/drawingml/2006/main">
            <a:off x="609600" y="3638550"/>
            <a:ext cx="1057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Calibri"/>
                <a:ea typeface="Calibri"/>
                <a:cs typeface="Calibri"/>
              </a:defRPr>
            </a:pPr>
            <a:r>
              <a:rPr sz="2175" b="0">
                <a:solidFill>
                  <a:srgbClr val="FFFFFF"/>
                </a:solidFill>
                <a:latin typeface="Calibri"/>
                <a:ea typeface="Calibri"/>
                <a:cs typeface="Calibri"/>
              </a:rPr>
              <a:t>Prof. Aswin Kannan   /   Prof. Shrisha Rao</a:t>
            </a:r>
          </a:p>
        </p:txBody>
      </p:sp>
      <p:sp>
        <p:nvSpPr>
          <p:cNvPr id="8" name="">
            <a:extLst xmlns:a="http://schemas.openxmlformats.org/drawingml/2006/main">
              <a:ext uri="{FF2B5EF4-FFF2-40B4-BE49-F238E27FC236}">
                <a16:creationId xmlns:a16="http://schemas.microsoft.com/office/drawing/2014/main" id="{6607D0A4-18A0-40EE-AC29-2CC0AB9F17B6}"/>
              </a:ext>
            </a:extLst>
          </p:cNvPr>
          <p:cNvSpPr>
            <a:spLocks xmlns:a="http://schemas.openxmlformats.org/drawingml/2006/main" noGrp="1"/>
          </p:cNvSpPr>
          <p:nvPr/>
        </p:nvSpPr>
        <p:spPr>
          <a:xfrm xmlns:a="http://schemas.openxmlformats.org/drawingml/2006/main">
            <a:off x="609600" y="4343400"/>
            <a:ext cx="10953750" cy="0"/>
          </a:xfrm>
          <a:prstGeom xmlns:a="http://schemas.openxmlformats.org/drawingml/2006/main" prst="line">
            <a:avLst/>
          </a:prstGeom>
          <a:ln xmlns:a="http://schemas.openxmlformats.org/drawingml/2006/main" w="19050">
            <a:solidFill>
              <a:srgbClr val="456C61"/>
            </a:solidFill>
          </a:ln>
        </p:spPr>
      </p:sp>
      <p:sp>
        <p:nvSpPr>
          <p:cNvPr id="9" name="">
            <a:extLst xmlns:a="http://schemas.openxmlformats.org/drawingml/2006/main">
              <a:ext uri="{FF2B5EF4-FFF2-40B4-BE49-F238E27FC236}">
                <a16:creationId xmlns:a16="http://schemas.microsoft.com/office/drawing/2014/main" id="{7F58FACB-B2D8-4AB1-8F3C-29CDCCA2E54C}"/>
              </a:ext>
            </a:extLst>
          </p:cNvPr>
          <p:cNvSpPr>
            <a:spLocks xmlns:a="http://schemas.openxmlformats.org/drawingml/2006/main" noGrp="1"/>
          </p:cNvSpPr>
          <p:nvPr/>
        </p:nvSpPr>
        <p:spPr>
          <a:xfrm xmlns:a="http://schemas.openxmlformats.org/drawingml/2006/main">
            <a:off x="609600" y="4705350"/>
            <a:ext cx="314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BCE56D"/>
                </a:solidFill>
                <a:latin typeface="Calibri"/>
                <a:ea typeface="Calibri"/>
                <a:cs typeface="Calibri"/>
              </a:defRPr>
            </a:pPr>
            <a:r>
              <a:rPr sz="1800" b="1">
                <a:solidFill>
                  <a:srgbClr val="BCE56D"/>
                </a:solidFill>
                <a:latin typeface="Calibri"/>
                <a:ea typeface="Calibri"/>
                <a:cs typeface="Calibri"/>
              </a:rPr>
              <a:t>Weeks 1–2</a:t>
            </a:r>
          </a:p>
        </p:txBody>
      </p:sp>
      <p:sp>
        <p:nvSpPr>
          <p:cNvPr id="10" name="">
            <a:extLst xmlns:a="http://schemas.openxmlformats.org/drawingml/2006/main">
              <a:ext uri="{FF2B5EF4-FFF2-40B4-BE49-F238E27FC236}">
                <a16:creationId xmlns:a16="http://schemas.microsoft.com/office/drawing/2014/main" id="{42FAABDB-3149-40B1-BC7F-4B3BBCF5C597}"/>
              </a:ext>
            </a:extLst>
          </p:cNvPr>
          <p:cNvSpPr>
            <a:spLocks xmlns:a="http://schemas.openxmlformats.org/drawingml/2006/main" noGrp="1"/>
          </p:cNvSpPr>
          <p:nvPr/>
        </p:nvSpPr>
        <p:spPr>
          <a:xfrm xmlns:a="http://schemas.openxmlformats.org/drawingml/2006/main">
            <a:off x="609600" y="5219700"/>
            <a:ext cx="31623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FFFFF"/>
                </a:solidFill>
                <a:latin typeface="Calibri"/>
                <a:ea typeface="Calibri"/>
                <a:cs typeface="Calibri"/>
              </a:defRPr>
            </a:pPr>
            <a:r>
              <a:rPr sz="1875" b="0">
                <a:solidFill>
                  <a:srgbClr val="FFFFFF"/>
                </a:solidFill>
                <a:latin typeface="Calibri"/>
                <a:ea typeface="Calibri"/>
                <a:cs typeface="Calibri"/>
              </a:rPr>
              <a:t>Measured Indian PV/load</a:t>
            </a:r>
          </a:p>
          <a:p xmlns:a="http://schemas.openxmlformats.org/drawingml/2006/main">
            <a:pPr>
              <a:defRPr sz="1875" b="0">
                <a:solidFill>
                  <a:srgbClr val="FFFFFF"/>
                </a:solidFill>
                <a:latin typeface="Calibri"/>
                <a:ea typeface="Calibri"/>
                <a:cs typeface="Calibri"/>
              </a:defRPr>
            </a:pPr>
            <a:r>
              <a:rPr sz="1875" b="0">
                <a:solidFill>
                  <a:srgbClr val="FFFFFF"/>
                </a:solidFill>
                <a:latin typeface="Calibri"/>
                <a:ea typeface="Calibri"/>
                <a:cs typeface="Calibri"/>
              </a:rPr>
              <a:t>and asset constraints</a:t>
            </a:r>
          </a:p>
        </p:txBody>
      </p:sp>
      <p:sp>
        <p:nvSpPr>
          <p:cNvPr id="11" name="">
            <a:extLst xmlns:a="http://schemas.openxmlformats.org/drawingml/2006/main">
              <a:ext uri="{FF2B5EF4-FFF2-40B4-BE49-F238E27FC236}">
                <a16:creationId xmlns:a16="http://schemas.microsoft.com/office/drawing/2014/main" id="{7F2FDF42-2492-4F9E-8F71-214E48E1F28A}"/>
              </a:ext>
            </a:extLst>
          </p:cNvPr>
          <p:cNvSpPr>
            <a:spLocks xmlns:a="http://schemas.openxmlformats.org/drawingml/2006/main" noGrp="1"/>
          </p:cNvSpPr>
          <p:nvPr/>
        </p:nvSpPr>
        <p:spPr>
          <a:xfrm xmlns:a="http://schemas.openxmlformats.org/drawingml/2006/main">
            <a:off x="4533900" y="4705350"/>
            <a:ext cx="314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BCE56D"/>
                </a:solidFill>
                <a:latin typeface="Calibri"/>
                <a:ea typeface="Calibri"/>
                <a:cs typeface="Calibri"/>
              </a:defRPr>
            </a:pPr>
            <a:r>
              <a:rPr sz="1800" b="1">
                <a:solidFill>
                  <a:srgbClr val="BCE56D"/>
                </a:solidFill>
                <a:latin typeface="Calibri"/>
                <a:ea typeface="Calibri"/>
                <a:cs typeface="Calibri"/>
              </a:rPr>
              <a:t>Week 3</a:t>
            </a:r>
          </a:p>
        </p:txBody>
      </p:sp>
      <p:sp>
        <p:nvSpPr>
          <p:cNvPr id="12" name="">
            <a:extLst xmlns:a="http://schemas.openxmlformats.org/drawingml/2006/main">
              <a:ext uri="{FF2B5EF4-FFF2-40B4-BE49-F238E27FC236}">
                <a16:creationId xmlns:a16="http://schemas.microsoft.com/office/drawing/2014/main" id="{7D1A901C-700C-4EB5-B382-1F79132679CE}"/>
              </a:ext>
            </a:extLst>
          </p:cNvPr>
          <p:cNvSpPr>
            <a:spLocks xmlns:a="http://schemas.openxmlformats.org/drawingml/2006/main" noGrp="1"/>
          </p:cNvSpPr>
          <p:nvPr/>
        </p:nvSpPr>
        <p:spPr>
          <a:xfrm xmlns:a="http://schemas.openxmlformats.org/drawingml/2006/main">
            <a:off x="4533900" y="5219700"/>
            <a:ext cx="31432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FFFFF"/>
                </a:solidFill>
                <a:latin typeface="Calibri"/>
                <a:ea typeface="Calibri"/>
                <a:cs typeface="Calibri"/>
              </a:defRPr>
            </a:pPr>
            <a:r>
              <a:rPr sz="1875" b="0">
                <a:solidFill>
                  <a:srgbClr val="FFFFFF"/>
                </a:solidFill>
                <a:latin typeface="Calibri"/>
                <a:ea typeface="Calibri"/>
                <a:cs typeface="Calibri"/>
              </a:rPr>
              <a:t>Rolling planning and</a:t>
            </a:r>
          </a:p>
          <a:p xmlns:a="http://schemas.openxmlformats.org/drawingml/2006/main">
            <a:pPr>
              <a:defRPr sz="1875" b="0">
                <a:solidFill>
                  <a:srgbClr val="FFFFFF"/>
                </a:solidFill>
                <a:latin typeface="Calibri"/>
                <a:ea typeface="Calibri"/>
                <a:cs typeface="Calibri"/>
              </a:defRPr>
            </a:pPr>
            <a:r>
              <a:rPr sz="1875" b="0">
                <a:solidFill>
                  <a:srgbClr val="FFFFFF"/>
                </a:solidFill>
                <a:latin typeface="Calibri"/>
                <a:ea typeface="Calibri"/>
                <a:cs typeface="Calibri"/>
              </a:rPr>
              <a:t>trusted model exchange</a:t>
            </a:r>
          </a:p>
        </p:txBody>
      </p:sp>
      <p:sp>
        <p:nvSpPr>
          <p:cNvPr id="13" name="">
            <a:extLst xmlns:a="http://schemas.openxmlformats.org/drawingml/2006/main">
              <a:ext uri="{FF2B5EF4-FFF2-40B4-BE49-F238E27FC236}">
                <a16:creationId xmlns:a16="http://schemas.microsoft.com/office/drawing/2014/main" id="{5AB38160-8A01-4089-BF93-AC99CD81E977}"/>
              </a:ext>
            </a:extLst>
          </p:cNvPr>
          <p:cNvSpPr>
            <a:spLocks xmlns:a="http://schemas.openxmlformats.org/drawingml/2006/main" noGrp="1"/>
          </p:cNvSpPr>
          <p:nvPr/>
        </p:nvSpPr>
        <p:spPr>
          <a:xfrm xmlns:a="http://schemas.openxmlformats.org/drawingml/2006/main">
            <a:off x="8496300" y="4705350"/>
            <a:ext cx="30384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BCE56D"/>
                </a:solidFill>
                <a:latin typeface="Calibri"/>
                <a:ea typeface="Calibri"/>
                <a:cs typeface="Calibri"/>
              </a:defRPr>
            </a:pPr>
            <a:r>
              <a:rPr sz="1800" b="1">
                <a:solidFill>
                  <a:srgbClr val="BCE56D"/>
                </a:solidFill>
                <a:latin typeface="Calibri"/>
                <a:ea typeface="Calibri"/>
                <a:cs typeface="Calibri"/>
              </a:rPr>
              <a:t>Week 4</a:t>
            </a:r>
          </a:p>
        </p:txBody>
      </p:sp>
      <p:sp>
        <p:nvSpPr>
          <p:cNvPr id="14" name="">
            <a:extLst xmlns:a="http://schemas.openxmlformats.org/drawingml/2006/main">
              <a:ext uri="{FF2B5EF4-FFF2-40B4-BE49-F238E27FC236}">
                <a16:creationId xmlns:a16="http://schemas.microsoft.com/office/drawing/2014/main" id="{A870DDD2-972C-4CC4-9500-16F6A9675296}"/>
              </a:ext>
            </a:extLst>
          </p:cNvPr>
          <p:cNvSpPr>
            <a:spLocks xmlns:a="http://schemas.openxmlformats.org/drawingml/2006/main" noGrp="1"/>
          </p:cNvSpPr>
          <p:nvPr/>
        </p:nvSpPr>
        <p:spPr>
          <a:xfrm xmlns:a="http://schemas.openxmlformats.org/drawingml/2006/main">
            <a:off x="8496300" y="5219700"/>
            <a:ext cx="3038475"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FFFFFF"/>
                </a:solidFill>
                <a:latin typeface="Calibri"/>
                <a:ea typeface="Calibri"/>
                <a:cs typeface="Calibri"/>
              </a:defRPr>
            </a:pPr>
            <a:r>
              <a:rPr sz="1875" b="0">
                <a:solidFill>
                  <a:srgbClr val="FFFFFF"/>
                </a:solidFill>
                <a:latin typeface="Calibri"/>
                <a:ea typeface="Calibri"/>
                <a:cs typeface="Calibri"/>
              </a:rPr>
              <a:t>Shadow pilot, operator</a:t>
            </a:r>
          </a:p>
          <a:p xmlns:a="http://schemas.openxmlformats.org/drawingml/2006/main">
            <a:pPr>
              <a:defRPr sz="1875" b="0">
                <a:solidFill>
                  <a:srgbClr val="FFFFFF"/>
                </a:solidFill>
                <a:latin typeface="Calibri"/>
                <a:ea typeface="Calibri"/>
                <a:cs typeface="Calibri"/>
              </a:defRPr>
            </a:pPr>
            <a:r>
              <a:rPr sz="1875" b="0">
                <a:solidFill>
                  <a:srgbClr val="FFFFFF"/>
                </a:solidFill>
                <a:latin typeface="Calibri"/>
                <a:ea typeface="Calibri"/>
                <a:cs typeface="Calibri"/>
              </a:rPr>
              <a:t>feedback and cost test</a:t>
            </a:r>
          </a:p>
        </p:txBody>
      </p:sp>
      <p:sp>
        <p:nvSpPr>
          <p:cNvPr id="15" name="">
            <a:extLst xmlns:a="http://schemas.openxmlformats.org/drawingml/2006/main">
              <a:ext uri="{FF2B5EF4-FFF2-40B4-BE49-F238E27FC236}">
                <a16:creationId xmlns:a16="http://schemas.microsoft.com/office/drawing/2014/main" id="{56F6648E-5E88-4DB1-A983-2214A4A6044A}"/>
              </a:ext>
            </a:extLst>
          </p:cNvPr>
          <p:cNvSpPr>
            <a:spLocks xmlns:a="http://schemas.openxmlformats.org/drawingml/2006/main" noGrp="1"/>
          </p:cNvSpPr>
          <p:nvPr/>
        </p:nvSpPr>
        <p:spPr>
          <a:xfrm xmlns:a="http://schemas.openxmlformats.org/drawingml/2006/main">
            <a:off x="609600" y="6191250"/>
            <a:ext cx="10953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FFFFFF"/>
                </a:solidFill>
                <a:latin typeface="Calibri"/>
                <a:ea typeface="Calibri"/>
                <a:cs typeface="Calibri"/>
              </a:defRPr>
            </a:pPr>
            <a:r>
              <a:rPr sz="1500" b="1">
                <a:solidFill>
                  <a:srgbClr val="FFFFFF"/>
                </a:solidFill>
                <a:latin typeface="Calibri"/>
                <a:ea typeface="Calibri"/>
                <a:cs typeface="Calibri"/>
              </a:rPr>
              <a:t>Prototype-round ask: validate the complete workflow with measured community data</a:t>
            </a:r>
          </a:p>
        </p:txBody>
      </p:sp>
    </p:spTree>
    <p:extLst>
      <p:ext uri="{BB962C8B-B14F-4D97-AF65-F5344CB8AC3E}">
        <p14:creationId xmlns:p14="http://schemas.microsoft.com/office/powerpoint/2010/main" val="19136587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2026-10-02T19:52:31.0530000Z</dcterms:created>
  <dcterms:modified xsi:type="dcterms:W3CDTF">2026-10-02T19:52:31.0540000Z</dcterms:modified>
</coreProperties>
</file>