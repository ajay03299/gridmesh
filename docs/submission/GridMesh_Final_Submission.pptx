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Override PartName="/ppt/slides/charts/mentor_chart2.xml" ContentType="application/vnd.openxmlformats-officedocument.drawingml.chart+xml"/>
  <Override PartName="/ppt/slides/charts/refined_chart3.xml" ContentType="application/vnd.openxmlformats-officedocument.drawingml.chart+xml"/>
  <Override PartName="/ppt/slides/charts/finalwording_chart3.xml" ContentType="application/vnd.openxmlformats-officedocument.drawingml.chart+xml"/>
</Types>
</file>

<file path=_rels/.rels>&#65279;<?xml version="1.0" encoding="utf-8"?><Relationships xmlns="http://schemas.openxmlformats.org/package/2006/relationships"><Relationship Type="http://schemas.openxmlformats.org/package/2006/relationships/metadata/core-properties" Target="/docProps/core.xml" Id="R06ee4537d2484ce1" /><Relationship Type="http://schemas.openxmlformats.org/officeDocument/2006/relationships/extended-properties" Target="/docProps/app.xml" Id="R68c9f7944edb43eb" /><Relationship Type="http://schemas.openxmlformats.org/officeDocument/2006/relationships/officeDocument" Target="/ppt/presentation.xml" Id="R8124d50c2d8c4d0a" /></Relationships>
</file>

<file path=ppt/presentation.xml><?xml version="1.0" encoding="utf-8"?>
<p:presentation xmlns:p="http://schemas.openxmlformats.org/presentationml/2006/main">
  <p:sldMasterIdLst>
    <p:sldMasterId xmlns:r="http://schemas.openxmlformats.org/officeDocument/2006/relationships" id="2147483648" r:id="R94c04a15bfaa447c"/>
  </p:sldMasterIdLst>
  <p:notesMasterIdLst>
    <p:notesMasterId xmlns:r="http://schemas.openxmlformats.org/officeDocument/2006/relationships" r:id="Rb3b93f0eb3fc49a1"/>
  </p:notesMasterIdLst>
  <p:sldIdLst>
    <p:sldId xmlns:r="http://schemas.openxmlformats.org/officeDocument/2006/relationships" id="256" r:id="R7e92d8bb311c4835"/>
    <p:sldId xmlns:r="http://schemas.openxmlformats.org/officeDocument/2006/relationships" id="257" r:id="R2182369a5f4948c9"/>
    <p:sldId xmlns:r="http://schemas.openxmlformats.org/officeDocument/2006/relationships" id="258" r:id="R0fc1059fe56f44ea"/>
    <p:sldId xmlns:r="http://schemas.openxmlformats.org/officeDocument/2006/relationships" id="259" r:id="Rdae0a166d05f4d5e"/>
    <p:sldId xmlns:r="http://schemas.openxmlformats.org/officeDocument/2006/relationships" id="260" r:id="R17814084da394548"/>
    <p:sldId xmlns:r="http://schemas.openxmlformats.org/officeDocument/2006/relationships" id="261" r:id="Rba8e493b1a524edd"/>
    <p:sldId xmlns:r="http://schemas.openxmlformats.org/officeDocument/2006/relationships" id="262" r:id="R2270a96821e4424b"/>
    <p:sldId xmlns:r="http://schemas.openxmlformats.org/officeDocument/2006/relationships" id="263" r:id="Rfd7d2df7065646b7"/>
    <p:sldId xmlns:r="http://schemas.openxmlformats.org/officeDocument/2006/relationships" id="264" r:id="R63ec6fa74b544586"/>
    <p:sldId xmlns:r="http://schemas.openxmlformats.org/officeDocument/2006/relationships" id="265" r:id="Re44ba98e1bcd4938"/>
    <p:sldId xmlns:r="http://schemas.openxmlformats.org/officeDocument/2006/relationships" id="266" r:id="R5f9855d2ec8548db"/>
    <p:sldId xmlns:r="http://schemas.openxmlformats.org/officeDocument/2006/relationships" id="267" r:id="Rd67b1a8cfedd42c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df28720d859466b" /><Relationship Type="http://schemas.openxmlformats.org/officeDocument/2006/relationships/slideMaster" Target="/ppt/slideMasters/slideMaster1.xml" Id="R94c04a15bfaa447c" /><Relationship Type="http://schemas.openxmlformats.org/officeDocument/2006/relationships/notesMaster" Target="/ppt/notesMasters/notesMaster1.xml" Id="Rb3b93f0eb3fc49a1" /><Relationship Type="http://schemas.openxmlformats.org/officeDocument/2006/relationships/presProps" Target="/ppt/presProps.xml" Id="Rc0704b8848ff45e3" /><Relationship Type="http://schemas.openxmlformats.org/officeDocument/2006/relationships/tableStyles" Target="/ppt/tableStyles.xml" Id="Rc08d9ba3df674d2e" /><Relationship Type="http://schemas.openxmlformats.org/officeDocument/2006/relationships/slide" Target="/ppt/slides/slide1.xml" Id="R7e92d8bb311c4835" /><Relationship Type="http://schemas.openxmlformats.org/officeDocument/2006/relationships/slide" Target="/ppt/slides/slide2.xml" Id="R2182369a5f4948c9" /><Relationship Type="http://schemas.openxmlformats.org/officeDocument/2006/relationships/slide" Target="/ppt/slides/slide3.xml" Id="R0fc1059fe56f44ea" /><Relationship Type="http://schemas.openxmlformats.org/officeDocument/2006/relationships/slide" Target="/ppt/slides/slide4.xml" Id="Rdae0a166d05f4d5e" /><Relationship Type="http://schemas.openxmlformats.org/officeDocument/2006/relationships/slide" Target="/ppt/slides/slide5.xml" Id="R17814084da394548" /><Relationship Type="http://schemas.openxmlformats.org/officeDocument/2006/relationships/slide" Target="/ppt/slides/slide6.xml" Id="Rba8e493b1a524edd" /><Relationship Type="http://schemas.openxmlformats.org/officeDocument/2006/relationships/slide" Target="/ppt/slides/slide7.xml" Id="R2270a96821e4424b" /><Relationship Type="http://schemas.openxmlformats.org/officeDocument/2006/relationships/slide" Target="/ppt/slides/slide8.xml" Id="Rfd7d2df7065646b7" /><Relationship Type="http://schemas.openxmlformats.org/officeDocument/2006/relationships/slide" Target="/ppt/slides/slide9.xml" Id="R63ec6fa74b544586" /><Relationship Type="http://schemas.openxmlformats.org/officeDocument/2006/relationships/slide" Target="/ppt/slides/slide10.xml" Id="Re44ba98e1bcd4938" /><Relationship Type="http://schemas.openxmlformats.org/officeDocument/2006/relationships/slide" Target="/ppt/slides/slide11.xml" Id="R5f9855d2ec8548db" /><Relationship Type="http://schemas.openxmlformats.org/officeDocument/2006/relationships/slide" Target="/ppt/slides/slide12.xml" Id="Rd67b1a8cfedd42c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4308e0c002544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2c93b6b2a8f46dd" /><Relationship Type="http://schemas.openxmlformats.org/officeDocument/2006/relationships/notesMaster" Target="/ppt/notesMasters/notesMaster1.xml" Id="R8a519b96acb04ee6" /></Relationships>
</file>

<file path=ppt/notesSlides/_rels/notesSlide2.xml.rels>&#65279;<?xml version="1.0" encoding="utf-8"?><Relationships xmlns="http://schemas.openxmlformats.org/package/2006/relationships"><Relationship Type="http://schemas.openxmlformats.org/officeDocument/2006/relationships/slide" Target="/ppt/slides/slide2.xml" Id="R2c0cda4dc5274f7a" /><Relationship Type="http://schemas.openxmlformats.org/officeDocument/2006/relationships/notesMaster" Target="/ppt/notesMasters/notesMaster1.xml" Id="R7b74b00c80f34b8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ff1aa473ed47a4" /><Relationship Type="http://schemas.openxmlformats.org/officeDocument/2006/relationships/notesMaster" Target="/ppt/notesMasters/notesMaster1.xml" Id="R3e015d6362d540a4" /></Relationships>
</file>

<file path=ppt/notesSlides/_rels/notesSlide4.xml.rels>&#65279;<?xml version="1.0" encoding="utf-8"?><Relationships xmlns="http://schemas.openxmlformats.org/package/2006/relationships"><Relationship Type="http://schemas.openxmlformats.org/officeDocument/2006/relationships/slide" Target="/ppt/slides/slide4.xml" Id="Ra7cfc38a49ed4809" /><Relationship Type="http://schemas.openxmlformats.org/officeDocument/2006/relationships/notesMaster" Target="/ppt/notesMasters/notesMaster1.xml" Id="R150ae064f3674398" /></Relationships>
</file>

<file path=ppt/notesSlides/_rels/notesSlide5.xml.rels>&#65279;<?xml version="1.0" encoding="utf-8"?><Relationships xmlns="http://schemas.openxmlformats.org/package/2006/relationships"><Relationship Type="http://schemas.openxmlformats.org/officeDocument/2006/relationships/slide" Target="/ppt/slides/slide5.xml" Id="R96939a92463745ce" /><Relationship Type="http://schemas.openxmlformats.org/officeDocument/2006/relationships/notesMaster" Target="/ppt/notesMasters/notesMaster1.xml" Id="Rc1e1218f32084879"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495285c76e4a08" /><Relationship Type="http://schemas.openxmlformats.org/officeDocument/2006/relationships/notesMaster" Target="/ppt/notesMasters/notesMaster1.xml" Id="R55a25ec78fb341ee"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1178ac68874642" /><Relationship Type="http://schemas.openxmlformats.org/officeDocument/2006/relationships/notesMaster" Target="/ppt/notesMasters/notesMaster1.xml" Id="R7615138bb06a4859" /></Relationships>
</file>

<file path=ppt/notesSlides/_rels/notesSlide8.xml.rels>&#65279;<?xml version="1.0" encoding="utf-8"?><Relationships xmlns="http://schemas.openxmlformats.org/package/2006/relationships"><Relationship Type="http://schemas.openxmlformats.org/officeDocument/2006/relationships/slide" Target="/ppt/slides/slide8.xml" Id="Rc0aa4e5567bc4e91" /><Relationship Type="http://schemas.openxmlformats.org/officeDocument/2006/relationships/notesMaster" Target="/ppt/notesMasters/notesMaster1.xml" Id="Rd16d4f84eff04e5b" /></Relationships>
</file>

<file path=ppt/notesSlides/_rels/notesSlide9.xml.rels>&#65279;<?xml version="1.0" encoding="utf-8"?><Relationships xmlns="http://schemas.openxmlformats.org/package/2006/relationships"><Relationship Type="http://schemas.openxmlformats.org/officeDocument/2006/relationships/slide" Target="/ppt/slides/slide9.xml" Id="Rc689e9dbd84a4852" /><Relationship Type="http://schemas.openxmlformats.org/officeDocument/2006/relationships/notesMaster" Target="/ppt/notesMasters/notesMaster1.xml" Id="Ref4ec8d826fd41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1a8d87669de4746" /><Relationship Type="http://schemas.openxmlformats.org/officeDocument/2006/relationships/notesMaster" Target="/ppt/notesMasters/notesMaster1.xml" Id="Rfd86738cb9a7474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9fb315967c341b7" /><Relationship Type="http://schemas.openxmlformats.org/officeDocument/2006/relationships/notesMaster" Target="/ppt/notesMasters/notesMaster1.xml" Id="R454432593eee4a7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27a3b46e1f0450c" /><Relationship Type="http://schemas.openxmlformats.org/officeDocument/2006/relationships/notesMaster" Target="/ppt/notesMasters/notesMaster1.xml" Id="Rd5bec9abe16741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Challenge03: neighbourhood grid reliability and renewable intermittency. Product goal: provide solar forecasts and constrained reserve advice to a local operator. The visual is a concept/process sequence, not a guarantee of reliable physical supply.</a:t>
            </a:r>
          </a:p>
          <a:p xmlns:a="http://schemas.openxmlformats.org/drawingml/2006/main">
            <a:r>
              <a:t>Evidence: real weather, modelled solar, virtual sites, synthetic demand and assumed backup assets/costs. No Indian field pilot, measured equipment outage hours, live SCADA control or formal privacy guarantee. Federated sites are emulated in one process. Larger-fleet tests use compact repeated-reference data. Deployment/ownership/Schneider handoffs are proposals, not built integrations.</a:t>
            </a:r>
          </a:p>
          <a:p xmlns:a="http://schemas.openxmlformats.org/drawingml/2006/main">
            <a:r>
              <a:t>Content source: C:\Users\Admin\Documents\Codex\2026-09-30\i-have-a-hackathon-i-will-3\outputs\plain_language_submission\GridMesh_Explained_Submission_v2.pptx ; SHA256 6a477481ee7c191fb7bb566d03de7b9ad3b4fc20142483487e7605f65e5594e9. Design retains beige/black and Arial/Arial Black from source. Existing public Canva reference: https://www.canva.com/templates/EAFaYPfKRPU/ .</a:t>
            </a:r>
          </a:p>
          <a:p xmlns:a="http://schemas.openxmlformats.org/drawingml/2006/main">
            <a:r>
              <a:t>FOCUSED SUBMISSION CLARIFICATION:</a:t>
            </a:r>
          </a:p>
          <a:p xmlns:a="http://schemas.openxmlformats.org/drawingml/2006/main">
            <a:r>
              <a:t>The distinction is the local operator decision workflow: uncertain forecast plus limited power/energy produces advisory backup recommendations. No claim of a novel algorithm, universal FL need or superiority over commercial solutions. Physical dispatch remains outside the implemented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source-deck100kW example.100demand,60grid,30forecastsolar gives10expectedgap. Cloud reducesactualsolar20,actualgap20. With10backup10remainsunserved. Stacked columns show100demand accounted for as supplied grid/solar/backup or unmet. This is arithmetic, not a new experiment.</a:t>
            </a:r>
          </a:p>
          <a:p xmlns:a="http://schemas.openxmlformats.org/drawingml/2006/main">
            <a:r>
              <a:t>Evidence: real weather, modelled solar, virtual sites, synthetic demand and assumed backup assets/costs. No Indian field pilot, measured equipment outage hours, live SCADA control or formal privacy guarantee. Federated sites are emulated in one process. Larger-fleet tests use compact repeated-reference data. Deployment/ownership/Schneider handoffs are proposals, not built integrations.</a:t>
            </a:r>
          </a:p>
          <a:p xmlns:a="http://schemas.openxmlformats.org/drawingml/2006/main">
            <a:r>
              <a:t>Content source: C:\Users\Admin\Documents\Codex\2026-09-30\i-have-a-hackathon-i-will-3\outputs\plain_language_submission\GridMesh_Explained_Submission_v2.pptx ; SHA256 6a477481ee7c191fb7bb566d03de7b9ad3b4fc20142483487e7605f65e5594e9. Design retains beige/black and Arial/Arial Black from source. Existing public Canva reference: https://www.canva.com/templates/EAFaYPfKRPU/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 foundation: https://proceedings.mlr.press/v54/mcmahan17a.html</a:t>
            </a:r>
          </a:p>
          <a:p xmlns:a="http://schemas.openxmlformats.org/drawingml/2006/main">
            <a:r>
              <a:t>GridMesh uses reliability-aware parameter averaging, not federated XGBoost. Client objects hold local histories. The coordinator obtains updates/scalar validation reports for training. The simulation evaluator can access held-out arrays within the same process, so no physical privacy boundary is implemented.</a:t>
            </a:r>
          </a:p>
          <a:p xmlns:a="http://schemas.openxmlformats.org/drawingml/2006/main">
            <a:r>
              <a:t>Privacy limitation: Vero et al. (2023), TabLeak, https://proceedings.mlr.press/v202/vero23a.html</a:t>
            </a:r>
          </a:p>
          <a:p xmlns:a="http://schemas.openxmlformats.org/drawingml/2006/main">
            <a:r>
              <a:t>New India hourly v1 protocol: 100 independently perturbed co-located sites; 20 candidates/round; 12 rounds; five seeds. Shared NASA POWER Bengaluru weather, not geographic fleet validation. Legacy dashboard screenshots remain the separate 30-minute replay.</a:t>
            </a:r>
          </a:p>
          <a:p xmlns:a="http://schemas.openxmlformats.org/drawingml/2006/main">
            <a:r>
              <a:t>Supporting definitions and provenance:</a:t>
            </a:r>
          </a:p>
          <a:p xmlns:a="http://schemas.openxmlformats.org/drawingml/2006/main">
            <a:r>
              <a:t>The shared model forecasts each site. Combined forecasts feed one reserve-planning node.</a:t>
            </a:r>
          </a:p>
          <a:p xmlns:a="http://schemas.openxmlformats.org/drawingml/2006/main">
            <a:r>
              <a:t>100 emulated sites in one process; histories in separate client objects. FedAvg: McMahan et al. (2017), PMLR 54.</a:t>
            </a:r>
          </a:p>
          <a:p xmlns:a="http://schemas.openxmlformats.org/drawingml/2006/main">
            <a:r>
              <a:t>Working simulation and dashboard replay. No live control, secure aggregation or formal privacy guarantee.</a:t>
            </a:r>
          </a:p>
          <a:p xmlns:a="http://schemas.openxmlformats.org/drawingml/2006/main">
            <a:r>
              <a:t>FOCUSED SUBMISSION CLARIFICATION:</a:t>
            </a:r>
          </a:p>
          <a:p xmlns:a="http://schemas.openxmlformats.org/drawingml/2006/main">
            <a:r>
              <a:t>Proposed operational rationale: separately managed sites may prefer retaining histories locally while jointly learning. This is an architectural rationale, not evidence that all communities require federation. Lower mean error in Slide 6 is bounded to the separate chronological Bengaluru baseline experiment with unequal training budgets. Local data retention is not formal privacy; this prototype emulates clients in one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Three-layereditablearchitecture. Inputs:localweather/modelledPV,localmodelupdates,syntheticloadandassumedbackupcapacity. LocalMLPmodels→checkedfederatedaggregation→forecast/errorawareconstrainedplanner→operatoradvice. Physicalenergyflowsfromgrid/solar/backuptohomes;noflowcontrolintegration. Pastforecasterrorscalibratetheplanner.Sourcearchitecture/modeldesignfromdeckslides3,5,8.</a:t>
            </a:r>
          </a:p>
          <a:p xmlns:a="http://schemas.openxmlformats.org/drawingml/2006/main">
            <a:r>
              <a:t>Evidence: real weather, modelled solar, virtual sites, synthetic demand and assumed backup assets/costs. No Indian field pilot, measured equipment outage hours, live SCADA control or formal privacy guarantee. Federated sites are emulated in one process. Larger-fleet tests use compact repeated-reference data. Deployment/ownership/Schneider handoffs are proposals, not built integrations.</a:t>
            </a:r>
          </a:p>
          <a:p xmlns:a="http://schemas.openxmlformats.org/drawingml/2006/main">
            <a:r>
              <a:t>Content source: C:\Users\Admin\Documents\Codex\2026-09-30\i-have-a-hackathon-i-will-3\outputs\plain_language_submission\GridMesh_Explained_Submission_v2.pptx ; SHA256 6a477481ee7c191fb7bb566d03de7b9ad3b4fc20142483487e7605f65e5594e9. Design retains beige/black and Arial/Arial Black from source. Existing public Canva reference: https://www.canva.com/templates/EAFaYPfKRPU/ .</a:t>
            </a:r>
          </a:p>
          <a:p xmlns:a="http://schemas.openxmlformats.org/drawingml/2006/main">
            <a:r>
              <a:t>Supporting definitions and provenance:</a:t>
            </a:r>
          </a:p>
          <a:p xmlns:a="http://schemas.openxmlformats.org/drawingml/2006/main">
            <a:r>
              <a:t>Current prototype provides advice. Approved operators and equipment determine the physical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LEGACY PROTOTYPE REPLAY, separate from Slides 6/7/9 communication results. Original light-mode screenshot pixels preserved. Four virtual sites, +30-minute historical replay, seed 42, event-aware guarded reserve policy. Overview and faulty-site health views have different reserve settings. They do not depict the new 100-site chronological experiment or five-seed nominal-policy results. Forecast/risk/backup advice and site health are visible. Operator review and arranging approved backup take place outside the app, with no approval button, live dispatch or equipment integration. A screenshot showing 0 MW scheduled backup does not establish zero need; asset/energy limits can constrain advice, but the cause of that individual screenshot timestamp is not independently established. No timed usability claim.</a:t>
            </a:r>
          </a:p>
          <a:p xmlns:a="http://schemas.openxmlformats.org/drawingml/2006/main">
            <a:r>
              <a:t>CURRENT IMPLEMENTED EXTENSION:</a:t>
            </a:r>
          </a:p>
          <a:p xmlns:a="http://schemas.openxmlformats.org/drawingml/2006/main">
            <a:r>
              <a:t>Screenshots captured from the actual dashboard on2026-10-04 in light mode: scenario insufficient, interval2 (0kW backup because60-minute allowance is exhausted in this independent5kW/10kWh case); scenario stale_missing, interval2 (missing solar becomes0kW conservative planning bound,20kW scheduled backup,20kW uncovered reserve). Five deterministic100-home scenarios are independent of both legacy4-site and chronological100-site research. Current UI exposes horizon, freshness, expected gap, reserve requirement, scheduled backup, power/energy, explanation and separately evaluated actual outcomes. Clients participating100/80 are illustrative status, not measured deployments. Verification:15 AppTest scenario/interval paths, updated dashboard light/dark checks. No command, approval database, real asset connection or field result.</a:t>
            </a:r>
          </a:p>
          <a:p xmlns:a="http://schemas.openxmlformats.org/drawingml/2006/main">
            <a:r>
              <a:t>Actual Streamlit light-mode operator workspace and diagnostic graph screenshots. Same independent insufficient-backup synthetic demo and target12:30: planning solar15kW, expected gap15kW, required reserve25kW, scheduled0kW, planned uncovered25kW. Full controls, advice, limits, warning and operator action are shown in the primary capture. Graphs use decision-time inputs and schedules only. Remaining energy is an assumed scheduling allowance, not measured battery state. Planned uncovered reserve is separate from realized ENS. No change to source-deck technical results, assets or methodology.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GridMesh outputs/evidence_improvement/FINDINGS.md, supplied evidence-improvement report. New chronological 2024 Bengaluru experiment: 100 virtual co-located sites, modeled solar, synthetic demand, five seeds 42–46, +60-minute forecasts. No independent field or geographic validation.</a:t>
            </a:r>
          </a:p>
          <a:p xmlns:a="http://schemas.openxmlformats.org/drawingml/2006/main">
            <a:r>
              <a:t>NEW CHRONOLOGICAL EXPERIMENT: chronological 70/15/15 train/validation/test. Daytime held-out pooled per-unit RMSE/MAE multiplied by 100 gives percent of installed capacity, not percent of generation. RMSE is root mean square error; MAE is mean absolute error. Five seeds describe run variability, not independent field validation. Table values follow the rounded report summaries, including local-only report RMSE 7.575% displayed as 7.58%.</a:t>
            </a:r>
          </a:p>
          <a:p xmlns:a="http://schemas.openxmlformats.org/drawingml/2006/main">
            <a:r>
              <a:t>Report five-seed mean ± sample SD: persistence RMSE 9.843 ± 0.018%, MAE 8.666 ± 0.017%; smart persistence 6.965 ± 0.014%, MAE 5.116 ± 0.010%; local-only 7.575 ± 1.462%, MAE 5.560 ± 1.251%; basic FedAvg 6.221 ± 1.156%, MAE 4.586 ± 0.950%; reliability-weighted FedAvg 6.229 ± 1.157%, MAE 4.581 ± 0.966%. Selective-update reliability-weighted FL, not shown in the baseline table: RMSE 6.391 ± 1.096%, MAE 4.740 ± 0.920%.</a:t>
            </a:r>
          </a:p>
          <a:p xmlns:a="http://schemas.openxmlformats.org/drawingml/2006/main">
            <a:r>
              <a:t>Budgets differ: local-only 12 full local epochs/site with validation checkpoint selection. FL 12 rounds, up to 20 sites/round, one local epoch. Persistence methods need no training. Basic FedAvg shares existing safety screening/rollback gates, so this is an aggregation-weighting baseline, not wholly unguarded FL. Reliability-weighted FL is the Slide-7 forecaster, not the accuracy winner. Smart persistence beats FL in seed 43. No universal FL superiority.</a:t>
            </a:r>
          </a:p>
          <a:p xmlns:a="http://schemas.openxmlformats.org/drawingml/2006/main">
            <a:r>
              <a:t>SEPARATE FROZEN BLOCKED-MONTH BENGALURU REFERENCE: older MLP/GRU/LSTM equal-protocol comparison used a blocked-month split and retrospective full-day LP. Global RMSE / MAE: MLP 5.24% / 3.37%, GRU 7.34% / 4.55%, LSTM 7.47% / 4.70%. Site-wise median RMSE / P90 RMSE / median MAE / P90 MAE: MLP 5.16 / 5.91 / 3.28 / 3.95%; GRU 7.28 / 7.99 / 4.46 / 5.31%; LSTM 7.26 / 8.43 / 4.29 / 5.91%. These are historical results, not the RMSE values accompanying Slide 7. Sources: outputs/mentor_validation/forecasting_metrics.csv and sitewise_metrics.csv.</a:t>
            </a:r>
          </a:p>
          <a:p xmlns:a="http://schemas.openxmlformats.org/drawingml/2006/main">
            <a:r>
              <a:t>NASA POWER hourly gridded weather archive, 8,784 UTC-hour observations for 2024 Bengaluru, modeled PV and perturbed co-located histories. No measured Indian generation or geographic holdout.</a:t>
            </a:r>
          </a:p>
          <a:p xmlns:a="http://schemas.openxmlformats.org/drawingml/2006/main">
            <a:r>
              <a:t>FOCUSED SUBMISSION CLARIFICATION:</a:t>
            </a:r>
          </a:p>
          <a:p xmlns:a="http://schemas.openxmlformats.org/drawingml/2006/main">
            <a:r>
              <a:t>Only introductory terminology changed. All five native table results and experiment/budget qualifications remain unchanged. RMSE penalizes larger forecast errors; displayed errors are percentages of installed capacity, not percentages of actual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GridMesh outputs/evidence_improvement/FINDINGS.md, supplied evidence-improvement report. New chronological 2024 Bengaluru experiment: 100 virtual co-located sites, modeled solar, synthetic demand, five seeds 42–46, +60-minute forecasts. No independent field or geographic validation.</a:t>
            </a:r>
          </a:p>
          <a:p xmlns:a="http://schemas.openxmlformats.org/drawingml/2006/main">
            <a:r>
              <a:t>NEW CHRONOLOGICAL POLICY COMPARISON: same reliability-weighted MLP forecasts, actual modeled solar, demand, grid, backup power/daily-energy assumptions, evaluation intervals and single-interval causal allocation. Only the margin rule differs: fixed 20% of demand versus nominal n-sigma margin, delta .05, window 6, minimum 3 errors, fixed fallback for insufficient history. The nominal candidate was selected using validation availability AND ENS (no worse than fixed in every validation seed), then minimum scheduled backup, frozen before operational test evaluation. No test tuning.</a:t>
            </a:r>
          </a:p>
          <a:p xmlns:a="http://schemas.openxmlformats.org/drawingml/2006/main">
            <a:r>
              <a:t>Exact supplied per-seed means: fixed availability 96.887299%, ENS 0.874822 MWh, scheduled backup 27.035757 MWh, assumed cost score 44.532204. Nominal availability 99.391771%, ENS 0.127576 MWh, scheduled backup 16.760064 MWh, score 19.311590. Report means ± sample SD: fixed 96.8873 ± 0.2040%, ENS .8748 ± .0339 MWh, backup 27.0358 ± 1.0007 MWh, score 44.5322 ± 1.2293; nominal 99.3918 ± .2400%, ENS .1276 ± .0730 MWh, backup 16.7601 ± 3.2420 MWh, score 19.3116 ± 4.4132. Availability difference +2.5045 percentage points rounds +2.50; backup reduction about 38.008%, displayed approximately 38%.</a:t>
            </a:r>
          </a:p>
          <a:p xmlns:a="http://schemas.openxmlformats.org/drawingml/2006/main">
            <a:r>
              <a:t>Scheduled backup is committed energy, not actual consumption. Realized ENS uses actual solar after the target interval and is distinct from planned uncovered reserve. Availability counts fully supplied simulated daytime intervals, not measured outage hours or service uptime. Demand and grid are assumed known. No night adequacy evaluation, field reliability or total affordability validation.</a:t>
            </a:r>
          </a:p>
          <a:p xmlns:a="http://schemas.openxmlformats.org/drawingml/2006/main">
            <a:r>
              <a:t>SEPARATE LEGACY 4-SITE +30-MINUTE BENCHMARK: fixed 79.8827160494% versus nominal 85.1666666667% fully supplied; ENS 310.0089811255 versus 278.0980947529 MWh; scheduled backup 2420.64 versus 1575.5243041367 MWh. This uses unknown-location legacy weather, assumed year 2019, forecast-balanced grid and retrospective full-day LP with peak-priority weight 2. It is historical evidence, not this slide’s data.</a:t>
            </a:r>
          </a:p>
          <a:p xmlns:a="http://schemas.openxmlformats.org/drawingml/2006/main">
            <a:r>
              <a:t>SEPARATE FROZEN BLOCKED-MONTH BENGALURU REFERENCE: 98.46% versus 97.60% had different splitting and retrospective planning protocols. The new experiment is not a direct before/after improvement over that old experiment. Source: evidence-improvement report primary policy table and outputs/evidence_improvement/test_results.csv.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GridMesh outputs/evidence_improvement/FINDINGS.md, supplied evidence-improvement report. New chronological 2024 Bengaluru experiment: 100 virtual co-located sites, modeled solar, synthetic demand, five seeds 42–46, +60-minute forecasts. No independent field or geographic validation.</a:t>
            </a:r>
          </a:p>
          <a:p xmlns:a="http://schemas.openxmlformats.org/drawingml/2006/main">
            <a:r>
              <a:t>RESERVE MECHANISM: uncertainty margin m=max(1.645*sigma-mu,0), error=actual-forecast, nominal delta .05. Only earlier observable errors enter rolling statistics, shifted by forecast horizon. The Slide-7 nominal candidate uses a 6-observation rolling window, min 3 observations and fixed 20% initialization. Required backup = forecast demand/grid/solar gap + uncertainty margin. Both rules face identical power and daily scheduled-energy limits. Larger error spread can increase margin, but bias also matters. Finite assets, non-Gaussian/correlated errors and limited history prevent a statistical tail interpretation from guaranteeing achieved supply availability. q=scheduled backup; u=planned uncovered reserve. Realized ENS uses actual solar afterward, separately from u.</a:t>
            </a:r>
          </a:p>
          <a:p xmlns:a="http://schemas.openxmlformats.org/drawingml/2006/main">
            <a:r>
              <a:t>Research motivation retained from the source: Khaing, Kannan &amp; Rao (2026), Clean Energy, doi:10.1093/ce/zkag018, https://academic.oup.com/ce/article/10/4/46/8670126 . GridMesh uses a simplified constrained allocation, not the paper’s complete OPF.</a:t>
            </a:r>
          </a:p>
          <a:p xmlns:a="http://schemas.openxmlformats.org/drawingml/2006/main">
            <a:r>
              <a:t>FOCUSED SUBMISSION CLARIFICATION:</a:t>
            </a:r>
          </a:p>
          <a:p xmlns:a="http://schemas.openxmlformats.org/drawingml/2006/main">
            <a:r>
              <a:t>Reserve margin is an extra backup allowance for forecast uncertainty, not the complete scheduled-backup decision and not a supply guarantee. Formula and native fixed/adaptive comparison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GridMesh outputs/evidence_improvement/FINDINGS.md, supplied evidence-improvement report. New chronological 2024 Bengaluru experiment: 100 virtual co-located sites, modeled solar, synthetic demand, five seeds 42–46, +60-minute forecasts. No independent field or geographic validation.</a:t>
            </a:r>
          </a:p>
          <a:p xmlns:a="http://schemas.openxmlformats.org/drawingml/2006/main">
            <a:r>
              <a:t>TRUST: separate legacy four-site stress test, two sites stale in 24-step blocks (severity 2), five paired seeds, 20 rounds. Healthy-site RMSE reduction 8.8879326076% versus basic FedAvg, displayed 8.9%. Separate 50% client-dropout legacy result: +0.5629382312% relative RMSE. These establish prediction robustness under that stress protocol, not electricity-service reliability or broad current-India superiority. Sources: outputs/mentor_validation/legacy_verification.json and robustness_results.csv.</a:t>
            </a:r>
          </a:p>
          <a:p xmlns:a="http://schemas.openxmlformats.org/drawingml/2006/main">
            <a:r>
              <a:t>COMMUNICATION: selective-update reliability-weighted FL in the NEW chronological experiment, five seeds, 100 virtual sites, 12 rounds, cap 20 clients/round. Mean modeled protocol bytes/run: basic FedAvg 6.00864 MB, selective FL 3.271800 MB. Reduction 45.55% after rounding. RMSE means: basic FedAvg approximately 6.221%, selective approximately 6.391%, ratio-of-means relative increase 2.72%. Accounting includes model transfers, gate metadata and heartbeat/status reports, not measured physical links or TLS/WAN overhead. This is a different method from the non-selective reliability-weighted forecaster in Slide 7. No geographic/network validation.</a:t>
            </a:r>
          </a:p>
          <a:p xmlns:a="http://schemas.openxmlformats.org/drawingml/2006/main">
            <a:r>
              <a:t>SECONDARY CURRENT-INDIA LIMITS: healthy-data reliability weighting does not improve mean forecast accuracy over basic FedAvg. The one-seed 100-site stale/dropout checks cannot establish consistent superiority; stale-20-site healthy RMSE basic FedAvg 5.413%, reliability weighting 5.500%, selective 5.441%. At 50% dropout: 5.438%, 5.406%, 5.536%. No consistent superiority claim.</a:t>
            </a:r>
          </a:p>
          <a:p xmlns:a="http://schemas.openxmlformats.org/drawingml/2006/main">
            <a:r>
              <a:t>SEPARATE HISTORICAL SCALE TESTS: 100/500 logical-site stress used repeated reference histories, not deployments. Old 43.3% payload reduction and +1.03% RMSE change are not the new communication values on this slide.</a:t>
            </a:r>
          </a:p>
          <a:p xmlns:a="http://schemas.openxmlformats.org/drawingml/2006/main">
            <a:r>
              <a:t>FOCUSED SUBMISSION CLARIFICATION:</a:t>
            </a:r>
          </a:p>
          <a:p xmlns:a="http://schemas.openxmlformats.org/drawingml/2006/main">
            <a:r>
              <a:t>Readable column heading replaces SCALE. The 45.55% modeled-protocol-byte reduction and 2.72% relative RMSE increase remain unchanged. Protocol bytes include model transfers and status/gate accounting, not measured physical network traffic.</a:t>
            </a:r>
          </a:p>
          <a:p xmlns:a="http://schemas.openxmlformats.org/drawingml/2006/main">
            <a:r>
              <a:t>CURRENT IMPLEMENTED EXTENSION:</a:t>
            </a:r>
          </a:p>
          <a:p xmlns:a="http://schemas.openxmlformats.org/drawingml/2006/main">
            <a:r>
              <a:t>New source: outputs/hackathon_robustness_v1/failure_results.csv. Three paired seeds42–44,100virtual sites,12rounds,cap20,20stale sites or50%dropout. Healthy RMSE means%: stale basic6.3219,weighted6.7038,selective6.2310; dropout basic6.6541,weighted6.6823,selective6.4928. Per-seed weighting both wins and loses. Stale operational means availability98.9267-&gt;99.5826% and ENS.2971-&gt;.0749MWh show forecast accuracy and operational impact can differ; no universal weighting advantage. Clean-run validation policy stays frozen, no fault-specific tuning. Existing legacy8.9% historical finding remains in notes only and is not currentIndia evidence. Communication column unchanged five-seed chronological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LOCAL PILOT, not existing deployment. Initial target: low-income communities with existing solar and backup assets. Shadow-mode evaluation uses measured solar/load, then operator review and an approved backup arrangement. Operator/DISCOM review handles insufficient reserve; software does not create backup capacity. Confirm asset technology, owner access, usable power/energy, efficiency, replenishment, dispatch latency, safety and escalation before any real action. Replication requires measured benefit and complete affordability checks.</a:t>
            </a:r>
          </a:p>
          <a:p xmlns:a="http://schemas.openxmlformats.org/drawingml/2006/main">
            <a:r>
              <a:t>Proposed utility handoff: forecast, uncertainty, expected shortfall, reserve requirement, site-health signals. Schneider context retained from the source: https://www.se.com/ww/en/work/solutions/electric-utilities/ and https://blog.se.com/infrastructure-and-grid/smart-grid/2019/04/30/how-derms-support-the-utility/ . GridMesh proposes an advisory locally trained signal layer complementing existing utility/DERMS workflows; no integration, partnership or superiority claim. Hardware/control integration, protection, authenticated communications and deployment agreements remain unconfirmed.</a:t>
            </a:r>
          </a:p>
          <a:p xmlns:a="http://schemas.openxmlformats.org/drawingml/2006/main">
            <a:r>
              <a:t>The evidence-improvement work now includes a causal single-interval simulated planner and deterministic advisory demo. This does not establish a live feed, hardware control or a field pilot. Observation availability, interval closure and publication latency must be validated in the pilot.</a:t>
            </a:r>
          </a:p>
          <a:p xmlns:a="http://schemas.openxmlformats.org/drawingml/2006/main">
            <a:r>
              <a:t>FOCUSED SUBMISSION CLARIFICATION:</a:t>
            </a:r>
          </a:p>
          <a:p xmlns:a="http://schemas.openxmlformats.org/drawingml/2006/main">
            <a:r>
              <a:t>Official source checked 2026-10-04: https://www.se.com/ww/en/work/solutions/electric-utilities/ . The page lists grid management with intelligent monitoring/control, substation automation, power monitoring/control software and microgrid energy management. This supports the broad Schneider capability description only. GridMesh proposes local forecast, uncertainty and backup-advice signals for operator/DISCOM workflows. No integration, interface, partnership, commercial inferiority or missing Schneider capability is asserted. Shadow mode means testing advice before operational use. Existing solar/backup and confirmed safe asset access remain necessary.</a:t>
            </a:r>
          </a:p>
          <a:p xmlns:a="http://schemas.openxmlformats.org/drawingml/2006/main">
            <a:r>
              <a:t>CURRENT IMPLEMENTED EXTENSION:</a:t>
            </a:r>
          </a:p>
          <a:p xmlns:a="http://schemas.openxmlformats.org/drawingml/2006/main">
            <a:r>
              <a:t>Concrete service design: docs/PILOT_AND_OPERATIONS.md. Assumed100homes100kWsolar80kWload50kWgrid30kWgenericbackup60kWh/day. These demo-scale assumptions are NOT research asset values or an actual installation. Existing asset owner/ESCO, access, replenishment, response time, qualified maintainer, safe operator procedures, payer/funding and DISCOM approval remain to be confirmed. Four-week shadow proposal pre-registers no-worse supplied daytime intervals/ENS than fixed20 plus reduced scheduled backup;99%availability is proposed conditional target, not achieved field result. Manual timestamped DISCOM signals first. Official Schneider capability rechecked2026-10-04 at https://www.se.com/ww/en/work/solutions/electric-utilities/smart-grid/ . Existing grid monitoring/control/DER offerings; GridMesh proposed neighbourhood advice workflow. No partnership or fabricated API.</a:t>
            </a:r>
          </a:p>
          <a:p xmlns:a="http://schemas.openxmlformats.org/drawingml/2006/main">
            <a:r>
              <a:t>PROTOTYPE BUILD ROADMAP: This slide describes four implemented simulation/prototype workstreams, not future work falsely presented as already completed field deployment. Data: Bengaluru weather, modeled PV and100 virtual sites with chronological splits. Forecasting: local model training and shared updates with a one-hour forecast. Planning: historical observable-error uncertainty plus demand/grid gap, constrained by backup power and remaining daily scheduled energy. UI/testing: advisory dashboard, fault/shortage scenarios and retrospective fixed-reserve comparison. No new results or durations. Next steps remain measured local data, confirmed asset access/limits/costs and operator-reviewed shadow pilot. Local forecasting and advice are proposed signals for existing operator/DISCOM workflows, not a Schneider partnership/integration. Original pilot assumptions and safety responsibilities remain in source notes above.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itemised existing-assets base service estimate from configs/affordability_costs.yaml and outputs/affordability_v1/scenarios.json. Covered monthly cost: hosting/archive3026.70 + connection588.82 =3615.52 INR; operator3750 + software support3540 + data-health maintenance1770 =9060 INR; setup21650/36 =601.3888889 INR; contingency15% on12675.52 recurring +601.3888889 recovery =1991.5363333 INR. Total15268.4452222 INR, headline rounded15268. Displayed two-decimal components total15268.45. Covered cost-recovery only, zero commercial margin. Supplier-rate inputs plus assumed paid hours/rates; not an all-in quotation. At100 paying homes152.68445 per month rounds153. Hypothetical50% recurring co-funding leaves76.34223 per home, rounded76; it requires7634.22/month external support. No government entitlement, programme eligibility, agreement or commitment identified. One-time grants do not establish recurring funding. Hardware, retrofit, installation, owner asset access/maintenance, backup energy and financing remain unquoted or outside covered service scope. Tax increments on specified supplier items are included in the source assumptions; this is not an all-tax deployment quote. Existing community/local-energy-company ownership, operator, technician, software and DISCOM responsibilities remain proposed. Affordability and willingness to pay unvalidated. Replaces obsolete4650/month software illustration without changing experiments.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GridMesh outputs/evidence_improvement/FINDINGS.md, supplied evidence-improvement report. New chronological 2024 Bengaluru experiment: 100 virtual co-located sites, modeled solar, synthetic demand, five seeds 42–46, +60-minute forecasts. No independent field or geographic validation.</a:t>
            </a:r>
          </a:p>
          <a:p xmlns:a="http://schemas.openxmlformats.org/drawingml/2006/main">
            <a:r>
              <a:t>NEW CHRONOLOGICAL OPERATIONS: 70/15/15 chronological target split, no lookback windows across split boundaries, training-only standardization. Model checkpoint/policy selection uses validation. Policies are frozen before operational test evaluation. Margin adaptation uses only earlier observable errors; no current/future actual solar. Synthetic demand and fixed grid availability are assumed known at decision time. Archived weather rows have modeled availability assumptions; real timestamp/ingestion latency and load uncertainty need field validation.</a:t>
            </a:r>
          </a:p>
          <a:p xmlns:a="http://schemas.openxmlformats.org/drawingml/2006/main">
            <a:r>
              <a:t>Single-interval constrained allocation, solved analytically for constant uncovered penalty above backup cost: q=min(required reserve, available power, remaining daily scheduled-energy/duration). This is a myopic single-interval LP, not a globally optimal whole-day plan. Scheduled energy debits the daily allowance even if later unused. No night adequacy or equipment control.</a:t>
            </a:r>
          </a:p>
          <a:p xmlns:a="http://schemas.openxmlformats.org/drawingml/2006/main">
            <a:r>
              <a:t>Supporting equations: g=max(D-G-forecastSolar,0); r=g+M; min sum((c_backup*q+c_uncovered*u)*dt), subject to q+u&gt;=r, 0&lt;=q&lt;=Pmax, cumulative daily scheduled backup energy&lt;=Emax, u&gt;=0. q=scheduled backup power; u=planned reserve requirement left uncovered. Realized ENS=max(D-G-actualSolar-q,0) evaluated separately after the target interval. Cost score is scheduled backup MWh + 20*realized ENS MWh in assumed units, never INR.</a:t>
            </a:r>
          </a:p>
          <a:p xmlns:a="http://schemas.openxmlformats.org/drawingml/2006/main">
            <a:r>
              <a:t>NEW MODEL-TO-OPERATIONS, all nominal_05 rule, five-seed means (fully supplied %, realized ENS MWh, scheduled backup MWh, cost score): basic FedAvg 99.3918 / .1302 / 17.0342 / 19.6376; reliability-weighted FL 99.3918 / .1276 / 16.7601 / 19.3116; selective-update FL 99.4275 / .1277 / 16.2421 / 18.7954; local-only 99.4633 / .1229 / 17.6564 / 20.1140; persistence 96.9231 / .8725 / 26.5753 / 44.0247; smart persistence 97.2093 / .8129 / 26.2573 / 42.5160. Separately selected persistence fixed_10 policy has lower mean ENS than selected FL but lower availability and higher backup. Forecast accuracy alone does not determine every operational outcome.</a:t>
            </a:r>
          </a:p>
          <a:p xmlns:a="http://schemas.openxmlformats.org/drawingml/2006/main">
            <a:r>
              <a:t>SEPARATE FROZEN BLOCKED-MONTH BENGALURU REFERENCE, retrospective full-day LP: fixed MLP 98.4644195% fully supplied, .2050440 MWh ENS, 23.8047648 MWh backup, cost 27.9056450; nominal MLP 97.6029963%, .2689149 MWh ENS, 18.2621555 MWh backup, cost 23.6404540. Less backup but lower reliability, preserved as historical reference, not a before/after comparator for the new protocol. Older nominal model-to-operations RMSE / scheduled backup / realized ENS / score: MLP 5.24% / 18.26 / .269 / 23.64; GRU 7.34% / 20.06 / .583 / 31.71; LSTM 7.47% / 19.74 / .516 / 30.06. GRU lower RMSE than LSTM but higher backup/cost. Never combine these older RMSEs with the new chronological operations results.</a:t>
            </a:r>
          </a:p>
          <a:p xmlns:a="http://schemas.openxmlformats.org/drawingml/2006/main">
            <a:r>
              <a:t>NEXT VALIDATION: synchronized measured load/solar/grid data, actual backup availability and owner access, complete cost quotations/funding responsibilities, operator/DISCOM approval and shadow-mode comparison. Success criteria need pre-registration and measured paired reliability/cost outcomes. No achieved field reliability, total affordability, formal privacy or geographic generalization.</a:t>
            </a:r>
          </a:p>
          <a:p xmlns:a="http://schemas.openxmlformats.org/drawingml/2006/main">
            <a:r>
              <a:t>Team BP: Bhavesh M, Ajay Javali, Pragun kirani, Varshith M gowda. Mentors: Prof. Aswin Kannan and Prof. Shrisha Rao.</a:t>
            </a:r>
          </a:p>
          <a:p xmlns:a="http://schemas.openxmlformats.org/drawingml/2006/main">
            <a:r>
              <a:t>FOCUSED SUBMISSION CLARIFICATION:</a:t>
            </a:r>
          </a:p>
          <a:p xmlns:a="http://schemas.openxmlformats.org/drawingml/2006/main">
            <a:r>
              <a:t>Visible team/mentor credits added without removing the known-demand/grid assumption, chronological protocol, constrained advisory sequence or next field-validation statement. All supporting equations and separate historical model-to-operations evidence retained in notes. No new results or operational claims.</a:t>
            </a:r>
          </a:p>
          <a:p xmlns:a="http://schemas.openxmlformats.org/drawingml/2006/main">
            <a:r>
              <a:t>CURRENT IMPLEMENTED EXTENSION:</a:t>
            </a:r>
          </a:p>
          <a:p xmlns:a="http://schemas.openxmlformats.org/drawingml/2006/main">
            <a:r>
              <a:t>New separate operating sensitivity: outputs/operating_sensitivity_v3. Engineering assumptions, not empirically fitted field errors.5seeds42–46,8scenarios,paired actuals and assets;280validationrows/160testrows,validationfreezebeforetest. Joint net-error quantile uses prior observable errors plus stale/missing safety bound.99%every-validation-seedtarget and ENS&lt;=fixed20; minimumbackupqualifierelsefixed20. Original nominal default untouched. Normal newguard99.678%/.052422MWhENS/11.36095MWhbackup versusexistingnominal99.3918%/.127576/16.76006. Target fails in demand/grid/delivery/half-energy/cloud scenarios; fallback notguarantee. Gridlossnominalavailability88.8014vsfixed87.7996butnominalENS5.91541vsfixed5.85718MWh, a preserved trade-off. RestrictedenergyENS.509847MWh. No universalbenefit,nightadequacy orfieldreliability. v2 calendar-eventevaluation superseded by v3 predefineddaytime events; preserved for audit. Ex-post uses actual demand/grid/solar and available fraction of scheduled backup. qscheduledbackup; uplanneduncoveredreserve, notrealizedENS. Analytic single-intervalLP unchanged, notwhole-day optimum. Fieldcosts/owneragreementstillTBD.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aaa0280a5e4aa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90e07dacb74a82" /><Relationship Type="http://schemas.openxmlformats.org/officeDocument/2006/relationships/slideLayout" Target="/ppt/slideLayouts/slideLayout1.xml" Id="R75f7887879d9450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f7887879d9450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1eb2b93de29440b" /><Relationship Type="http://schemas.openxmlformats.org/officeDocument/2006/relationships/notesSlide" Target="/ppt/notesSlides/notesSlide1.xml" Id="R00a42aa0cdff487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8cc156749cd490d" /><Relationship Type="http://schemas.openxmlformats.org/officeDocument/2006/relationships/chart" Target="/ppt/slides/charts/chart1.xml" Id="R440c1fe9e3df4dbb" /><Relationship Type="http://schemas.openxmlformats.org/officeDocument/2006/relationships/notesSlide" Target="/ppt/notesSlides/notesSlide2.xml" Id="R43904406921143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cd2c2a642924406" /><Relationship Type="http://schemas.openxmlformats.org/officeDocument/2006/relationships/notesSlide" Target="/ppt/notesSlides/notesSlide3.xml" Id="R40276a9e1f0a40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d46f131c59744ae" /><Relationship Type="http://schemas.openxmlformats.org/officeDocument/2006/relationships/notesSlide" Target="/ppt/notesSlides/notesSlide4.xml" Id="Rc228fc87fe0945cd" /></Relationships>
</file>

<file path=ppt/slides/_rels/slide5.xml.rels><?xml version='1.0' encoding='utf-8'?>
<ns0:Relationships xmlns:ns0="http://schemas.openxmlformats.org/package/2006/relationships"><ns0:Relationship Type="http://schemas.openxmlformats.org/officeDocument/2006/relationships/slideLayout" Target="/ppt/slideLayouts/slideLayout1.xml" Id="R287043a1bae94f27" /><ns0:Relationship Type="http://schemas.openxmlformats.org/officeDocument/2006/relationships/image" Target="/ppt/media/image.jpeg" Id="R33062e2955da4375" /><ns0:Relationship Type="http://schemas.openxmlformats.org/officeDocument/2006/relationships/image" Target="/ppt/media/image2.jpeg" Id="Rdb605e85e85c4ae0" /><ns0:Relationship Type="http://schemas.openxmlformats.org/officeDocument/2006/relationships/notesSlide" Target="/ppt/notesSlides/notesSlide5.xml" Id="Rd931424a424d4aaf" /><ns0:Relationship Id="rIdGridMeshImage5_0" Type="http://schemas.openxmlformats.org/officeDocument/2006/relationships/image" Target="../media/completion34_image.jpeg" /><ns0:Relationship Id="rIdGridMeshImage5_1" Type="http://schemas.openxmlformats.org/officeDocument/2006/relationships/image" Target="../media/completion34_image2.jpeg" /><ns0:Relationship Id="rIdGridMeshv34ui1_Image5_0" Type="http://schemas.openxmlformats.org/officeDocument/2006/relationships/image" Target="../media/v34ui1_image.jpeg" /><ns0:Relationship Id="rIdGridMeshv34ui1_Image5_1" Type="http://schemas.openxmlformats.org/officeDocument/2006/relationships/image" Target="../media/v34ui1_image2.jpeg" /><ns0:Relationship Id="rIdGridMeshv34ui1_Added35" Type="http://schemas.openxmlformats.org/officeDocument/2006/relationships/image" Target="../media/v34ui1_image3.jpeg" /></ns0: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a208b810fa8499f" /><Relationship Type="http://schemas.openxmlformats.org/officeDocument/2006/relationships/notesSlide" Target="/ppt/notesSlides/notesSlide6.xml" Id="Rf55068eb2beb4bf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76cf7abb9654bcd" /><Relationship Type="http://schemas.openxmlformats.org/officeDocument/2006/relationships/chart" Target="/ppt/slides/charts/chart2.xml" Id="Reaab064dee6744bf" /><Relationship Type="http://schemas.openxmlformats.org/officeDocument/2006/relationships/chart" Target="/ppt/slides/charts/chart3.xml" Id="Rf598f359a1024997" /><Relationship Type="http://schemas.openxmlformats.org/officeDocument/2006/relationships/chart" Target="/ppt/slides/charts/chart4.xml" Id="Rbc3f9ca8ccae475d" /><Relationship Type="http://schemas.openxmlformats.org/officeDocument/2006/relationships/notesSlide" Target="/ppt/notesSlides/notesSlide7.xml" Id="Rc669d5bdcf244e7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a8f2949031e4221" /><Relationship Type="http://schemas.openxmlformats.org/officeDocument/2006/relationships/notesSlide" Target="/ppt/notesSlides/notesSlide8.xml" Id="R47260384525b4c0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7c5d136930749d2" /><Relationship Type="http://schemas.openxmlformats.org/officeDocument/2006/relationships/notesSlide" Target="/ppt/notesSlides/notesSlide9.xml" Id="R45c933a8dfb14df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b88da7113764d7a" /><Relationship Type="http://schemas.openxmlformats.org/officeDocument/2006/relationships/notesSlide" Target="/ppt/notesSlides/notesSlide10.xml" Id="Rb4028df690044ab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0239df9cc8547e5" /><Relationship Type="http://schemas.openxmlformats.org/officeDocument/2006/relationships/notesSlide" Target="/ppt/notesSlides/notesSlide11.xml" Id="R714b023676104c5b" /></Relationships>
</file>

<file path=ppt/slides/_rels/slide12.xml.rels><?xml version='1.0' encoding='utf-8'?>
<ns0:Relationships xmlns:ns0="http://schemas.openxmlformats.org/package/2006/relationships"><ns0:Relationship Type="http://schemas.openxmlformats.org/officeDocument/2006/relationships/slideLayout" Target="/ppt/slideLayouts/slideLayout1.xml" Id="Rb7e6ea0814604559" /><ns0:Relationship Type="http://schemas.openxmlformats.org/officeDocument/2006/relationships/notesSlide" Target="/ppt/notesSlides/notesSlide12.xml" Id="Reb1d358ff296449d" /><ns0:Relationship Id="rIdGridMeshVerifiedChart" Type="http://schemas.openxmlformats.org/officeDocument/2006/relationships/chart" Target="charts/mentor_chart2.xml" /><ns0:Relationship Id="rIdGridMeshRefinedChart" Type="http://schemas.openxmlformats.org/officeDocument/2006/relationships/chart" Target="charts/refined_chart3.xml" /><ns0:Relationship Id="rIdGridMeshFinalWordingChart" Type="http://schemas.openxmlformats.org/officeDocument/2006/relationships/chart" Target="charts/finalwording_chart3.xml" /></ns0: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finalwording_chart3.xml.rels><Relationships xmlns="http://schemas.openxmlformats.org/package/2006/relationships"><Relationship Id="rIdChartSnapshot1" Type="http://schemas.openxmlformats.org/officeDocument/2006/relationships/package" Target="../../embeddings/chart-data-snapshot-007.xlsx"/></Relationships>
</file>

<file path=ppt/slides/charts/_rels/mentor_chart2.xml.rels><Relationships xmlns="http://schemas.openxmlformats.org/package/2006/relationships"><Relationship Id="rIdChartSnapshot1" Type="http://schemas.openxmlformats.org/officeDocument/2006/relationships/package" Target="../../embeddings/chart-data-snapshot-005.xlsx"/></Relationships>
</file>

<file path=ppt/slides/charts/_rels/refined_chart3.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ns0:chartSpace xmlns:ns0="http://schemas.openxmlformats.org/drawingml/2006/chart" xmlns:ns1="http://schemas.openxmlformats.org/drawingml/2006/main" xmlns:ns2="http://schemas.openxmlformats.org/officeDocument/2006/relationships">
  <ns0:lang val="en-US"/>
  <ns0:chart>
    <ns0:title>
      <ns0:tx>
        <ns0:rich>
          <ns1:bodyPr/>
          <ns1:lstStyle/>
          <ns1:p>
            <ns1:r>
              <ns1:rPr sz="1725">
                <ns1:latin typeface="Arial"/>
                <ns1:ea typeface="Arial"/>
                <ns1:cs typeface="Arial"/>
              </ns1:rPr>
              <ns1:t>100 kW demand: supply and remaining shortfall</ns1:t>
            </ns1:r>
          </ns1:p>
        </ns0:rich>
      </ns0:tx>
      <ns0:overlay val="0"/>
      <ns0:txPr>
        <ns1:bodyPr anchorCtr="1"/>
        <ns1:lstStyle/>
        <ns1:p>
          <ns1:pPr>
            <ns1:defRPr sz="1725">
              <ns1:latin typeface="Arial"/>
              <ns1:ea typeface="Arial"/>
              <ns1:cs typeface="Arial"/>
            </ns1:defRPr>
          </ns1:pPr>
        </ns1:p>
      </ns0:txPr>
    </ns0:title>
    <ns0:plotArea>
      <ns0:barChart>
        <ns0:barDir val="col"/>
        <ns0:grouping val="stacked"/>
        <ns0:varyColors val="0"/>
        <ns0:ser>
          <ns0:idx val="0"/>
          <ns0:order val="0"/>
          <ns0:tx>
            <ns0:v>Grid</ns0:v>
          </ns0:tx>
          <ns0:spPr>
            <ns1:solidFill>
              <ns1:srgbClr val="AAA298"/>
            </ns1:solidFill>
          </ns0:spPr>
          <ns0:cat>
            <ns0:strRef>
              <ns0:f>'Chart Data'!$A$2:$A$3</ns0:f>
              <ns0:strCache>
                <ns0:ptCount val="2"/>
                <ns0:pt idx="0">
                  <ns0:v>Expected solar: 30 kW</ns0:v>
                </ns0:pt>
                <ns0:pt idx="1">
                  <ns0:v>Cloud reduces solar: 20 kW</ns0:v>
                </ns0:pt>
              </ns0:strCache>
            </ns0:strRef>
          </ns0:cat>
          <ns0:val>
            <ns0:numRef>
              <ns0:f>'Chart Data'!$B$2:$B$3</ns0:f>
              <ns0:numCache>
                <ns0:formatCode>0" kW"</ns0:formatCode>
                <ns0:ptCount val="2"/>
                <ns0:pt idx="0">
                  <ns0:v>60</ns0:v>
                </ns0:pt>
                <ns0:pt idx="1">
                  <ns0:v>60</ns0:v>
                </ns0:pt>
              </ns0:numCache>
            </ns0:numRef>
          </ns0:val>
        </ns0:ser>
        <ns0:ser>
          <ns0:idx val="1"/>
          <ns0:order val="1"/>
          <ns0:tx>
            <ns0:v>Solar</ns0:v>
          </ns0:tx>
          <ns0:spPr>
            <ns1:solidFill>
              <ns1:srgbClr val="CFC5B4"/>
            </ns1:solidFill>
          </ns0:spPr>
          <ns0:cat>
            <ns0:strRef>
              <ns0:f>'Chart Data'!$C$2:$C$3</ns0:f>
              <ns0:strCache>
                <ns0:ptCount val="2"/>
                <ns0:pt idx="0">
                  <ns0:v>Expected solar: 30 kW</ns0:v>
                </ns0:pt>
                <ns0:pt idx="1">
                  <ns0:v>Cloud reduces solar: 20 kW</ns0:v>
                </ns0:pt>
              </ns0:strCache>
            </ns0:strRef>
          </ns0:cat>
          <ns0:val>
            <ns0:numRef>
              <ns0:f>'Chart Data'!$D$2:$D$3</ns0:f>
              <ns0:numCache>
                <ns0:formatCode>0" kW"</ns0:formatCode>
                <ns0:ptCount val="2"/>
                <ns0:pt idx="0">
                  <ns0:v>30</ns0:v>
                </ns0:pt>
                <ns0:pt idx="1">
                  <ns0:v>20</ns0:v>
                </ns0:pt>
              </ns0:numCache>
            </ns0:numRef>
          </ns0:val>
        </ns0:ser>
        <ns0:ser>
          <ns0:idx val="2"/>
          <ns0:order val="2"/>
          <ns0:tx>
            <ns0:v>Backup</ns0:v>
          </ns0:tx>
          <ns0:spPr>
            <ns1:solidFill>
              <ns1:srgbClr val="080808"/>
            </ns1:solidFill>
          </ns0:spPr>
          <ns0:cat>
            <ns0:strRef>
              <ns0:f>'Chart Data'!$E$2:$E$3</ns0:f>
              <ns0:strCache>
                <ns0:ptCount val="2"/>
                <ns0:pt idx="0">
                  <ns0:v>Expected solar: 30 kW</ns0:v>
                </ns0:pt>
                <ns0:pt idx="1">
                  <ns0:v>Cloud reduces solar: 20 kW</ns0:v>
                </ns0:pt>
              </ns0:strCache>
            </ns0:strRef>
          </ns0:cat>
          <ns0:val>
            <ns0:numRef>
              <ns0:f>'Chart Data'!$F$2:$F$3</ns0:f>
              <ns0:numCache>
                <ns0:formatCode>0" kW"</ns0:formatCode>
                <ns0:ptCount val="2"/>
                <ns0:pt idx="0">
                  <ns0:v>10</ns0:v>
                </ns0:pt>
                <ns0:pt idx="1">
                  <ns0:v>10</ns0:v>
                </ns0:pt>
              </ns0:numCache>
            </ns0:numRef>
          </ns0:val>
        </ns0:ser>
        <ns0:ser>
          <ns0:idx val="3"/>
          <ns0:order val="3"/>
          <ns0:tx>
            <ns0:v>Unmet demand</ns0:v>
          </ns0:tx>
          <ns0:spPr>
            <ns1:solidFill>
              <ns1:srgbClr val="FFFFFF"/>
            </ns1:solidFill>
            <ns1:ln w="9525">
              <ns1:solidFill>
                <ns1:srgbClr val="080808"/>
              </ns1:solidFill>
            </ns1:ln>
          </ns0:spPr>
          <ns0:cat>
            <ns0:strRef>
              <ns0:f>'Chart Data'!$G$2:$G$3</ns0:f>
              <ns0:strCache>
                <ns0:ptCount val="2"/>
                <ns0:pt idx="0">
                  <ns0:v>Expected solar: 30 kW</ns0:v>
                </ns0:pt>
                <ns0:pt idx="1">
                  <ns0:v>Cloud reduces solar: 20 kW</ns0:v>
                </ns0:pt>
              </ns0:strCache>
            </ns0:strRef>
          </ns0:cat>
          <ns0:val>
            <ns0:numRef>
              <ns0:f>'Chart Data'!$H$2:$H$3</ns0:f>
              <ns0:numCache>
                <ns0:formatCode>0" kW"</ns0:formatCode>
                <ns0:ptCount val="2"/>
                <ns0:pt idx="0">
                  <ns0:v>0</ns0:v>
                </ns0:pt>
                <ns0:pt idx="1">
                  <ns0:v>10</ns0:v>
                </ns0:pt>
              </ns0:numCache>
            </ns0:numRef>
          </ns0:val>
        </ns0:ser>
        <ns0:dLbls>
          <ns0:txPr>
            <ns1:bodyPr anchorCtr="1"/>
            <ns1:lstStyle/>
            <ns1:p>
              <ns1:pPr>
                <ns1:defRPr>
                  <ns1:latin typeface="Arial"/>
                  <ns1:ea typeface="Arial"/>
                  <ns1:cs typeface="Arial"/>
                </ns1:defRPr>
              </ns1:pPr>
            </ns1:p>
          </ns0:txPr>
          <ns0:showLegendKey val="0"/>
          <ns0:showVal val="0"/>
          <ns0:showCatName val="0"/>
          <ns0:showSerName val="0"/>
          <ns0:showPercent val="0"/>
          <ns0:showBubbleSize val="0"/>
          <ns0:showLeaderLines val="0"/>
        </ns0:dLbls>
        <ns0:gapWidth val="110"/>
        <ns0:overlap val="100"/>
        <ns0:axId val="48650112"/>
        <ns0:axId val="48672768"/>
      </ns0:barChart>
      <ns0:catAx>
        <ns0:axId val="48650112"/>
        <ns0:scaling>
          <ns0:orientation val="minMax"/>
        </ns0:scaling>
        <ns0:delete val="0"/>
        <ns0:axPos val="b"/>
        <ns0:numFmt formatCode="General"/>
        <ns0:majorTickMark val="none"/>
        <ns0:minorTickMark val="none"/>
        <ns0:spPr>
          <ns1:ln w="9525">
            <ns1:solidFill>
              <ns1:srgbClr val="D4D4D4"/>
            </ns1:solidFill>
            <ns1:prstDash val="solid"/>
          </ns1:ln>
        </ns0:spPr>
        <ns0:txPr>
          <ns1:bodyPr anchorCtr="1"/>
          <ns1:lstStyle/>
          <ns1:p>
            <ns1:pPr>
              <ns1:defRPr sz="1500">
                <ns1:solidFill>
                  <ns1:srgbClr val="666666"/>
                </ns1:solidFill>
                <ns1:latin typeface="Arial"/>
                <ns1:ea typeface="Arial"/>
                <ns1:cs typeface="Arial"/>
              </ns1:defRPr>
            </ns1:pPr>
          </ns1:p>
        </ns0:txPr>
        <ns0:crossAx val="48672768"/>
      </ns0:catAx>
      <ns0:valAx>
        <ns0:axId val="48672768"/>
        <ns0:scaling>
          <ns0:orientation val="minMax"/>
          <ns0:max val="100"/>
          <ns0:min val="0"/>
        </ns0:scaling>
        <ns0:delete val="0"/>
        <ns0:axPos val="l"/>
        <ns0:numFmt formatCode="0&quot; kW&quot;"/>
        <ns0:majorTickMark val="none"/>
        <ns0:minorTickMark val="none"/>
        <ns0:spPr>
          <ns1:ln w="9525">
            <ns1:solidFill>
              <ns1:srgbClr val="D4D4D4"/>
            </ns1:solidFill>
            <ns1:prstDash val="solid"/>
          </ns1:ln>
        </ns0:spPr>
        <ns0:txPr>
          <ns1:bodyPr anchorCtr="1"/>
          <ns1:lstStyle/>
          <ns1:p>
            <ns1:pPr>
              <ns1:defRPr sz="1500">
                <ns1:solidFill>
                  <ns1:srgbClr val="666666"/>
                </ns1:solidFill>
                <ns1:latin typeface="Arial"/>
                <ns1:ea typeface="Arial"/>
                <ns1:cs typeface="Arial"/>
              </ns1:defRPr>
            </ns1:pPr>
          </ns1:p>
        </ns0:txPr>
        <ns0:crossAx val="48650112"/>
        <ns0:crossBetween val="between"/>
      </ns0:valAx>
      <ns0:spPr>
        <ns1:solidFill>
          <ns1:srgbClr val="F4EFE6"/>
        </ns1:solidFill>
      </ns0:spPr>
    </ns0:plotArea>
    <ns0:legend>
      <ns0:legendPos val="b"/>
      <ns0:overlay val="0"/>
      <ns0:txPr>
        <ns1:bodyPr anchorCtr="1"/>
        <ns1:lstStyle/>
        <ns1:p>
          <ns1:pPr>
            <ns1:defRPr sz="1650">
              <ns1:latin typeface="Arial"/>
              <ns1:ea typeface="Arial"/>
              <ns1:cs typeface="Arial"/>
            </ns1:defRPr>
          </ns1:pPr>
        </ns1:p>
      </ns0:txPr>
    </ns0:legend>
    <ns0:plotVisOnly val="1"/>
  </ns0:chart>
  <ns0:spPr>
    <ns1:solidFill>
      <ns1:srgbClr val="F4EFE6"/>
    </ns1:solidFill>
  </ns0:spPr>
  <ns0:externalData ns2:id="rIdChartSnapshot1">
    <ns0:autoUpdate val="0"/>
  </ns0:externalData>
</ns0:chartSpace>
</file>

<file path=ppt/slides/charts/chart2.xml><?xml version="1.0" encoding="utf-8"?>
<c:chartSpace xmlns:a="http://schemas.openxmlformats.org/drawingml/2006/main" xmlns:c="http://schemas.openxmlformats.org/drawingml/2006/chart" xmlns:ns2="http://schemas.openxmlformats.org/officeDocument/2006/relationships">
  <c:lang val="en-US"/>
  <c:chart>
    <c:plotArea>
      <c:barChart>
        <c:barDir val="col"/>
        <c:grouping val="clustered"/>
        <c:varyColors val="0"/>
        <c:ser>
          <c:idx val="0"/>
          <c:order val="0"/>
          <c:tx>
            <c:v>Fully supplied = no unmet demand (%)</c:v>
          </c:tx>
          <c:spPr>
            <a:solidFill>
              <a:srgbClr val="080808"/>
            </a:solidFill>
          </c:spPr>
          <c:dPt>
            <c:idx val="0"/>
            <c:invertIfNegative val="0"/>
            <c:spPr>
              <a:solidFill>
                <a:srgbClr val="AAA298"/>
              </a:solidFill>
            </c:spPr>
          </c:dPt>
          <c:dPt>
            <c:idx val="1"/>
            <c:invertIfNegative val="0"/>
            <c:spPr>
              <a:solidFill>
                <a:srgbClr val="080808"/>
              </a:solidFill>
            </c:spPr>
          </c:dPt>
          <c:cat>
            <c:strRef>
              <c:f>'Chart Data'!$A$2:$A$3</c:f>
              <c:strCache>
                <c:ptCount val="2"/>
                <c:pt idx="0">
                  <c:v>Fixed margin</c:v>
                </c:pt>
                <c:pt idx="1">
                  <c:v>GridMesh</c:v>
                </c:pt>
              </c:strCache>
            </c:strRef>
          </c:cat>
          <c:val>
            <c:numRef>
              <c:f>'Chart Data'!$B$2:$B$3</c:f>
              <c:numCache>
                <c:formatCode>0.0</c:formatCode>
                <c:ptCount val="2"/>
                <c:pt idx="0">
                  <c:v>79.9</c:v>
                </c:pt>
                <c:pt idx="1">
                  <c:v>85.2</c:v>
                </c:pt>
              </c:numCache>
            </c:numRef>
          </c:val>
        </c:ser>
        <c:dLbls>
          <c:numFmt formatCode="0.0&quot;%&quot;" sourceLinked="0"/>
          <c:txPr>
            <a:bodyPr anchorCtr="1"/>
            <a:lstStyle/>
            <a:p>
              <a:pPr>
                <a:defRPr sz="3000">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1"/>
        <c:axPos val="b"/>
        <c:numFmt formatCode="General"/>
        <c:majorTickMark val="none"/>
        <c:minorTickMark val="none"/>
        <c:spPr>
          <a:ln w="9525">
            <a:solidFill>
              <a:srgbClr val="D4D4D4"/>
            </a:solidFill>
            <a:prstDash val="solid"/>
          </a:ln>
        </c:spPr>
        <c:txPr>
          <a:bodyPr anchorCtr="1"/>
          <a:lstStyle/>
          <a:p>
            <a:pPr>
              <a:defRPr sz="1350">
                <a:solidFill>
                  <a:srgbClr val="666666"/>
                </a:solidFill>
                <a:latin typeface="Arial"/>
                <a:ea typeface="Arial"/>
                <a:cs typeface="Arial"/>
              </a:defRPr>
            </a:pPr>
          </a:p>
        </c:txPr>
        <c:crossAx val="48672768"/>
      </c:catAx>
      <c:valAx>
        <c:axId val="48672768"/>
        <c:scaling>
          <c:orientation val="minMax"/>
          <c:max val="100"/>
          <c:min val="0"/>
        </c:scaling>
        <c:delete val="1"/>
        <c:axPos val="l"/>
        <c:numFmt formatCode="0.0"/>
        <c:majorTickMark val="none"/>
        <c:minorTickMark val="none"/>
        <c:spPr>
          <a:ln w="9525">
            <a:solidFill>
              <a:srgbClr val="D4D4D4"/>
            </a:solidFill>
            <a:prstDash val="solid"/>
          </a:ln>
        </c:spPr>
        <c:txPr>
          <a:bodyPr anchorCtr="1"/>
          <a:lstStyle/>
          <a:p>
            <a:pPr>
              <a:defRPr sz="1350">
                <a:solidFill>
                  <a:srgbClr val="666666"/>
                </a:solidFill>
                <a:latin typeface="Arial"/>
                <a:ea typeface="Arial"/>
                <a:cs typeface="Arial"/>
              </a:defRPr>
            </a:pPr>
          </a:p>
        </c:txPr>
        <c:crossAx val="48650112"/>
        <c:crossBetween val="between"/>
      </c:valAx>
      <c:spPr>
        <a:solidFill>
          <a:srgbClr val="F4EFE6"/>
        </a:solidFill>
      </c:spPr>
    </c:plotArea>
    <c:plotVisOnly val="1"/>
  </c:chart>
  <c:spPr>
    <a:solidFill>
      <a:srgbClr val="F4EFE6"/>
    </a:solidFill>
  </c:spPr>
  <c:externalData ns2:id="rIdChartSnapshot1">
    <c:autoUpdate val="0"/>
  </c:externalData>
</c:chartSpace>
</file>

<file path=ppt/slides/charts/chart3.xml><?xml version="1.0" encoding="utf-8"?>
<c:chartSpace xmlns:a="http://schemas.openxmlformats.org/drawingml/2006/main" xmlns:c="http://schemas.openxmlformats.org/drawingml/2006/chart" xmlns:r="http://schemas.openxmlformats.org/officeDocument/2006/relationships">
  <c:lang val="en-US"/>
  <c:chart>
    <c:title>
      <c:tx>
        <c:rich>
          <a:bodyPr/>
          <a:lstStyle/>
          <a:p>
            <a:r>
              <a:rPr sz="2400" b="1">
                <a:latin typeface="Arial"/>
                <a:ea typeface="Arial"/>
                <a:cs typeface="Arial"/>
              </a:rPr>
              <a:t>310 → 278 MWh</a:t>
            </a:r>
          </a:p>
        </c:rich>
      </c:tx>
      <c:overlay val="0"/>
      <c:txPr>
        <a:bodyPr anchorCtr="1"/>
        <a:lstStyle/>
        <a:p>
          <a:pPr>
            <a:defRPr sz="2400" b="1">
              <a:latin typeface="Arial"/>
              <a:ea typeface="Arial"/>
              <a:cs typeface="Arial"/>
            </a:defRPr>
          </a:pPr>
        </a:p>
      </c:txPr>
    </c:title>
    <c:plotArea>
      <c:barChart>
        <c:barDir val="bar"/>
        <c:grouping val="clustered"/>
        <c:varyColors val="0"/>
        <c:ser>
          <c:idx val="0"/>
          <c:order val="0"/>
          <c:tx>
            <c:v>310 → 278 MWh</c:v>
          </c:tx>
          <c:spPr>
            <a:solidFill>
              <a:srgbClr val="080808"/>
            </a:solidFill>
          </c:spPr>
          <c:dPt>
            <c:idx val="0"/>
            <c:invertIfNegative val="0"/>
            <c:spPr>
              <a:solidFill>
                <a:srgbClr val="AAA298"/>
              </a:solidFill>
            </c:spPr>
          </c:dPt>
          <c:dPt>
            <c:idx val="1"/>
            <c:invertIfNegative val="0"/>
            <c:spPr>
              <a:solidFill>
                <a:srgbClr val="080808"/>
              </a:solidFill>
            </c:spPr>
          </c:dPt>
          <c:cat>
            <c:strRef>
              <c:f>'Chart Data'!$A$2:$A$3</c:f>
              <c:strCache>
                <c:ptCount val="2"/>
                <c:pt idx="0">
                  <c:v>Fixed reserve</c:v>
                </c:pt>
                <c:pt idx="1">
                  <c:v>GridMesh</c:v>
                </c:pt>
              </c:strCache>
            </c:strRef>
          </c:cat>
          <c:val>
            <c:numRef>
              <c:f>'Chart Data'!$B$2:$B$3</c:f>
              <c:numCache>
                <c:formatCode>General</c:formatCode>
                <c:ptCount val="2"/>
                <c:pt idx="0">
                  <c:v>310</c:v>
                </c:pt>
                <c:pt idx="1">
                  <c:v>278</c:v>
                </c:pt>
              </c:numCache>
            </c:numRef>
          </c:val>
        </c:ser>
        <c:dLbls>
          <c:txPr>
            <a:bodyPr anchorCtr="1"/>
            <a:lstStyle/>
            <a:p>
              <a:pPr>
                <a:defRPr>
                  <a:latin typeface="Arial"/>
                  <a:ea typeface="Arial"/>
                  <a:cs typeface="Arial"/>
                </a:defRPr>
              </a:pPr>
            </a:p>
          </c:txPr>
          <c:showLegendKey val="0"/>
          <c:showVal val="0"/>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w="9525">
            <a:solidFill>
              <a:srgbClr val="D4D4D4"/>
            </a:solidFill>
            <a:prstDash val="solid"/>
          </a:ln>
        </c:spPr>
        <c:txPr>
          <a:bodyPr anchorCtr="1"/>
          <a:lstStyle/>
          <a:p>
            <a:pPr>
              <a:defRPr sz="1500">
                <a:solidFill>
                  <a:srgbClr val="666666"/>
                </a:solidFill>
                <a:latin typeface="Arial"/>
                <a:ea typeface="Arial"/>
                <a:cs typeface="Arial"/>
              </a:defRPr>
            </a:pPr>
          </a:p>
        </c:txPr>
        <c:crossAx val="48672768"/>
      </c:catAx>
      <c:valAx>
        <c:axId val="48672768"/>
        <c:scaling>
          <c:orientation val="minMax"/>
          <c:min val="0"/>
          <c:max val="350"/>
        </c:scaling>
        <c:delete val="1"/>
        <c:axPos val="b"/>
        <c:numFmt formatCode="General"/>
        <c:majorTickMark val="none"/>
        <c:minorTickMark val="none"/>
        <c:spPr>
          <a:ln w="0">
            <a:noFill/>
          </a:ln>
        </c:spPr>
        <c:txPr>
          <a:bodyPr anchorCtr="1"/>
          <a:lstStyle/>
          <a:p>
            <a:pPr>
              <a:defRPr sz="1425">
                <a:solidFill>
                  <a:srgbClr val="666666"/>
                </a:solidFill>
                <a:latin typeface="Arial"/>
                <a:ea typeface="Arial"/>
                <a:cs typeface="Arial"/>
              </a:defRPr>
            </a:pPr>
          </a:p>
        </c:txPr>
        <c:crossAx val="48650112"/>
        <c:crossBetween val="between"/>
      </c:valAx>
      <c:spPr>
        <a:solidFill>
          <a:srgbClr val="F4EFE6"/>
        </a:solidFill>
      </c:spPr>
    </c:plotArea>
    <c:plotVisOnly val="1"/>
  </c:chart>
  <c:spPr>
    <a:solidFill>
      <a:srgbClr val="F4EFE6"/>
    </a:solidFill>
  </c:spPr>
  <c:externalData r:id="rIdChartSnapshot1">
    <c:autoUpdate val="0"/>
  </c:externalData>
</c:chartSpace>
</file>

<file path=ppt/slides/charts/chart4.xml><?xml version="1.0" encoding="utf-8"?>
<c:chartSpace xmlns:a="http://schemas.openxmlformats.org/drawingml/2006/main" xmlns:c="http://schemas.openxmlformats.org/drawingml/2006/chart" xmlns:r="http://schemas.openxmlformats.org/officeDocument/2006/relationships">
  <c:lang val="en-US"/>
  <c:chart>
    <c:title>
      <c:tx>
        <c:rich>
          <a:bodyPr/>
          <a:lstStyle/>
          <a:p>
            <a:r>
              <a:rPr sz="2400" b="1">
                <a:latin typeface="Arial"/>
                <a:ea typeface="Arial"/>
                <a:cs typeface="Arial"/>
              </a:rPr>
              <a:t>2,421 → 1,576 MWh</a:t>
            </a:r>
          </a:p>
        </c:rich>
      </c:tx>
      <c:overlay val="0"/>
      <c:txPr>
        <a:bodyPr anchorCtr="1"/>
        <a:lstStyle/>
        <a:p>
          <a:pPr>
            <a:defRPr sz="2400" b="1">
              <a:latin typeface="Arial"/>
              <a:ea typeface="Arial"/>
              <a:cs typeface="Arial"/>
            </a:defRPr>
          </a:pPr>
        </a:p>
      </c:txPr>
    </c:title>
    <c:plotArea>
      <c:barChart>
        <c:barDir val="bar"/>
        <c:grouping val="clustered"/>
        <c:varyColors val="0"/>
        <c:ser>
          <c:idx val="0"/>
          <c:order val="0"/>
          <c:tx>
            <c:v>2,421 → 1,576 MWh</c:v>
          </c:tx>
          <c:spPr>
            <a:solidFill>
              <a:srgbClr val="080808"/>
            </a:solidFill>
          </c:spPr>
          <c:dPt>
            <c:idx val="0"/>
            <c:invertIfNegative val="0"/>
            <c:spPr>
              <a:solidFill>
                <a:srgbClr val="AAA298"/>
              </a:solidFill>
            </c:spPr>
          </c:dPt>
          <c:dPt>
            <c:idx val="1"/>
            <c:invertIfNegative val="0"/>
            <c:spPr>
              <a:solidFill>
                <a:srgbClr val="080808"/>
              </a:solidFill>
            </c:spPr>
          </c:dPt>
          <c:cat>
            <c:strRef>
              <c:f>'Chart Data'!$A$2:$A$3</c:f>
              <c:strCache>
                <c:ptCount val="2"/>
                <c:pt idx="0">
                  <c:v>Fixed reserve</c:v>
                </c:pt>
                <c:pt idx="1">
                  <c:v>GridMesh</c:v>
                </c:pt>
              </c:strCache>
            </c:strRef>
          </c:cat>
          <c:val>
            <c:numRef>
              <c:f>'Chart Data'!$B$2:$B$3</c:f>
              <c:numCache>
                <c:formatCode>General</c:formatCode>
                <c:ptCount val="2"/>
                <c:pt idx="0">
                  <c:v>2421</c:v>
                </c:pt>
                <c:pt idx="1">
                  <c:v>1576</c:v>
                </c:pt>
              </c:numCache>
            </c:numRef>
          </c:val>
        </c:ser>
        <c:dLbls>
          <c:txPr>
            <a:bodyPr anchorCtr="1"/>
            <a:lstStyle/>
            <a:p>
              <a:pPr>
                <a:defRPr>
                  <a:latin typeface="Arial"/>
                  <a:ea typeface="Arial"/>
                  <a:cs typeface="Arial"/>
                </a:defRPr>
              </a:pPr>
            </a:p>
          </c:txPr>
          <c:showLegendKey val="0"/>
          <c:showVal val="0"/>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w="9525">
            <a:solidFill>
              <a:srgbClr val="D4D4D4"/>
            </a:solidFill>
            <a:prstDash val="solid"/>
          </a:ln>
        </c:spPr>
        <c:txPr>
          <a:bodyPr anchorCtr="1"/>
          <a:lstStyle/>
          <a:p>
            <a:pPr>
              <a:defRPr sz="1500">
                <a:solidFill>
                  <a:srgbClr val="666666"/>
                </a:solidFill>
                <a:latin typeface="Arial"/>
                <a:ea typeface="Arial"/>
                <a:cs typeface="Arial"/>
              </a:defRPr>
            </a:pPr>
          </a:p>
        </c:txPr>
        <c:crossAx val="48672768"/>
      </c:catAx>
      <c:valAx>
        <c:axId val="48672768"/>
        <c:scaling>
          <c:orientation val="minMax"/>
          <c:min val="0"/>
          <c:max val="2600"/>
        </c:scaling>
        <c:delete val="1"/>
        <c:axPos val="b"/>
        <c:numFmt formatCode="General"/>
        <c:majorTickMark val="none"/>
        <c:minorTickMark val="none"/>
        <c:spPr>
          <a:ln w="0">
            <a:noFill/>
          </a:ln>
        </c:spPr>
        <c:txPr>
          <a:bodyPr anchorCtr="1"/>
          <a:lstStyle/>
          <a:p>
            <a:pPr>
              <a:defRPr sz="1425">
                <a:solidFill>
                  <a:srgbClr val="666666"/>
                </a:solidFill>
                <a:latin typeface="Arial"/>
                <a:ea typeface="Arial"/>
                <a:cs typeface="Arial"/>
              </a:defRPr>
            </a:pPr>
          </a:p>
        </c:txPr>
        <c:crossAx val="48650112"/>
        <c:crossBetween val="between"/>
      </c:valAx>
      <c:spPr>
        <a:solidFill>
          <a:srgbClr val="F4EFE6"/>
        </a:solidFill>
      </c:spPr>
    </c:plotArea>
    <c:plotVisOnly val="1"/>
  </c:chart>
  <c:spPr>
    <a:solidFill>
      <a:srgbClr val="F4EFE6"/>
    </a:solidFill>
  </c:spPr>
  <c:externalData r:id="rIdChartSnapshot1">
    <c:autoUpdate val="0"/>
  </c:externalData>
</c:chartSpace>
</file>

<file path=ppt/slides/charts/finalwording_chart3.xml><?xml version="1.0" encoding="utf-8"?>
<c:chartSpace xmlns:a="http://schemas.openxmlformats.org/drawingml/2006/main" xmlns:c="http://schemas.openxmlformats.org/drawingml/2006/chart" xmlns:r="http://schemas.openxmlformats.org/officeDocument/2006/relationships">
  <c:lang val="en-US"/>
  <c:chart>
    <c:plotArea>
      <c:lineChart>
        <c:grouping val="standard"/>
        <c:ser>
          <c:idx val="0"/>
          <c:order val="0"/>
          <c:tx>
            <c:v>REQUIRED RESERVE</c:v>
          </c:tx>
          <c:spPr>
            <a:ln w="19050">
              <a:solidFill>
                <a:srgbClr val="9B661B"/>
              </a:solidFill>
            </a:ln>
          </c:spPr>
          <c:marker>
            <c:symbol val="none"/>
          </c:marker>
          <c:cat>
            <c:strRef>
              <c:f>'Chart Data'!$A$2:$A$12</c:f>
              <c:strCache>
                <c:ptCount val="11"/>
                <c:pt idx="0">
                  <c:v>07:30</c:v>
                </c:pt>
                <c:pt idx="1">
                  <c:v>08:30</c:v>
                </c:pt>
                <c:pt idx="2">
                  <c:v>09:30</c:v>
                </c:pt>
                <c:pt idx="3">
                  <c:v>10:30</c:v>
                </c:pt>
                <c:pt idx="4">
                  <c:v>11:30</c:v>
                </c:pt>
                <c:pt idx="5">
                  <c:v>12:30</c:v>
                </c:pt>
                <c:pt idx="6">
                  <c:v>13:30</c:v>
                </c:pt>
                <c:pt idx="7">
                  <c:v>14:30</c:v>
                </c:pt>
                <c:pt idx="8">
                  <c:v>15:30</c:v>
                </c:pt>
                <c:pt idx="9">
                  <c:v>16:30</c:v>
                </c:pt>
                <c:pt idx="10">
                  <c:v>17:30</c:v>
                </c:pt>
              </c:strCache>
            </c:strRef>
          </c:cat>
          <c:val>
            <c:numRef>
              <c:f>'Chart Data'!$B$2:$B$12</c:f>
              <c:numCache>
                <c:formatCode>0</c:formatCode>
                <c:ptCount val="11"/>
                <c:pt idx="0">
                  <c:v>91.3645</c:v>
                </c:pt>
                <c:pt idx="1">
                  <c:v>92.324</c:v>
                </c:pt>
                <c:pt idx="2">
                  <c:v>91.5848</c:v>
                </c:pt>
                <c:pt idx="3">
                  <c:v>40.3509</c:v>
                </c:pt>
                <c:pt idx="4">
                  <c:v>34.9804</c:v>
                </c:pt>
                <c:pt idx="5">
                  <c:v>29.803</c:v>
                </c:pt>
                <c:pt idx="6">
                  <c:v>26.3153</c:v>
                </c:pt>
                <c:pt idx="7">
                  <c:v>23.7133</c:v>
                </c:pt>
                <c:pt idx="8">
                  <c:v>22.6635</c:v>
                </c:pt>
                <c:pt idx="9">
                  <c:v>7.7372</c:v>
                </c:pt>
                <c:pt idx="10">
                  <c:v>66.8676</c:v>
                </c:pt>
              </c:numCache>
            </c:numRef>
          </c:val>
          <c:smooth val="0"/>
        </c:ser>
        <c:ser>
          <c:idx val="1"/>
          <c:order val="1"/>
          <c:tx>
            <c:v>SCHEDULED BACKUP</c:v>
          </c:tx>
          <c:spPr>
            <a:ln w="19050">
              <a:solidFill>
                <a:srgbClr val="23725C"/>
              </a:solidFill>
            </a:ln>
          </c:spPr>
          <c:marker>
            <c:symbol val="none"/>
          </c:marker>
          <c:cat>
            <c:strRef>
              <c:f>'Chart Data'!$C$2:$C$12</c:f>
              <c:strCache>
                <c:ptCount val="11"/>
                <c:pt idx="0">
                  <c:v>07:30</c:v>
                </c:pt>
                <c:pt idx="1">
                  <c:v>08:30</c:v>
                </c:pt>
                <c:pt idx="2">
                  <c:v>09:30</c:v>
                </c:pt>
                <c:pt idx="3">
                  <c:v>10:30</c:v>
                </c:pt>
                <c:pt idx="4">
                  <c:v>11:30</c:v>
                </c:pt>
                <c:pt idx="5">
                  <c:v>12:30</c:v>
                </c:pt>
                <c:pt idx="6">
                  <c:v>13:30</c:v>
                </c:pt>
                <c:pt idx="7">
                  <c:v>14:30</c:v>
                </c:pt>
                <c:pt idx="8">
                  <c:v>15:30</c:v>
                </c:pt>
                <c:pt idx="9">
                  <c:v>16:30</c:v>
                </c:pt>
                <c:pt idx="10">
                  <c:v>17:30</c:v>
                </c:pt>
              </c:strCache>
            </c:strRef>
          </c:cat>
          <c:val>
            <c:numRef>
              <c:f>'Chart Data'!$D$2:$D$12</c:f>
              <c:numCache>
                <c:formatCode>0</c:formatCode>
                <c:ptCount val="11"/>
                <c:pt idx="0">
                  <c:v>37.5091</c:v>
                </c:pt>
                <c:pt idx="1">
                  <c:v>92.324</c:v>
                </c:pt>
                <c:pt idx="2">
                  <c:v>91.5848</c:v>
                </c:pt>
                <c:pt idx="3">
                  <c:v>40.3509</c:v>
                </c:pt>
                <c:pt idx="4">
                  <c:v>34.9804</c:v>
                </c:pt>
                <c:pt idx="5">
                  <c:v>29.803</c:v>
                </c:pt>
                <c:pt idx="6">
                  <c:v>26.3153</c:v>
                </c:pt>
                <c:pt idx="7">
                  <c:v>23.7133</c:v>
                </c:pt>
                <c:pt idx="8">
                  <c:v>22.6635</c:v>
                </c:pt>
                <c:pt idx="9">
                  <c:v>7.7372</c:v>
                </c:pt>
                <c:pt idx="10">
                  <c:v>66.8676</c:v>
                </c:pt>
              </c:numCache>
            </c:numRef>
          </c:val>
          <c:smooth val="0"/>
        </c:ser>
        <c:ser>
          <c:idx val="2"/>
          <c:order val="2"/>
          <c:tx>
            <c:v>UNCOVERED RESERVE</c:v>
          </c:tx>
          <c:spPr>
            <a:ln w="19050">
              <a:solidFill>
                <a:srgbClr val="68645E"/>
              </a:solidFill>
            </a:ln>
          </c:spPr>
          <c:marker>
            <c:symbol val="none"/>
          </c:marker>
          <c:cat>
            <c:strRef>
              <c:f>'Chart Data'!$E$2:$E$12</c:f>
              <c:strCache>
                <c:ptCount val="11"/>
                <c:pt idx="0">
                  <c:v>07:30</c:v>
                </c:pt>
                <c:pt idx="1">
                  <c:v>08:30</c:v>
                </c:pt>
                <c:pt idx="2">
                  <c:v>09:30</c:v>
                </c:pt>
                <c:pt idx="3">
                  <c:v>10:30</c:v>
                </c:pt>
                <c:pt idx="4">
                  <c:v>11:30</c:v>
                </c:pt>
                <c:pt idx="5">
                  <c:v>12:30</c:v>
                </c:pt>
                <c:pt idx="6">
                  <c:v>13:30</c:v>
                </c:pt>
                <c:pt idx="7">
                  <c:v>14:30</c:v>
                </c:pt>
                <c:pt idx="8">
                  <c:v>15:30</c:v>
                </c:pt>
                <c:pt idx="9">
                  <c:v>16:30</c:v>
                </c:pt>
                <c:pt idx="10">
                  <c:v>17:30</c:v>
                </c:pt>
              </c:strCache>
            </c:strRef>
          </c:cat>
          <c:val>
            <c:numRef>
              <c:f>'Chart Data'!$F$2:$F$12</c:f>
              <c:numCache>
                <c:formatCode>0</c:formatCode>
                <c:ptCount val="11"/>
                <c:pt idx="0">
                  <c:v>53.8554</c:v>
                </c:pt>
                <c:pt idx="1">
                  <c:v>0</c:v>
                </c:pt>
                <c:pt idx="2">
                  <c:v>0</c:v>
                </c:pt>
                <c:pt idx="3">
                  <c:v>0</c:v>
                </c:pt>
                <c:pt idx="4">
                  <c:v>0</c:v>
                </c:pt>
                <c:pt idx="5">
                  <c:v>0</c:v>
                </c:pt>
                <c:pt idx="6">
                  <c:v>0</c:v>
                </c:pt>
                <c:pt idx="7">
                  <c:v>0</c:v>
                </c:pt>
                <c:pt idx="8">
                  <c:v>0</c:v>
                </c:pt>
                <c:pt idx="9">
                  <c:v>0</c:v>
                </c:pt>
                <c:pt idx="10">
                  <c:v>0</c:v>
                </c:pt>
              </c:numCache>
            </c:numRef>
          </c:val>
          <c:smooth val="0"/>
        </c:ser>
        <c:dLbls>
          <c:txPr>
            <a:bodyPr anchorCtr="1"/>
            <a:lstStyle/>
            <a:p>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w="9525">
            <a:solidFill>
              <a:srgbClr val="D4D4D4"/>
            </a:solidFill>
            <a:prstDash val="solid"/>
          </a:ln>
        </c:spPr>
        <c:txPr>
          <a:bodyPr anchorCtr="1"/>
          <a:lstStyle/>
          <a:p>
            <a:pPr>
              <a:defRPr sz="1050">
                <a:solidFill>
                  <a:srgbClr val="68645E"/>
                </a:solidFill>
                <a:latin typeface="Arial"/>
                <a:ea typeface="Arial"/>
                <a:cs typeface="Arial"/>
              </a:defRPr>
            </a:pPr>
          </a:p>
        </c:txPr>
        <c:crossAx val="48672768"/>
      </c:catAx>
      <c:valAx>
        <c:axId val="48672768"/>
        <c:scaling>
          <c:orientation val="minMax"/>
          <c:min val="0"/>
        </c:scaling>
        <c:delete val="0"/>
        <c:axPos val="l"/>
        <c:majorGridlines>
          <c:spPr>
            <a:ln w="9525">
              <a:solidFill>
                <a:srgbClr val="D8D2C7"/>
              </a:solidFill>
            </a:ln>
          </c:spPr>
        </c:majorGridlines>
        <c:title>
          <c:tx>
            <c:rich>
              <a:bodyPr/>
              <a:lstStyle/>
              <a:p>
                <a:r>
                  <a:rPr sz="1125">
                    <a:solidFill>
                      <a:srgbClr val="68645E"/>
                    </a:solidFill>
                    <a:latin typeface="Arial"/>
                    <a:ea typeface="Arial"/>
                    <a:cs typeface="Arial"/>
                  </a:rPr>
                  <a:t>kW</a:t>
                </a:r>
              </a:p>
            </c:rich>
          </c:tx>
          <c:overlay val="0"/>
          <c:txPr>
            <a:bodyPr anchorCtr="1"/>
            <a:lstStyle/>
            <a:p>
              <a:pPr>
                <a:defRPr sz="1125">
                  <a:solidFill>
                    <a:srgbClr val="68645E"/>
                  </a:solidFill>
                  <a:latin typeface="Arial"/>
                  <a:ea typeface="Arial"/>
                  <a:cs typeface="Arial"/>
                </a:defRPr>
              </a:pPr>
            </a:p>
          </c:txPr>
        </c:title>
        <c:numFmt formatCode="0"/>
        <c:majorTickMark val="none"/>
        <c:minorTickMark val="none"/>
        <c:spPr>
          <a:ln w="9525">
            <a:solidFill>
              <a:srgbClr val="D4D4D4"/>
            </a:solidFill>
            <a:prstDash val="solid"/>
          </a:ln>
        </c:spPr>
        <c:txPr>
          <a:bodyPr anchorCtr="1"/>
          <a:lstStyle/>
          <a:p>
            <a:pPr>
              <a:defRPr sz="1050">
                <a:solidFill>
                  <a:srgbClr val="68645E"/>
                </a:solidFill>
                <a:latin typeface="Arial"/>
                <a:ea typeface="Arial"/>
                <a:cs typeface="Arial"/>
              </a:defRPr>
            </a:pPr>
          </a:p>
        </c:txPr>
        <c:crossAx val="48650112"/>
        <c:crossBetween val="between"/>
      </c:valAx>
      <c:spPr>
        <a:solidFill>
          <a:srgbClr val="F4EFE6"/>
        </a:solidFill>
        <a:ln w="0">
          <a:noFill/>
        </a:ln>
      </c:spPr>
    </c:plotArea>
    <c:legend>
      <c:legendPos val="b"/>
      <c:overlay val="0"/>
      <c:txPr>
        <a:bodyPr anchorCtr="1"/>
        <a:lstStyle/>
        <a:p>
          <a:pPr>
            <a:defRPr sz="1050">
              <a:solidFill>
                <a:srgbClr val="080808"/>
              </a:solidFill>
              <a:latin typeface="Arial"/>
              <a:ea typeface="Arial"/>
              <a:cs typeface="Arial"/>
            </a:defRPr>
          </a:pPr>
        </a:p>
      </c:txPr>
    </c:legend>
    <c:plotVisOnly val="1"/>
  </c:chart>
  <c:spPr>
    <a:solidFill>
      <a:srgbClr val="F4EFE6"/>
    </a:solidFill>
    <a:ln w="0">
      <a:noFill/>
    </a:ln>
  </c:spPr>
  <c:externalData r:id="rIdChartSnapshot1">
    <c:autoUpdate val="0"/>
  </c:externalData>
</c:chartSpace>
</file>

<file path=ppt/slides/charts/mentor_chart2.xml><?xml version="1.0" encoding="utf-8"?>
<c:chartSpace xmlns:a="http://schemas.openxmlformats.org/drawingml/2006/main" xmlns:c="http://schemas.openxmlformats.org/drawingml/2006/chart" xmlns:r="http://schemas.openxmlformats.org/officeDocument/2006/relationships">
  <c:lang val="en-US"/>
  <c:chart>
    <c:plotArea>
      <c:lineChart>
        <c:grouping val="standard"/>
        <c:ser>
          <c:idx val="0"/>
          <c:order val="0"/>
          <c:tx>
            <c:v>Required reserve</c:v>
          </c:tx>
          <c:spPr>
            <a:ln w="19050">
              <a:solidFill>
                <a:srgbClr val="9B661B"/>
              </a:solidFill>
            </a:ln>
          </c:spPr>
          <c:marker>
            <c:symbol val="none"/>
          </c:marker>
          <c:cat>
            <c:strRef>
              <c:f>'Chart Data'!$A$2:$A$12</c:f>
              <c:strCache>
                <c:ptCount val="11"/>
                <c:pt idx="0">
                  <c:v>07:30</c:v>
                </c:pt>
                <c:pt idx="1">
                  <c:v>08:30</c:v>
                </c:pt>
                <c:pt idx="2">
                  <c:v>09:30</c:v>
                </c:pt>
                <c:pt idx="3">
                  <c:v>10:30</c:v>
                </c:pt>
                <c:pt idx="4">
                  <c:v>11:30</c:v>
                </c:pt>
                <c:pt idx="5">
                  <c:v>12:30</c:v>
                </c:pt>
                <c:pt idx="6">
                  <c:v>13:30</c:v>
                </c:pt>
                <c:pt idx="7">
                  <c:v>14:30</c:v>
                </c:pt>
                <c:pt idx="8">
                  <c:v>15:30</c:v>
                </c:pt>
                <c:pt idx="9">
                  <c:v>16:30</c:v>
                </c:pt>
                <c:pt idx="10">
                  <c:v>17:30</c:v>
                </c:pt>
              </c:strCache>
            </c:strRef>
          </c:cat>
          <c:val>
            <c:numRef>
              <c:f>'Chart Data'!$B$2:$B$12</c:f>
              <c:numCache>
                <c:formatCode>0</c:formatCode>
                <c:ptCount val="11"/>
                <c:pt idx="0">
                  <c:v>91.3645</c:v>
                </c:pt>
                <c:pt idx="1">
                  <c:v>92.324</c:v>
                </c:pt>
                <c:pt idx="2">
                  <c:v>91.5848</c:v>
                </c:pt>
                <c:pt idx="3">
                  <c:v>40.3509</c:v>
                </c:pt>
                <c:pt idx="4">
                  <c:v>34.9804</c:v>
                </c:pt>
                <c:pt idx="5">
                  <c:v>29.803</c:v>
                </c:pt>
                <c:pt idx="6">
                  <c:v>26.3153</c:v>
                </c:pt>
                <c:pt idx="7">
                  <c:v>23.7133</c:v>
                </c:pt>
                <c:pt idx="8">
                  <c:v>22.6635</c:v>
                </c:pt>
                <c:pt idx="9">
                  <c:v>7.7372</c:v>
                </c:pt>
                <c:pt idx="10">
                  <c:v>66.8676</c:v>
                </c:pt>
              </c:numCache>
            </c:numRef>
          </c:val>
          <c:smooth val="0"/>
        </c:ser>
        <c:ser>
          <c:idx val="1"/>
          <c:order val="1"/>
          <c:tx>
            <c:v>Scheduled backup</c:v>
          </c:tx>
          <c:spPr>
            <a:ln w="19050">
              <a:solidFill>
                <a:srgbClr val="23725C"/>
              </a:solidFill>
            </a:ln>
          </c:spPr>
          <c:marker>
            <c:symbol val="none"/>
          </c:marker>
          <c:cat>
            <c:strRef>
              <c:f>'Chart Data'!$C$2:$C$12</c:f>
              <c:strCache>
                <c:ptCount val="11"/>
                <c:pt idx="0">
                  <c:v>07:30</c:v>
                </c:pt>
                <c:pt idx="1">
                  <c:v>08:30</c:v>
                </c:pt>
                <c:pt idx="2">
                  <c:v>09:30</c:v>
                </c:pt>
                <c:pt idx="3">
                  <c:v>10:30</c:v>
                </c:pt>
                <c:pt idx="4">
                  <c:v>11:30</c:v>
                </c:pt>
                <c:pt idx="5">
                  <c:v>12:30</c:v>
                </c:pt>
                <c:pt idx="6">
                  <c:v>13:30</c:v>
                </c:pt>
                <c:pt idx="7">
                  <c:v>14:30</c:v>
                </c:pt>
                <c:pt idx="8">
                  <c:v>15:30</c:v>
                </c:pt>
                <c:pt idx="9">
                  <c:v>16:30</c:v>
                </c:pt>
                <c:pt idx="10">
                  <c:v>17:30</c:v>
                </c:pt>
              </c:strCache>
            </c:strRef>
          </c:cat>
          <c:val>
            <c:numRef>
              <c:f>'Chart Data'!$D$2:$D$12</c:f>
              <c:numCache>
                <c:formatCode>0</c:formatCode>
                <c:ptCount val="11"/>
                <c:pt idx="0">
                  <c:v>37.5091</c:v>
                </c:pt>
                <c:pt idx="1">
                  <c:v>92.324</c:v>
                </c:pt>
                <c:pt idx="2">
                  <c:v>91.5848</c:v>
                </c:pt>
                <c:pt idx="3">
                  <c:v>40.3509</c:v>
                </c:pt>
                <c:pt idx="4">
                  <c:v>34.9804</c:v>
                </c:pt>
                <c:pt idx="5">
                  <c:v>29.803</c:v>
                </c:pt>
                <c:pt idx="6">
                  <c:v>26.3153</c:v>
                </c:pt>
                <c:pt idx="7">
                  <c:v>23.7133</c:v>
                </c:pt>
                <c:pt idx="8">
                  <c:v>22.6635</c:v>
                </c:pt>
                <c:pt idx="9">
                  <c:v>7.7372</c:v>
                </c:pt>
                <c:pt idx="10">
                  <c:v>66.8676</c:v>
                </c:pt>
              </c:numCache>
            </c:numRef>
          </c:val>
          <c:smooth val="0"/>
        </c:ser>
        <c:ser>
          <c:idx val="2"/>
          <c:order val="2"/>
          <c:tx>
            <c:v>Planned uncovered</c:v>
          </c:tx>
          <c:spPr>
            <a:ln w="19050">
              <a:solidFill>
                <a:srgbClr val="68645E"/>
              </a:solidFill>
            </a:ln>
          </c:spPr>
          <c:marker>
            <c:symbol val="none"/>
          </c:marker>
          <c:cat>
            <c:strRef>
              <c:f>'Chart Data'!$E$2:$E$12</c:f>
              <c:strCache>
                <c:ptCount val="11"/>
                <c:pt idx="0">
                  <c:v>07:30</c:v>
                </c:pt>
                <c:pt idx="1">
                  <c:v>08:30</c:v>
                </c:pt>
                <c:pt idx="2">
                  <c:v>09:30</c:v>
                </c:pt>
                <c:pt idx="3">
                  <c:v>10:30</c:v>
                </c:pt>
                <c:pt idx="4">
                  <c:v>11:30</c:v>
                </c:pt>
                <c:pt idx="5">
                  <c:v>12:30</c:v>
                </c:pt>
                <c:pt idx="6">
                  <c:v>13:30</c:v>
                </c:pt>
                <c:pt idx="7">
                  <c:v>14:30</c:v>
                </c:pt>
                <c:pt idx="8">
                  <c:v>15:30</c:v>
                </c:pt>
                <c:pt idx="9">
                  <c:v>16:30</c:v>
                </c:pt>
                <c:pt idx="10">
                  <c:v>17:30</c:v>
                </c:pt>
              </c:strCache>
            </c:strRef>
          </c:cat>
          <c:val>
            <c:numRef>
              <c:f>'Chart Data'!$F$2:$F$12</c:f>
              <c:numCache>
                <c:formatCode>0</c:formatCode>
                <c:ptCount val="11"/>
                <c:pt idx="0">
                  <c:v>53.8554</c:v>
                </c:pt>
                <c:pt idx="1">
                  <c:v>0</c:v>
                </c:pt>
                <c:pt idx="2">
                  <c:v>0</c:v>
                </c:pt>
                <c:pt idx="3">
                  <c:v>0</c:v>
                </c:pt>
                <c:pt idx="4">
                  <c:v>0</c:v>
                </c:pt>
                <c:pt idx="5">
                  <c:v>0</c:v>
                </c:pt>
                <c:pt idx="6">
                  <c:v>0</c:v>
                </c:pt>
                <c:pt idx="7">
                  <c:v>0</c:v>
                </c:pt>
                <c:pt idx="8">
                  <c:v>0</c:v>
                </c:pt>
                <c:pt idx="9">
                  <c:v>0</c:v>
                </c:pt>
                <c:pt idx="10">
                  <c:v>0</c:v>
                </c:pt>
              </c:numCache>
            </c:numRef>
          </c:val>
          <c:smooth val="0"/>
        </c:ser>
        <c:dLbls>
          <c:txPr>
            <a:bodyPr anchorCtr="1"/>
            <a:lstStyle/>
            <a:p>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w="9525">
            <a:solidFill>
              <a:srgbClr val="D4D4D4"/>
            </a:solidFill>
            <a:prstDash val="solid"/>
          </a:ln>
        </c:spPr>
        <c:txPr>
          <a:bodyPr anchorCtr="1"/>
          <a:lstStyle/>
          <a:p>
            <a:pPr>
              <a:defRPr sz="1050">
                <a:solidFill>
                  <a:srgbClr val="68645E"/>
                </a:solidFill>
                <a:latin typeface="Arial"/>
                <a:ea typeface="Arial"/>
                <a:cs typeface="Arial"/>
              </a:defRPr>
            </a:pPr>
          </a:p>
        </c:txPr>
        <c:crossAx val="48672768"/>
      </c:catAx>
      <c:valAx>
        <c:axId val="48672768"/>
        <c:scaling>
          <c:orientation val="minMax"/>
          <c:min val="0"/>
        </c:scaling>
        <c:delete val="0"/>
        <c:axPos val="l"/>
        <c:majorGridlines>
          <c:spPr>
            <a:ln w="9525">
              <a:solidFill>
                <a:srgbClr val="D8D2C7"/>
              </a:solidFill>
            </a:ln>
          </c:spPr>
        </c:majorGridlines>
        <c:title>
          <c:tx>
            <c:rich>
              <a:bodyPr/>
              <a:lstStyle/>
              <a:p>
                <a:r>
                  <a:rPr sz="1200">
                    <a:solidFill>
                      <a:srgbClr val="68645E"/>
                    </a:solidFill>
                    <a:latin typeface="Arial"/>
                    <a:ea typeface="Arial"/>
                    <a:cs typeface="Arial"/>
                  </a:rPr>
                  <a:t>kW</a:t>
                </a:r>
              </a:p>
            </c:rich>
          </c:tx>
          <c:overlay val="0"/>
          <c:txPr>
            <a:bodyPr anchorCtr="1"/>
            <a:lstStyle/>
            <a:p>
              <a:pPr>
                <a:defRPr sz="1200">
                  <a:solidFill>
                    <a:srgbClr val="68645E"/>
                  </a:solidFill>
                  <a:latin typeface="Arial"/>
                  <a:ea typeface="Arial"/>
                  <a:cs typeface="Arial"/>
                </a:defRPr>
              </a:pPr>
            </a:p>
          </c:txPr>
        </c:title>
        <c:numFmt formatCode="0"/>
        <c:majorTickMark val="none"/>
        <c:minorTickMark val="none"/>
        <c:spPr>
          <a:ln w="9525">
            <a:solidFill>
              <a:srgbClr val="D4D4D4"/>
            </a:solidFill>
            <a:prstDash val="solid"/>
          </a:ln>
        </c:spPr>
        <c:txPr>
          <a:bodyPr anchorCtr="1"/>
          <a:lstStyle/>
          <a:p>
            <a:pPr>
              <a:defRPr sz="1050">
                <a:solidFill>
                  <a:srgbClr val="68645E"/>
                </a:solidFill>
                <a:latin typeface="Arial"/>
                <a:ea typeface="Arial"/>
                <a:cs typeface="Arial"/>
              </a:defRPr>
            </a:pPr>
          </a:p>
        </c:txPr>
        <c:crossAx val="48650112"/>
        <c:crossBetween val="between"/>
      </c:valAx>
      <c:spPr>
        <a:solidFill>
          <a:srgbClr val="F4EFE6"/>
        </a:solidFill>
        <a:ln w="0">
          <a:noFill/>
        </a:ln>
      </c:spPr>
    </c:plotArea>
    <c:legend>
      <c:legendPos val="b"/>
      <c:overlay val="0"/>
      <c:txPr>
        <a:bodyPr anchorCtr="1"/>
        <a:lstStyle/>
        <a:p>
          <a:pPr>
            <a:defRPr sz="1200">
              <a:solidFill>
                <a:srgbClr val="080808"/>
              </a:solidFill>
              <a:latin typeface="Arial"/>
              <a:ea typeface="Arial"/>
              <a:cs typeface="Arial"/>
            </a:defRPr>
          </a:pPr>
        </a:p>
      </c:txPr>
    </c:legend>
    <c:plotVisOnly val="1"/>
  </c:chart>
  <c:spPr>
    <a:solidFill>
      <a:srgbClr val="F4EFE6"/>
    </a:solidFill>
    <a:ln w="0">
      <a:noFill/>
    </a:ln>
  </c:spPr>
  <c:externalData r:id="rIdChartSnapshot1">
    <c:autoUpdate val="0"/>
  </c:externalData>
</c:chartSpace>
</file>

<file path=ppt/slides/charts/refined_chart3.xml><?xml version="1.0" encoding="utf-8"?>
<c:chartSpace xmlns:a="http://schemas.openxmlformats.org/drawingml/2006/main" xmlns:c="http://schemas.openxmlformats.org/drawingml/2006/chart" xmlns:r="http://schemas.openxmlformats.org/officeDocument/2006/relationships">
  <c:lang val="en-US"/>
  <c:chart>
    <c:plotArea>
      <c:lineChart>
        <c:grouping val="standard"/>
        <c:ser>
          <c:idx val="0"/>
          <c:order val="0"/>
          <c:tx>
            <c:v>REQUIRED RESERVE</c:v>
          </c:tx>
          <c:spPr>
            <a:ln w="19050">
              <a:solidFill>
                <a:srgbClr val="9B661B"/>
              </a:solidFill>
            </a:ln>
          </c:spPr>
          <c:marker>
            <c:symbol val="none"/>
          </c:marker>
          <c:cat>
            <c:strRef>
              <c:f>'Chart Data'!$A$2:$A$12</c:f>
              <c:strCache>
                <c:ptCount val="11"/>
                <c:pt idx="0">
                  <c:v>07:30</c:v>
                </c:pt>
                <c:pt idx="1">
                  <c:v>08:30</c:v>
                </c:pt>
                <c:pt idx="2">
                  <c:v>09:30</c:v>
                </c:pt>
                <c:pt idx="3">
                  <c:v>10:30</c:v>
                </c:pt>
                <c:pt idx="4">
                  <c:v>11:30</c:v>
                </c:pt>
                <c:pt idx="5">
                  <c:v>12:30</c:v>
                </c:pt>
                <c:pt idx="6">
                  <c:v>13:30</c:v>
                </c:pt>
                <c:pt idx="7">
                  <c:v>14:30</c:v>
                </c:pt>
                <c:pt idx="8">
                  <c:v>15:30</c:v>
                </c:pt>
                <c:pt idx="9">
                  <c:v>16:30</c:v>
                </c:pt>
                <c:pt idx="10">
                  <c:v>17:30</c:v>
                </c:pt>
              </c:strCache>
            </c:strRef>
          </c:cat>
          <c:val>
            <c:numRef>
              <c:f>'Chart Data'!$B$2:$B$12</c:f>
              <c:numCache>
                <c:formatCode>0</c:formatCode>
                <c:ptCount val="11"/>
                <c:pt idx="0">
                  <c:v>91.3645</c:v>
                </c:pt>
                <c:pt idx="1">
                  <c:v>92.324</c:v>
                </c:pt>
                <c:pt idx="2">
                  <c:v>91.5848</c:v>
                </c:pt>
                <c:pt idx="3">
                  <c:v>40.3509</c:v>
                </c:pt>
                <c:pt idx="4">
                  <c:v>34.9804</c:v>
                </c:pt>
                <c:pt idx="5">
                  <c:v>29.803</c:v>
                </c:pt>
                <c:pt idx="6">
                  <c:v>26.3153</c:v>
                </c:pt>
                <c:pt idx="7">
                  <c:v>23.7133</c:v>
                </c:pt>
                <c:pt idx="8">
                  <c:v>22.6635</c:v>
                </c:pt>
                <c:pt idx="9">
                  <c:v>7.7372</c:v>
                </c:pt>
                <c:pt idx="10">
                  <c:v>66.8676</c:v>
                </c:pt>
              </c:numCache>
            </c:numRef>
          </c:val>
          <c:smooth val="0"/>
        </c:ser>
        <c:ser>
          <c:idx val="1"/>
          <c:order val="1"/>
          <c:tx>
            <c:v>SCHEDULED BACKUP</c:v>
          </c:tx>
          <c:spPr>
            <a:ln w="19050">
              <a:solidFill>
                <a:srgbClr val="23725C"/>
              </a:solidFill>
            </a:ln>
          </c:spPr>
          <c:marker>
            <c:symbol val="none"/>
          </c:marker>
          <c:cat>
            <c:strRef>
              <c:f>'Chart Data'!$C$2:$C$12</c:f>
              <c:strCache>
                <c:ptCount val="11"/>
                <c:pt idx="0">
                  <c:v>07:30</c:v>
                </c:pt>
                <c:pt idx="1">
                  <c:v>08:30</c:v>
                </c:pt>
                <c:pt idx="2">
                  <c:v>09:30</c:v>
                </c:pt>
                <c:pt idx="3">
                  <c:v>10:30</c:v>
                </c:pt>
                <c:pt idx="4">
                  <c:v>11:30</c:v>
                </c:pt>
                <c:pt idx="5">
                  <c:v>12:30</c:v>
                </c:pt>
                <c:pt idx="6">
                  <c:v>13:30</c:v>
                </c:pt>
                <c:pt idx="7">
                  <c:v>14:30</c:v>
                </c:pt>
                <c:pt idx="8">
                  <c:v>15:30</c:v>
                </c:pt>
                <c:pt idx="9">
                  <c:v>16:30</c:v>
                </c:pt>
                <c:pt idx="10">
                  <c:v>17:30</c:v>
                </c:pt>
              </c:strCache>
            </c:strRef>
          </c:cat>
          <c:val>
            <c:numRef>
              <c:f>'Chart Data'!$D$2:$D$12</c:f>
              <c:numCache>
                <c:formatCode>0</c:formatCode>
                <c:ptCount val="11"/>
                <c:pt idx="0">
                  <c:v>37.5091</c:v>
                </c:pt>
                <c:pt idx="1">
                  <c:v>92.324</c:v>
                </c:pt>
                <c:pt idx="2">
                  <c:v>91.5848</c:v>
                </c:pt>
                <c:pt idx="3">
                  <c:v>40.3509</c:v>
                </c:pt>
                <c:pt idx="4">
                  <c:v>34.9804</c:v>
                </c:pt>
                <c:pt idx="5">
                  <c:v>29.803</c:v>
                </c:pt>
                <c:pt idx="6">
                  <c:v>26.3153</c:v>
                </c:pt>
                <c:pt idx="7">
                  <c:v>23.7133</c:v>
                </c:pt>
                <c:pt idx="8">
                  <c:v>22.6635</c:v>
                </c:pt>
                <c:pt idx="9">
                  <c:v>7.7372</c:v>
                </c:pt>
                <c:pt idx="10">
                  <c:v>66.8676</c:v>
                </c:pt>
              </c:numCache>
            </c:numRef>
          </c:val>
          <c:smooth val="0"/>
        </c:ser>
        <c:ser>
          <c:idx val="2"/>
          <c:order val="2"/>
          <c:tx>
            <c:v>UNCOVERED RESERVE</c:v>
          </c:tx>
          <c:spPr>
            <a:ln w="19050">
              <a:solidFill>
                <a:srgbClr val="68645E"/>
              </a:solidFill>
            </a:ln>
          </c:spPr>
          <c:marker>
            <c:symbol val="none"/>
          </c:marker>
          <c:cat>
            <c:strRef>
              <c:f>'Chart Data'!$E$2:$E$12</c:f>
              <c:strCache>
                <c:ptCount val="11"/>
                <c:pt idx="0">
                  <c:v>07:30</c:v>
                </c:pt>
                <c:pt idx="1">
                  <c:v>08:30</c:v>
                </c:pt>
                <c:pt idx="2">
                  <c:v>09:30</c:v>
                </c:pt>
                <c:pt idx="3">
                  <c:v>10:30</c:v>
                </c:pt>
                <c:pt idx="4">
                  <c:v>11:30</c:v>
                </c:pt>
                <c:pt idx="5">
                  <c:v>12:30</c:v>
                </c:pt>
                <c:pt idx="6">
                  <c:v>13:30</c:v>
                </c:pt>
                <c:pt idx="7">
                  <c:v>14:30</c:v>
                </c:pt>
                <c:pt idx="8">
                  <c:v>15:30</c:v>
                </c:pt>
                <c:pt idx="9">
                  <c:v>16:30</c:v>
                </c:pt>
                <c:pt idx="10">
                  <c:v>17:30</c:v>
                </c:pt>
              </c:strCache>
            </c:strRef>
          </c:cat>
          <c:val>
            <c:numRef>
              <c:f>'Chart Data'!$F$2:$F$12</c:f>
              <c:numCache>
                <c:formatCode>0</c:formatCode>
                <c:ptCount val="11"/>
                <c:pt idx="0">
                  <c:v>53.8554</c:v>
                </c:pt>
                <c:pt idx="1">
                  <c:v>0</c:v>
                </c:pt>
                <c:pt idx="2">
                  <c:v>0</c:v>
                </c:pt>
                <c:pt idx="3">
                  <c:v>0</c:v>
                </c:pt>
                <c:pt idx="4">
                  <c:v>0</c:v>
                </c:pt>
                <c:pt idx="5">
                  <c:v>0</c:v>
                </c:pt>
                <c:pt idx="6">
                  <c:v>0</c:v>
                </c:pt>
                <c:pt idx="7">
                  <c:v>0</c:v>
                </c:pt>
                <c:pt idx="8">
                  <c:v>0</c:v>
                </c:pt>
                <c:pt idx="9">
                  <c:v>0</c:v>
                </c:pt>
                <c:pt idx="10">
                  <c:v>0</c:v>
                </c:pt>
              </c:numCache>
            </c:numRef>
          </c:val>
          <c:smooth val="0"/>
        </c:ser>
        <c:dLbls>
          <c:txPr>
            <a:bodyPr anchorCtr="1"/>
            <a:lstStyle/>
            <a:p>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w="9525">
            <a:solidFill>
              <a:srgbClr val="D4D4D4"/>
            </a:solidFill>
            <a:prstDash val="solid"/>
          </a:ln>
        </c:spPr>
        <c:txPr>
          <a:bodyPr anchorCtr="1"/>
          <a:lstStyle/>
          <a:p>
            <a:pPr>
              <a:defRPr sz="938">
                <a:solidFill>
                  <a:srgbClr val="68645E"/>
                </a:solidFill>
                <a:latin typeface="Arial"/>
                <a:ea typeface="Arial"/>
                <a:cs typeface="Arial"/>
              </a:defRPr>
            </a:pPr>
          </a:p>
        </c:txPr>
        <c:crossAx val="48672768"/>
      </c:catAx>
      <c:valAx>
        <c:axId val="48672768"/>
        <c:scaling>
          <c:orientation val="minMax"/>
          <c:min val="0"/>
        </c:scaling>
        <c:delete val="0"/>
        <c:axPos val="l"/>
        <c:majorGridlines>
          <c:spPr>
            <a:ln w="9525">
              <a:solidFill>
                <a:srgbClr val="D8D2C7"/>
              </a:solidFill>
            </a:ln>
          </c:spPr>
        </c:majorGridlines>
        <c:title>
          <c:tx>
            <c:rich>
              <a:bodyPr/>
              <a:lstStyle/>
              <a:p>
                <a:r>
                  <a:rPr sz="1050">
                    <a:solidFill>
                      <a:srgbClr val="68645E"/>
                    </a:solidFill>
                    <a:latin typeface="Arial"/>
                    <a:ea typeface="Arial"/>
                    <a:cs typeface="Arial"/>
                  </a:rPr>
                  <a:t>kW</a:t>
                </a:r>
              </a:p>
            </c:rich>
          </c:tx>
          <c:overlay val="0"/>
          <c:txPr>
            <a:bodyPr anchorCtr="1"/>
            <a:lstStyle/>
            <a:p>
              <a:pPr>
                <a:defRPr sz="1050">
                  <a:solidFill>
                    <a:srgbClr val="68645E"/>
                  </a:solidFill>
                  <a:latin typeface="Arial"/>
                  <a:ea typeface="Arial"/>
                  <a:cs typeface="Arial"/>
                </a:defRPr>
              </a:pPr>
            </a:p>
          </c:txPr>
        </c:title>
        <c:numFmt formatCode="0"/>
        <c:majorTickMark val="none"/>
        <c:minorTickMark val="none"/>
        <c:spPr>
          <a:ln w="9525">
            <a:solidFill>
              <a:srgbClr val="D4D4D4"/>
            </a:solidFill>
            <a:prstDash val="solid"/>
          </a:ln>
        </c:spPr>
        <c:txPr>
          <a:bodyPr anchorCtr="1"/>
          <a:lstStyle/>
          <a:p>
            <a:pPr>
              <a:defRPr sz="938">
                <a:solidFill>
                  <a:srgbClr val="68645E"/>
                </a:solidFill>
                <a:latin typeface="Arial"/>
                <a:ea typeface="Arial"/>
                <a:cs typeface="Arial"/>
              </a:defRPr>
            </a:pPr>
          </a:p>
        </c:txPr>
        <c:crossAx val="48650112"/>
        <c:crossBetween val="between"/>
      </c:valAx>
      <c:spPr>
        <a:solidFill>
          <a:srgbClr val="F4EFE6"/>
        </a:solidFill>
        <a:ln w="0">
          <a:noFill/>
        </a:ln>
      </c:spPr>
    </c:plotArea>
    <c:legend>
      <c:legendPos val="b"/>
      <c:overlay val="0"/>
      <c:txPr>
        <a:bodyPr anchorCtr="1"/>
        <a:lstStyle/>
        <a:p>
          <a:pPr>
            <a:defRPr sz="938">
              <a:solidFill>
                <a:srgbClr val="080808"/>
              </a:solidFill>
              <a:latin typeface="Arial"/>
              <a:ea typeface="Arial"/>
              <a:cs typeface="Arial"/>
            </a:defRPr>
          </a:pPr>
        </a:p>
      </c:txPr>
    </c:legend>
    <c:plotVisOnly val="1"/>
  </c:chart>
  <c:spPr>
    <a:solidFill>
      <a:srgbClr val="F4EFE6"/>
    </a:solidFill>
    <a:ln w="0">
      <a:noFill/>
    </a:ln>
  </c:spPr>
  <c:externalData r:id="rIdChartSnapshot1">
    <c:autoUpdate val="0"/>
  </c:externalData>
</c:chartSpace>
</file>

<file path=ppt/slides/slide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4EFE6"/>
        </a:solidFill>
      </p:bgPr>
    </p:bg>
    <p:spTree>
      <p:nvGrpSpPr>
        <p:cNvPr id="1" name=""/>
        <p:cNvGrpSpPr/>
        <p:nvPr/>
      </p:nvGrpSpPr>
      <p:grpSpPr>
        <a:xfrm/>
      </p:grpSpPr>
      <p:sp>
        <p:nvSpPr>
          <p:cNvPr id="23" name="">
            <a:extLst>
              <a:ext uri="{FF2B5EF4-FFF2-40B4-BE49-F238E27FC236}">
                <ns2:creationId id="{3BF92253-1234-4A42-9AB3-AAB925D0FE0D}"/>
              </a:ext>
            </a:extLst>
          </p:cNvPr>
          <p:cNvSpPr>
            <a:spLocks noGrp="1"/>
          </p:cNvSpPr>
          <p:nvPr/>
        </p:nvSpPr>
        <p:spPr>
          <a:xfrm>
            <a:off x="10953750" y="523875"/>
            <a:ext cx="914400" cy="285750"/>
          </a:xfrm>
          <a:prstGeom prst="rect">
            <a:avLst/>
          </a:prstGeom>
          <a:noFill/>
          <a:ln w="0">
            <a:noFill/>
          </a:ln>
        </p:spPr>
        <p:txBody>
          <a:bodyPr lIns="0" tIns="0" rIns="0" bIns="0">
            <a:noAutofit/>
          </a:bodyPr>
          <a:lstStyle/>
          <a:p>
            <a:pPr>
              <a:buNone/>
              <a:defRPr sz="1575" b="1">
                <a:solidFill>
                  <a:srgbClr val="5F5A52"/>
                </a:solidFill>
                <a:latin typeface="Arial"/>
                <a:ea typeface="Arial"/>
                <a:cs typeface="Arial"/>
              </a:defRPr>
            </a:pPr>
            <a:r>
              <a:rPr sz="1575" b="1">
                <a:solidFill>
                  <a:srgbClr val="5F5A52"/>
                </a:solidFill>
                <a:latin typeface="Arial"/>
                <a:ea typeface="Arial"/>
                <a:cs typeface="Arial"/>
              </a:rPr>
              <a:t>01/12</a:t>
            </a:r>
          </a:p>
        </p:txBody>
      </p:sp>
      <p:sp>
        <p:nvSpPr>
          <p:cNvPr id="2" name="">
            <a:extLst>
              <a:ext uri="{FF2B5EF4-FFF2-40B4-BE49-F238E27FC236}">
                <ns2:creationId id="{646E62A4-D871-481A-B1E7-1ADBBFB7931C}"/>
              </a:ext>
            </a:extLst>
          </p:cNvPr>
          <p:cNvSpPr>
            <a:spLocks noGrp="1"/>
          </p:cNvSpPr>
          <p:nvPr/>
        </p:nvSpPr>
        <p:spPr>
          <a:xfrm>
            <a:off x="609600" y="533400"/>
            <a:ext cx="10001250" cy="381000"/>
          </a:xfrm>
          <a:prstGeom prst="rect">
            <a:avLst/>
          </a:prstGeom>
          <a:noFill/>
          <a:ln w="0">
            <a:noFill/>
          </a:ln>
        </p:spPr>
        <p:txBody>
          <a:bodyPr lIns="0" tIns="0" rIns="0" bIns="0">
            <a:noAutofit/>
          </a:bodyPr>
          <a:lstStyle/>
          <a:p>
            <a:pPr>
              <a:buNone/>
              <a:defRPr sz="1800" b="1">
                <a:solidFill>
                  <a:srgbClr val="5F5A52"/>
                </a:solidFill>
                <a:latin typeface="Arial"/>
                <a:ea typeface="Arial"/>
                <a:cs typeface="Arial"/>
              </a:defRPr>
            </a:pPr>
            <a:r>
              <a:rPr sz="1800" b="1">
                <a:solidFill>
                  <a:srgbClr val="5F5A52"/>
                </a:solidFill>
                <a:latin typeface="Arial"/>
                <a:ea typeface="Arial"/>
                <a:cs typeface="Arial"/>
              </a:rPr>
              <a:t>CHALLENGE 03  /  GRID RELIABILITY</a:t>
            </a:r>
          </a:p>
        </p:txBody>
      </p:sp>
      <p:sp>
        <p:nvSpPr>
          <p:cNvPr id="3" name="">
            <a:extLst>
              <a:ext uri="{FF2B5EF4-FFF2-40B4-BE49-F238E27FC236}">
                <ns2:creationId id="{5E7881C2-F46C-489F-BC5B-F5F7A1B165EC}"/>
              </a:ext>
            </a:extLst>
          </p:cNvPr>
          <p:cNvSpPr>
            <a:spLocks noGrp="1"/>
          </p:cNvSpPr>
          <p:nvPr/>
        </p:nvSpPr>
        <p:spPr>
          <a:xfrm>
            <a:off x="609600" y="1171575"/>
            <a:ext cx="11001375" cy="1228725"/>
          </a:xfrm>
          <a:prstGeom prst="rect">
            <a:avLst/>
          </a:prstGeom>
          <a:noFill/>
          <a:ln w="0">
            <a:noFill/>
          </a:ln>
        </p:spPr>
        <p:txBody>
          <a:bodyPr lIns="0" tIns="0" rIns="0" bIns="0">
            <a:noAutofit/>
          </a:bodyPr>
          <a:lstStyle/>
          <a:p>
            <a:pPr>
              <a:buNone/>
              <a:defRPr sz="7800" b="1">
                <a:solidFill>
                  <a:srgbClr val="174A72"/>
                </a:solidFill>
                <a:latin typeface="Arial Black"/>
                <a:ea typeface="Arial Black"/>
                <a:cs typeface="Arial Black"/>
              </a:defRPr>
            </a:pPr>
            <a:r>
              <a:rPr sz="7800" b="1">
                <a:solidFill>
                  <a:srgbClr val="174A72"/>
                </a:solidFill>
                <a:latin typeface="Arial Black"/>
                <a:ea typeface="Arial Black"/>
                <a:cs typeface="Arial Black"/>
              </a:rPr>
              <a:t>GRIDMESH</a:t>
            </a:r>
          </a:p>
        </p:txBody>
      </p:sp>
      <p:sp>
        <p:nvSpPr>
          <p:cNvPr id="4" name="">
            <a:extLst>
              <a:ext uri="{FF2B5EF4-FFF2-40B4-BE49-F238E27FC236}">
                <ns2:creationId id="{8E69BC08-812F-4C78-815F-2015A1F4E0C6}"/>
              </a:ext>
            </a:extLst>
          </p:cNvPr>
          <p:cNvSpPr>
            <a:spLocks noGrp="1"/>
          </p:cNvSpPr>
          <p:nvPr/>
        </p:nvSpPr>
        <p:spPr>
          <a:xfrm>
            <a:off x="609600" y="2543175"/>
            <a:ext cx="10953750" cy="1104900"/>
          </a:xfrm>
          <a:prstGeom prst="rect">
            <a:avLst/>
          </a:prstGeom>
          <a:noFill/>
          <a:ln w="0">
            <a:noFill/>
          </a:ln>
        </p:spPr>
        <p:txBody>
          <a:bodyPr lIns="0" tIns="0" rIns="0" bIns="0">
            <a:noAutofit/>
          </a:bodyPr>
          <a:lstStyle/>
          <a:p>
            <a:pPr>
              <a:buNone/>
              <a:defRPr sz="3150" b="1">
                <a:solidFill>
                  <a:srgbClr val="080808"/>
                </a:solidFill>
                <a:latin typeface="Arial Black"/>
                <a:ea typeface="Arial Black"/>
                <a:cs typeface="Arial Black"/>
              </a:defRPr>
            </a:pPr>
            <a:r>
              <a:rPr sz="3150" b="1">
                <a:solidFill>
                  <a:srgbClr val="080808"/>
                </a:solidFill>
                <a:latin typeface="Arial Black"/>
                <a:ea typeface="Arial Black"/>
                <a:cs typeface="Arial Black"/>
              </a:rPr>
              <a:t>When clouds cut solar,</a:t>
            </a:r>
          </a:p>
          <a:p>
            <a:pPr>
              <a:buNone/>
              <a:defRPr sz="3150" b="1">
                <a:solidFill>
                  <a:srgbClr val="080808"/>
                </a:solidFill>
                <a:latin typeface="Arial Black"/>
                <a:ea typeface="Arial Black"/>
                <a:cs typeface="Arial Black"/>
              </a:defRPr>
            </a:pPr>
            <a:r>
              <a:rPr sz="3150" b="1">
                <a:solidFill>
                  <a:srgbClr val="080808"/>
                </a:solidFill>
                <a:latin typeface="Arial Black"/>
                <a:ea typeface="Arial Black"/>
                <a:cs typeface="Arial Black"/>
              </a:rPr>
              <a:t>who keeps the neighbourhood powered?</a:t>
            </a:r>
          </a:p>
        </p:txBody>
      </p:sp>
      <p:sp>
        <p:nvSpPr>
          <p:cNvPr id="22" name="">
            <a:extLst>
              <a:ext uri="{FF2B5EF4-FFF2-40B4-BE49-F238E27FC236}">
                <ns2:creationId id="{CC74F672-CC8E-4264-9381-0FC06A76AB20}"/>
              </a:ext>
            </a:extLst>
          </p:cNvPr>
          <p:cNvSpPr>
            <a:spLocks noGrp="1"/>
          </p:cNvSpPr>
          <p:nvPr/>
        </p:nvSpPr>
        <p:spPr>
          <a:xfrm>
            <a:off x="609600" y="5715000"/>
            <a:ext cx="10991850" cy="857250"/>
          </a:xfrm>
          <a:prstGeom prst="rect">
            <a:avLst/>
          </a:prstGeom>
          <a:noFill/>
          <a:ln w="0">
            <a:noFill/>
          </a:ln>
        </p:spPr>
        <p:txBody>
          <a:bodyPr lIns="0" tIns="0" rIns="0" bIns="0" anchor="t">
            <a:noAutofit/>
          </a:bodyPr>
          <a:lstStyle/>
          <a:p>
            <a:pPr algn="l"/>
            <a:r>
              <a:rPr sz="2250" b="1">
                <a:solidFill>
                  <a:srgbClr val="080808"/>
                </a:solidFill>
                <a:latin typeface="Arial"/>
              </a:rPr>
              <a:t>GridMesh helps local operators turn uncertain solar forecasts</a:t>
            </a:r>
            <a:endParaRPr sz="2250"/>
          </a:p>
          <a:p>
            <a:pPr algn="l"/>
            <a:r>
              <a:rPr sz="2250" b="1">
                <a:solidFill>
                  <a:srgbClr val="080808"/>
                </a:solidFill>
                <a:latin typeface="Arial"/>
              </a:rPr>
              <a:t>into backup advice within available power and energy limits.</a:t>
            </a:r>
            <a:endParaRPr sz="2250"/>
          </a:p>
        </p:txBody>
      </p:sp>
      <p:sp>
        <p:nvSpPr>
          <p:cNvPr id="24" name="Fix opening 0">
            <a:extLst>
              <a:ext uri="{FF2B5EF4-FFF2-40B4-BE49-F238E27FC236}">
                <ns2:creationId id="{FEB0CFA0-5FA7-4502-84AF-BC8D80D351BF}"/>
              </a:ext>
            </a:extLst>
          </p:cNvPr>
          <p:cNvSpPr>
            <a:spLocks noGrp="1"/>
          </p:cNvSpPr>
          <p:nvPr/>
        </p:nvSpPr>
        <p:spPr>
          <a:xfrm>
            <a:off x="609600" y="4210050"/>
            <a:ext cx="1676400" cy="1009650"/>
          </a:xfrm>
          <a:prstGeom prst="rect">
            <a:avLst/>
          </a:prstGeom>
          <a:solidFill>
            <a:srgbClr val="F4EFE6"/>
          </a:solidFill>
          <a:ln w="14288">
            <a:solidFill>
              <a:srgbClr val="080808"/>
            </a:solidFill>
          </a:ln>
        </p:spPr>
        <p:txBody>
          <a:bodyPr lIns="76200" tIns="0" rIns="76200" bIns="0" anchor="ctr">
            <a:noAutofit/>
          </a:bodyPr>
          <a:lstStyle/>
          <a:p>
            <a:pPr algn="ctr">
              <a:defRPr sz="1950" b="1">
                <a:solidFill>
                  <a:srgbClr val="080808"/>
                </a:solidFill>
                <a:latin typeface="Arial"/>
                <a:ea typeface="Arial"/>
                <a:cs typeface="Arial"/>
              </a:defRPr>
            </a:pPr>
            <a:r>
              <a:rPr sz="1950" b="1">
                <a:solidFill>
                  <a:srgbClr val="080808"/>
                </a:solidFill>
                <a:latin typeface="Arial"/>
                <a:ea typeface="Arial"/>
                <a:cs typeface="Arial"/>
              </a:rPr>
              <a:t>Sunlight</a:t>
            </a:r>
          </a:p>
        </p:txBody>
      </p:sp>
      <p:sp>
        <p:nvSpPr>
          <p:cNvPr id="25" name="Fix opening 1">
            <a:extLst>
              <a:ext uri="{FF2B5EF4-FFF2-40B4-BE49-F238E27FC236}">
                <ns2:creationId id="{06C19285-BCCF-4F0E-ADC1-844E1BA7E278}"/>
              </a:ext>
            </a:extLst>
          </p:cNvPr>
          <p:cNvSpPr>
            <a:spLocks noGrp="1"/>
          </p:cNvSpPr>
          <p:nvPr/>
        </p:nvSpPr>
        <p:spPr>
          <a:xfrm>
            <a:off x="2495550" y="4210050"/>
            <a:ext cx="1676400" cy="1009650"/>
          </a:xfrm>
          <a:prstGeom prst="rect">
            <a:avLst/>
          </a:prstGeom>
          <a:solidFill>
            <a:srgbClr val="F4EFE6"/>
          </a:solidFill>
          <a:ln w="14288">
            <a:solidFill>
              <a:srgbClr val="080808"/>
            </a:solidFill>
          </a:ln>
        </p:spPr>
        <p:txBody>
          <a:bodyPr lIns="76200" tIns="0" rIns="76200" bIns="0" anchor="ctr">
            <a:noAutofit/>
          </a:bodyPr>
          <a:lstStyle/>
          <a:p>
            <a:pPr algn="ctr">
              <a:defRPr sz="1950" b="1">
                <a:solidFill>
                  <a:srgbClr val="080808"/>
                </a:solidFill>
                <a:latin typeface="Arial"/>
                <a:ea typeface="Arial"/>
                <a:cs typeface="Arial"/>
              </a:defRPr>
            </a:pPr>
            <a:r>
              <a:rPr sz="1950" b="1">
                <a:solidFill>
                  <a:srgbClr val="080808"/>
                </a:solidFill>
                <a:latin typeface="Arial"/>
                <a:ea typeface="Arial"/>
                <a:cs typeface="Arial"/>
              </a:rPr>
              <a:t>Solar</a:t>
            </a:r>
          </a:p>
          <a:p>
            <a:pPr algn="ctr">
              <a:defRPr sz="1950" b="1">
                <a:solidFill>
                  <a:srgbClr val="080808"/>
                </a:solidFill>
                <a:latin typeface="Arial"/>
                <a:ea typeface="Arial"/>
                <a:cs typeface="Arial"/>
              </a:defRPr>
            </a:pPr>
            <a:r>
              <a:rPr sz="1950" b="1">
                <a:solidFill>
                  <a:srgbClr val="080808"/>
                </a:solidFill>
                <a:latin typeface="Arial"/>
                <a:ea typeface="Arial"/>
                <a:cs typeface="Arial"/>
              </a:rPr>
              <a:t>output</a:t>
            </a:r>
          </a:p>
        </p:txBody>
      </p:sp>
      <p:sp>
        <p:nvSpPr>
          <p:cNvPr id="26" name="Fix opening 2">
            <a:extLst>
              <a:ext uri="{FF2B5EF4-FFF2-40B4-BE49-F238E27FC236}">
                <ns2:creationId id="{CF988316-0E2D-4EA7-91A3-963015930133}"/>
              </a:ext>
            </a:extLst>
          </p:cNvPr>
          <p:cNvSpPr>
            <a:spLocks noGrp="1"/>
          </p:cNvSpPr>
          <p:nvPr/>
        </p:nvSpPr>
        <p:spPr>
          <a:xfrm>
            <a:off x="4381500" y="4210050"/>
            <a:ext cx="1676400" cy="1009650"/>
          </a:xfrm>
          <a:prstGeom prst="rect">
            <a:avLst/>
          </a:prstGeom>
          <a:solidFill>
            <a:srgbClr val="F4EFE6"/>
          </a:solidFill>
          <a:ln w="14288">
            <a:solidFill>
              <a:srgbClr val="080808"/>
            </a:solidFill>
          </a:ln>
        </p:spPr>
        <p:txBody>
          <a:bodyPr lIns="76200" tIns="0" rIns="76200" bIns="0" anchor="ctr">
            <a:noAutofit/>
          </a:bodyPr>
          <a:lstStyle/>
          <a:p>
            <a:pPr algn="ctr">
              <a:defRPr sz="1950" b="1">
                <a:solidFill>
                  <a:srgbClr val="080808"/>
                </a:solidFill>
                <a:latin typeface="Arial"/>
                <a:ea typeface="Arial"/>
                <a:cs typeface="Arial"/>
              </a:defRPr>
            </a:pPr>
            <a:r>
              <a:rPr sz="1950" b="1">
                <a:solidFill>
                  <a:srgbClr val="080808"/>
                </a:solidFill>
                <a:latin typeface="Arial"/>
                <a:ea typeface="Arial"/>
                <a:cs typeface="Arial"/>
              </a:rPr>
              <a:t>Clouds</a:t>
            </a:r>
          </a:p>
        </p:txBody>
      </p:sp>
      <p:sp>
        <p:nvSpPr>
          <p:cNvPr id="27" name="Fix opening 3">
            <a:extLst>
              <a:ext uri="{FF2B5EF4-FFF2-40B4-BE49-F238E27FC236}">
                <ns2:creationId id="{70D6CD34-D6B4-46AC-A006-E66A6F3E1B6B}"/>
              </a:ext>
            </a:extLst>
          </p:cNvPr>
          <p:cNvSpPr>
            <a:spLocks noGrp="1"/>
          </p:cNvSpPr>
          <p:nvPr/>
        </p:nvSpPr>
        <p:spPr>
          <a:xfrm>
            <a:off x="6267450" y="4210050"/>
            <a:ext cx="1676400" cy="1009650"/>
          </a:xfrm>
          <a:prstGeom prst="rect">
            <a:avLst/>
          </a:prstGeom>
          <a:solidFill>
            <a:srgbClr val="F4EFE6"/>
          </a:solidFill>
          <a:ln w="14288">
            <a:solidFill>
              <a:srgbClr val="080808"/>
            </a:solidFill>
          </a:ln>
        </p:spPr>
        <p:txBody>
          <a:bodyPr lIns="76200" tIns="0" rIns="76200" bIns="0" anchor="ctr">
            <a:noAutofit/>
          </a:bodyPr>
          <a:lstStyle/>
          <a:p>
            <a:pPr algn="ctr">
              <a:defRPr sz="1950" b="1">
                <a:solidFill>
                  <a:srgbClr val="080808"/>
                </a:solidFill>
                <a:latin typeface="Arial"/>
                <a:ea typeface="Arial"/>
                <a:cs typeface="Arial"/>
              </a:defRPr>
            </a:pPr>
            <a:r>
              <a:rPr sz="1950" b="1">
                <a:solidFill>
                  <a:srgbClr val="080808"/>
                </a:solidFill>
                <a:latin typeface="Arial"/>
                <a:ea typeface="Arial"/>
                <a:cs typeface="Arial"/>
              </a:rPr>
              <a:t>Supply gap</a:t>
            </a:r>
          </a:p>
        </p:txBody>
      </p:sp>
      <p:sp>
        <p:nvSpPr>
          <p:cNvPr id="28" name="Fix opening 4">
            <a:extLst>
              <a:ext uri="{FF2B5EF4-FFF2-40B4-BE49-F238E27FC236}">
                <ns2:creationId id="{E880F01C-8619-403A-A4E8-0647AC8D5F40}"/>
              </a:ext>
            </a:extLst>
          </p:cNvPr>
          <p:cNvSpPr>
            <a:spLocks noGrp="1"/>
          </p:cNvSpPr>
          <p:nvPr/>
        </p:nvSpPr>
        <p:spPr>
          <a:xfrm>
            <a:off x="8153400" y="4210050"/>
            <a:ext cx="1676400" cy="1009650"/>
          </a:xfrm>
          <a:prstGeom prst="rect">
            <a:avLst/>
          </a:prstGeom>
          <a:solidFill>
            <a:srgbClr val="174A72"/>
          </a:solidFill>
          <a:ln w="14288">
            <a:solidFill>
              <a:srgbClr val="174A72"/>
            </a:solidFill>
          </a:ln>
        </p:spPr>
        <p:txBody>
          <a:bodyPr lIns="76200" tIns="0" rIns="76200" bIns="0" anchor="ctr">
            <a:noAutofit/>
          </a:bodyPr>
          <a:lstStyle/>
          <a:p>
            <a:pPr algn="ctr">
              <a:defRPr sz="1950" b="1">
                <a:solidFill>
                  <a:srgbClr val="FFFFFF"/>
                </a:solidFill>
                <a:latin typeface="Arial"/>
                <a:ea typeface="Arial"/>
                <a:cs typeface="Arial"/>
              </a:defRPr>
            </a:pPr>
            <a:r>
              <a:rPr sz="1950" b="1">
                <a:solidFill>
                  <a:srgbClr val="FFFFFF"/>
                </a:solidFill>
                <a:latin typeface="Arial"/>
                <a:ea typeface="Arial"/>
                <a:cs typeface="Arial"/>
              </a:rPr>
              <a:t>GRIDMESH</a:t>
            </a:r>
          </a:p>
        </p:txBody>
      </p:sp>
      <p:sp>
        <p:nvSpPr>
          <p:cNvPr id="29" name="Fix opening 5">
            <a:extLst>
              <a:ext uri="{FF2B5EF4-FFF2-40B4-BE49-F238E27FC236}">
                <ns2:creationId id="{49D53C05-EBD4-4F91-98E6-240B0BB8D61D}"/>
              </a:ext>
            </a:extLst>
          </p:cNvPr>
          <p:cNvSpPr>
            <a:spLocks noGrp="1"/>
          </p:cNvSpPr>
          <p:nvPr/>
        </p:nvSpPr>
        <p:spPr>
          <a:xfrm>
            <a:off x="10039350" y="4210050"/>
            <a:ext cx="1676400" cy="1009650"/>
          </a:xfrm>
          <a:prstGeom prst="rect">
            <a:avLst/>
          </a:prstGeom>
          <a:solidFill>
            <a:srgbClr val="F4EFE6"/>
          </a:solidFill>
          <a:ln w="14288">
            <a:solidFill>
              <a:srgbClr val="080808"/>
            </a:solidFill>
          </a:ln>
        </p:spPr>
        <p:txBody>
          <a:bodyPr lIns="76200" tIns="0" rIns="76200" bIns="0" anchor="ctr">
            <a:noAutofit/>
          </a:bodyPr>
          <a:lstStyle/>
          <a:p>
            <a:pPr algn="ctr">
              <a:defRPr sz="1950" b="1">
                <a:solidFill>
                  <a:srgbClr val="080808"/>
                </a:solidFill>
                <a:latin typeface="Arial"/>
                <a:ea typeface="Arial"/>
                <a:cs typeface="Arial"/>
              </a:defRPr>
            </a:pPr>
            <a:r>
              <a:rPr sz="1950" b="1">
                <a:solidFill>
                  <a:srgbClr val="080808"/>
                </a:solidFill>
                <a:latin typeface="Arial"/>
                <a:ea typeface="Arial"/>
                <a:cs typeface="Arial"/>
              </a:rPr>
              <a:t>Backup</a:t>
            </a:r>
          </a:p>
          <a:p>
            <a:pPr algn="ctr">
              <a:defRPr sz="1950" b="1">
                <a:solidFill>
                  <a:srgbClr val="080808"/>
                </a:solidFill>
                <a:latin typeface="Arial"/>
                <a:ea typeface="Arial"/>
                <a:cs typeface="Arial"/>
              </a:defRPr>
            </a:pPr>
            <a:r>
              <a:rPr sz="1950" b="1">
                <a:solidFill>
                  <a:srgbClr val="080808"/>
                </a:solidFill>
                <a:latin typeface="Arial"/>
                <a:ea typeface="Arial"/>
                <a:cs typeface="Arial"/>
              </a:rPr>
              <a:t>advice</a:t>
            </a:r>
          </a:p>
        </p:txBody>
      </p:sp>
      <p:cxnSp>
        <p:nvCxnSpPr>
          <p:cNvPr id="30" name="Fix arrow 0"/>
          <p:cNvCxnSpPr>
            <a:stCxn id="24" idx="3"/>
            <a:endCxn id="25" idx="1"/>
          </p:cNvCxnSpPr>
          <p:nvPr/>
        </p:nvCxnSpPr>
        <p:spPr>
          <a:xfrm>
            <a:off x="2286000" y="4714875"/>
            <a:ext cx="209550" cy="0"/>
          </a:xfrm>
          <a:prstGeom prst="straightConnector1">
            <a:avLst/>
          </a:prstGeom>
          <a:ln w="19050">
            <a:solidFill>
              <a:srgbClr val="080808"/>
            </a:solidFill>
            <a:tailEnd type="arrow" w="sm" len="sm"/>
          </a:ln>
        </p:spPr>
      </p:cxnSp>
      <p:cxnSp>
        <p:nvCxnSpPr>
          <p:cNvPr id="31" name="Fix arrow 1"/>
          <p:cNvCxnSpPr>
            <a:stCxn id="25" idx="3"/>
            <a:endCxn id="26" idx="1"/>
          </p:cNvCxnSpPr>
          <p:nvPr/>
        </p:nvCxnSpPr>
        <p:spPr>
          <a:xfrm>
            <a:off x="4171950" y="4714875"/>
            <a:ext cx="209550" cy="0"/>
          </a:xfrm>
          <a:prstGeom prst="straightConnector1">
            <a:avLst/>
          </a:prstGeom>
          <a:ln w="19050">
            <a:solidFill>
              <a:srgbClr val="080808"/>
            </a:solidFill>
            <a:tailEnd type="arrow" w="sm" len="sm"/>
          </a:ln>
        </p:spPr>
      </p:cxnSp>
      <p:cxnSp>
        <p:nvCxnSpPr>
          <p:cNvPr id="32" name="Fix arrow 2"/>
          <p:cNvCxnSpPr>
            <a:stCxn id="26" idx="3"/>
            <a:endCxn id="27" idx="1"/>
          </p:cNvCxnSpPr>
          <p:nvPr/>
        </p:nvCxnSpPr>
        <p:spPr>
          <a:xfrm>
            <a:off x="6057900" y="4714875"/>
            <a:ext cx="209550" cy="0"/>
          </a:xfrm>
          <a:prstGeom prst="straightConnector1">
            <a:avLst/>
          </a:prstGeom>
          <a:ln w="19050">
            <a:solidFill>
              <a:srgbClr val="080808"/>
            </a:solidFill>
            <a:tailEnd type="arrow" w="sm" len="sm"/>
          </a:ln>
        </p:spPr>
      </p:cxnSp>
      <p:cxnSp>
        <p:nvCxnSpPr>
          <p:cNvPr id="33" name="Fix arrow 3"/>
          <p:cNvCxnSpPr>
            <a:stCxn id="27" idx="3"/>
            <a:endCxn id="28" idx="1"/>
          </p:cNvCxnSpPr>
          <p:nvPr/>
        </p:nvCxnSpPr>
        <p:spPr>
          <a:xfrm>
            <a:off x="7943850" y="4714875"/>
            <a:ext cx="209550" cy="0"/>
          </a:xfrm>
          <a:prstGeom prst="straightConnector1">
            <a:avLst/>
          </a:prstGeom>
          <a:ln w="19050">
            <a:solidFill>
              <a:srgbClr val="080808"/>
            </a:solidFill>
            <a:tailEnd type="arrow" w="sm" len="sm"/>
          </a:ln>
        </p:spPr>
      </p:cxnSp>
      <p:cxnSp>
        <p:nvCxnSpPr>
          <p:cNvPr id="34" name="Fix arrow 4"/>
          <p:cNvCxnSpPr>
            <a:stCxn id="28" idx="3"/>
            <a:endCxn id="29" idx="1"/>
          </p:cNvCxnSpPr>
          <p:nvPr/>
        </p:nvCxnSpPr>
        <p:spPr>
          <a:xfrm>
            <a:off x="9829800" y="4714875"/>
            <a:ext cx="209550" cy="0"/>
          </a:xfrm>
          <a:prstGeom prst="straightConnector1">
            <a:avLst/>
          </a:prstGeom>
          <a:ln w="19050">
            <a:solidFill>
              <a:srgbClr val="080808"/>
            </a:solidFill>
            <a:tailEnd type="arrow" w="sm" len="sm"/>
          </a:ln>
        </p:spPr>
      </p:cxnSp>
    </p:spTree>
    <p:extLst>
      <p:ext uri="{BB962C8B-B14F-4D97-AF65-F5344CB8AC3E}">
        <ns3:creationId val="432486858"/>
      </p:ext>
    </p:extLst>
  </p:cSld>
</p:sld>
</file>

<file path=ppt/slides/slide2.xml><?xml version="1.0" encoding="utf-8"?>
<p:sld xmlns:a="http://schemas.openxmlformats.org/drawingml/2006/main" xmlns:c="http://schemas.openxmlformats.org/drawingml/2006/chart" xmlns:ns2="http://schemas.microsoft.com/office/drawing/2014/main" xmlns:ns5="http://schemas.microsoft.com/office/powerpoint/2010/main" xmlns:p="http://schemas.openxmlformats.org/presentationml/2006/main" xmlns:r="http://schemas.openxmlformats.org/officeDocument/2006/relationships">
  <p:cSld>
    <p:bg>
      <p:bgPr>
        <a:solidFill>
          <a:srgbClr val="F4EFE6"/>
        </a:solidFill>
      </p:bgPr>
    </p:bg>
    <p:spTree>
      <p:nvGrpSpPr>
        <p:cNvPr id="1" name=""/>
        <p:cNvGrpSpPr/>
        <p:nvPr/>
      </p:nvGrpSpPr>
      <p:grpSpPr>
        <a:xfrm/>
      </p:grpSpPr>
      <p:sp>
        <p:nvSpPr>
          <p:cNvPr id="10" name="">
            <a:extLst>
              <a:ext uri="{FF2B5EF4-FFF2-40B4-BE49-F238E27FC236}">
                <ns2:creationId id="{DBF51A01-B625-47ED-AC6E-D31D06B752D7}"/>
              </a:ext>
            </a:extLst>
          </p:cNvPr>
          <p:cNvSpPr>
            <a:spLocks noGrp="1"/>
          </p:cNvSpPr>
          <p:nvPr/>
        </p:nvSpPr>
        <p:spPr>
          <a:xfrm>
            <a:off x="609600" y="495300"/>
            <a:ext cx="10096500" cy="1000125"/>
          </a:xfrm>
          <a:prstGeom prst="rect">
            <a:avLst/>
          </a:prstGeom>
          <a:noFill/>
          <a:ln w="0">
            <a:noFill/>
          </a:ln>
        </p:spPr>
        <p:txBody>
          <a:bodyPr lIns="0" tIns="0" rIns="0" bIns="0">
            <a:noAutofit/>
          </a:bodyPr>
          <a:lstStyle/>
          <a:p>
            <a:pPr>
              <a:buNone/>
              <a:defRPr sz="3525" b="1">
                <a:solidFill>
                  <a:srgbClr val="080808"/>
                </a:solidFill>
                <a:latin typeface="Arial Black"/>
                <a:ea typeface="Arial Black"/>
                <a:cs typeface="Arial Black"/>
              </a:defRPr>
            </a:pPr>
            <a:r>
              <a:rPr sz="3525" b="1">
                <a:solidFill>
                  <a:srgbClr val="080808"/>
                </a:solidFill>
                <a:latin typeface="Arial Black"/>
                <a:ea typeface="Arial Black"/>
                <a:cs typeface="Arial Black"/>
              </a:rPr>
              <a:t>The cloud arrives. The gap doubles.</a:t>
            </a:r>
          </a:p>
        </p:txBody>
      </p:sp>
      <p:sp>
        <p:nvSpPr>
          <p:cNvPr id="2" name="">
            <a:extLst>
              <a:ext uri="{FF2B5EF4-FFF2-40B4-BE49-F238E27FC236}">
                <ns2:creationId id="{96233F1F-5DDD-438D-9855-878D55ED40B6}"/>
              </a:ext>
            </a:extLst>
          </p:cNvPr>
          <p:cNvSpPr>
            <a:spLocks noGrp="1"/>
          </p:cNvSpPr>
          <p:nvPr/>
        </p:nvSpPr>
        <p:spPr>
          <a:xfrm>
            <a:off x="10953750" y="523875"/>
            <a:ext cx="914400" cy="285750"/>
          </a:xfrm>
          <a:prstGeom prst="rect">
            <a:avLst/>
          </a:prstGeom>
          <a:noFill/>
          <a:ln w="0">
            <a:noFill/>
          </a:ln>
        </p:spPr>
        <p:txBody>
          <a:bodyPr lIns="0" tIns="0" rIns="0" bIns="0">
            <a:noAutofit/>
          </a:bodyPr>
          <a:lstStyle/>
          <a:p>
            <a:pPr>
              <a:buNone/>
              <a:defRPr sz="1575" b="1">
                <a:solidFill>
                  <a:srgbClr val="5F5A52"/>
                </a:solidFill>
                <a:latin typeface="Arial"/>
                <a:ea typeface="Arial"/>
                <a:cs typeface="Arial"/>
              </a:defRPr>
            </a:pPr>
            <a:r>
              <a:rPr sz="1575" b="1">
                <a:solidFill>
                  <a:srgbClr val="5F5A52"/>
                </a:solidFill>
                <a:latin typeface="Arial"/>
                <a:ea typeface="Arial"/>
                <a:cs typeface="Arial"/>
              </a:rPr>
              <a:t>02/12</a:t>
            </a:r>
          </a:p>
        </p:txBody>
      </p:sp>
      <p:sp>
        <p:nvSpPr>
          <p:cNvPr id="3" name="">
            <a:extLst>
              <a:ext uri="{FF2B5EF4-FFF2-40B4-BE49-F238E27FC236}">
                <ns2:creationId id="{DCD0A52B-4FC8-41B5-ABF5-83C18E981124}"/>
              </a:ext>
            </a:extLst>
          </p:cNvPr>
          <p:cNvSpPr>
            <a:spLocks noGrp="1"/>
          </p:cNvSpPr>
          <p:nvPr/>
        </p:nvSpPr>
        <p:spPr>
          <a:xfrm>
            <a:off x="609600" y="1533525"/>
            <a:ext cx="10953750" cy="400050"/>
          </a:xfrm>
          <a:prstGeom prst="rect">
            <a:avLst/>
          </a:prstGeom>
          <a:noFill/>
          <a:ln w="0">
            <a:noFill/>
          </a:ln>
        </p:spPr>
        <p:txBody>
          <a:bodyPr lIns="0" tIns="0" rIns="0" bIns="0">
            <a:noAutofit/>
          </a:bodyPr>
          <a:lstStyle/>
          <a:p>
            <a:pPr>
              <a:buNone/>
              <a:defRPr sz="2025" b="0">
                <a:solidFill>
                  <a:srgbClr val="080808"/>
                </a:solidFill>
                <a:latin typeface="Arial"/>
                <a:ea typeface="Arial"/>
                <a:cs typeface="Arial"/>
              </a:defRPr>
            </a:pPr>
            <a:r>
              <a:rPr sz="2025" b="0">
                <a:solidFill>
                  <a:srgbClr val="080808"/>
                </a:solidFill>
                <a:latin typeface="Arial"/>
                <a:ea typeface="Arial"/>
                <a:cs typeface="Arial"/>
              </a:rPr>
              <a:t>Illustration: demand 100 kW. Grid limit 60 kW.</a:t>
            </a:r>
          </a:p>
        </p:txBody>
      </p:sp>
      <p:graphicFrame>
        <p:nvGraphicFramePr>
          <p:cNvPr id="18" name="Chart"/>
          <p:cNvGraphicFramePr/>
          <p:nvPr/>
        </p:nvGraphicFramePr>
        <p:xfrm>
          <a:off x="466725" y="3086100"/>
          <a:ext cx="6267450" cy="2943225"/>
        </p:xfrm>
        <a:graphic>
          <a:graphicData uri="http://schemas.openxmlformats.org/drawingml/2006/chart">
            <c:chart r:id="R440c1fe9e3df4dbb"/>
          </a:graphicData>
        </a:graphic>
      </p:graphicFrame>
      <p:sp>
        <p:nvSpPr>
          <p:cNvPr id="5" name="">
            <a:extLst>
              <a:ext uri="{FF2B5EF4-FFF2-40B4-BE49-F238E27FC236}">
                <ns2:creationId id="{37FAE0C0-BC83-4483-9FFA-C4861F472D16}"/>
              </a:ext>
            </a:extLst>
          </p:cNvPr>
          <p:cNvSpPr>
            <a:spLocks noGrp="1"/>
          </p:cNvSpPr>
          <p:nvPr/>
        </p:nvSpPr>
        <p:spPr>
          <a:xfrm>
            <a:off x="609600" y="2266950"/>
            <a:ext cx="4191000" cy="762000"/>
          </a:xfrm>
          <a:prstGeom prst="rect">
            <a:avLst/>
          </a:prstGeom>
          <a:noFill/>
          <a:ln w="0">
            <a:noFill/>
          </a:ln>
        </p:spPr>
        <p:txBody>
          <a:bodyPr lIns="0" tIns="0" rIns="0" bIns="0">
            <a:noAutofit/>
          </a:bodyPr>
          <a:lstStyle/>
          <a:p>
            <a:pPr>
              <a:buNone/>
              <a:defRPr sz="5700" b="1">
                <a:solidFill>
                  <a:srgbClr val="68645E"/>
                </a:solidFill>
                <a:latin typeface="Arial Black"/>
                <a:ea typeface="Arial Black"/>
                <a:cs typeface="Arial Black"/>
              </a:defRPr>
            </a:pPr>
            <a:r>
              <a:rPr sz="5700" b="1">
                <a:solidFill>
                  <a:srgbClr val="68645E"/>
                </a:solidFill>
                <a:latin typeface="Arial Black"/>
                <a:ea typeface="Arial Black"/>
                <a:cs typeface="Arial Black"/>
              </a:rPr>
              <a:t>10 kW</a:t>
            </a:r>
          </a:p>
        </p:txBody>
      </p:sp>
      <p:sp>
        <p:nvSpPr>
          <p:cNvPr id="6" name="">
            <a:extLst>
              <a:ext uri="{FF2B5EF4-FFF2-40B4-BE49-F238E27FC236}">
                <ns2:creationId id="{479393B2-DC9D-48D9-84B6-FD58A7437A00}"/>
              </a:ext>
            </a:extLst>
          </p:cNvPr>
          <p:cNvSpPr>
            <a:spLocks noGrp="1"/>
          </p:cNvSpPr>
          <p:nvPr/>
        </p:nvSpPr>
        <p:spPr>
          <a:xfrm>
            <a:off x="609600" y="1971675"/>
            <a:ext cx="4381500" cy="381000"/>
          </a:xfrm>
          <a:prstGeom prst="rect">
            <a:avLst/>
          </a:prstGeom>
          <a:noFill/>
          <a:ln w="0">
            <a:noFill/>
          </a:ln>
        </p:spPr>
        <p:txBody>
          <a:bodyPr lIns="0" tIns="0" rIns="0" bIns="0">
            <a:noAutofit/>
          </a:bodyPr>
          <a:lstStyle/>
          <a:p>
            <a:pPr>
              <a:buNone/>
              <a:defRPr sz="1725" b="1">
                <a:solidFill>
                  <a:srgbClr val="5F5A52"/>
                </a:solidFill>
                <a:latin typeface="Arial"/>
                <a:ea typeface="Arial"/>
                <a:cs typeface="Arial"/>
              </a:defRPr>
            </a:pPr>
            <a:r>
              <a:rPr sz="1725" b="1">
                <a:solidFill>
                  <a:srgbClr val="5F5A52"/>
                </a:solidFill>
                <a:latin typeface="Arial"/>
                <a:ea typeface="Arial"/>
                <a:cs typeface="Arial"/>
              </a:rPr>
              <a:t>BEFORE CLOUD  /  EXPECTED GAP</a:t>
            </a:r>
          </a:p>
        </p:txBody>
      </p:sp>
      <p:sp>
        <p:nvSpPr>
          <p:cNvPr id="7" name="">
            <a:extLst>
              <a:ext uri="{FF2B5EF4-FFF2-40B4-BE49-F238E27FC236}">
                <ns2:creationId id="{3B95D3B7-06EE-4FBA-9168-F525DE9030E0}"/>
              </a:ext>
            </a:extLst>
          </p:cNvPr>
          <p:cNvSpPr>
            <a:spLocks noGrp="1"/>
          </p:cNvSpPr>
          <p:nvPr/>
        </p:nvSpPr>
        <p:spPr>
          <a:xfrm>
            <a:off x="7286625" y="2266950"/>
            <a:ext cx="4314825" cy="762000"/>
          </a:xfrm>
          <a:prstGeom prst="rect">
            <a:avLst/>
          </a:prstGeom>
          <a:noFill/>
          <a:ln w="0">
            <a:noFill/>
          </a:ln>
        </p:spPr>
        <p:txBody>
          <a:bodyPr lIns="0" tIns="0" rIns="0" bIns="0">
            <a:noAutofit/>
          </a:bodyPr>
          <a:lstStyle/>
          <a:p>
            <a:pPr>
              <a:buNone/>
              <a:defRPr sz="5700" b="1">
                <a:solidFill>
                  <a:srgbClr val="9B661B"/>
                </a:solidFill>
                <a:latin typeface="Arial Black"/>
                <a:ea typeface="Arial Black"/>
                <a:cs typeface="Arial Black"/>
              </a:defRPr>
            </a:pPr>
            <a:r>
              <a:rPr sz="5700" b="1">
                <a:solidFill>
                  <a:srgbClr val="9B661B"/>
                </a:solidFill>
                <a:latin typeface="Arial Black"/>
                <a:ea typeface="Arial Black"/>
                <a:cs typeface="Arial Black"/>
              </a:rPr>
              <a:t>20 kW</a:t>
            </a:r>
          </a:p>
        </p:txBody>
      </p:sp>
      <p:sp>
        <p:nvSpPr>
          <p:cNvPr id="8" name="">
            <a:extLst>
              <a:ext uri="{FF2B5EF4-FFF2-40B4-BE49-F238E27FC236}">
                <ns2:creationId id="{2B2CB90B-8A56-4959-B358-E780C7CF8F5E}"/>
              </a:ext>
            </a:extLst>
          </p:cNvPr>
          <p:cNvSpPr>
            <a:spLocks noGrp="1"/>
          </p:cNvSpPr>
          <p:nvPr/>
        </p:nvSpPr>
        <p:spPr>
          <a:xfrm>
            <a:off x="7286625" y="1971675"/>
            <a:ext cx="4314825" cy="381000"/>
          </a:xfrm>
          <a:prstGeom prst="rect">
            <a:avLst/>
          </a:prstGeom>
          <a:noFill/>
          <a:ln w="0">
            <a:noFill/>
          </a:ln>
        </p:spPr>
        <p:txBody>
          <a:bodyPr lIns="0" tIns="0" rIns="0" bIns="0">
            <a:noAutofit/>
          </a:bodyPr>
          <a:lstStyle/>
          <a:p>
            <a:pPr>
              <a:buNone/>
              <a:defRPr sz="1725" b="1">
                <a:solidFill>
                  <a:srgbClr val="5F5A52"/>
                </a:solidFill>
                <a:latin typeface="Arial"/>
                <a:ea typeface="Arial"/>
                <a:cs typeface="Arial"/>
              </a:defRPr>
            </a:pPr>
            <a:r>
              <a:rPr sz="1725" b="1">
                <a:solidFill>
                  <a:srgbClr val="5F5A52"/>
                </a:solidFill>
                <a:latin typeface="Arial"/>
                <a:ea typeface="Arial"/>
                <a:cs typeface="Arial"/>
              </a:rPr>
              <a:t>AFTER CLOUD  /  ACTUAL GAP</a:t>
            </a:r>
          </a:p>
        </p:txBody>
      </p:sp>
      <p:sp>
        <p:nvSpPr>
          <p:cNvPr id="9" name="">
            <a:extLst>
              <a:ext uri="{FF2B5EF4-FFF2-40B4-BE49-F238E27FC236}">
                <ns2:creationId id="{1FC9891C-8484-437B-AEC4-C04721354E2A}"/>
              </a:ext>
            </a:extLst>
          </p:cNvPr>
          <p:cNvSpPr>
            <a:spLocks noGrp="1"/>
          </p:cNvSpPr>
          <p:nvPr/>
        </p:nvSpPr>
        <p:spPr>
          <a:xfrm>
            <a:off x="609600" y="6086475"/>
            <a:ext cx="10953750" cy="428625"/>
          </a:xfrm>
          <a:prstGeom prst="rect">
            <a:avLst/>
          </a:prstGeom>
          <a:noFill/>
          <a:ln w="0">
            <a:noFill/>
          </a:ln>
        </p:spPr>
        <p:txBody>
          <a:bodyPr lIns="0" tIns="0" rIns="0" bIns="0" anchor="t">
            <a:noAutofit/>
          </a:bodyPr>
          <a:lstStyle/>
          <a:p>
            <a:pPr algn="l"/>
            <a:r>
              <a:rPr sz="2400" b="1">
                <a:solidFill>
                  <a:srgbClr val="080808"/>
                </a:solidFill>
                <a:latin typeface="Arial"/>
              </a:rPr>
              <a:t>Backup is limited. Forecasts are uncertain.</a:t>
            </a:r>
            <a:endParaRPr sz="2400"/>
          </a:p>
        </p:txBody>
      </p:sp>
      <p:sp>
        <p:nvSpPr>
          <p:cNvPr id="12" name="">
            <a:extLst>
              <a:ext uri="{FF2B5EF4-FFF2-40B4-BE49-F238E27FC236}">
                <ns2:creationId id="{3571ABF3-5EDA-4131-B8B2-62FF678EE51E}"/>
              </a:ext>
            </a:extLst>
          </p:cNvPr>
          <p:cNvSpPr>
            <a:spLocks noGrp="1"/>
          </p:cNvSpPr>
          <p:nvPr/>
        </p:nvSpPr>
        <p:spPr>
          <a:xfrm>
            <a:off x="5219700" y="2343150"/>
            <a:ext cx="952500" cy="723900"/>
          </a:xfrm>
          <a:prstGeom prst="rect">
            <a:avLst/>
          </a:prstGeom>
          <a:noFill/>
          <a:ln w="0">
            <a:noFill/>
          </a:ln>
        </p:spPr>
        <p:txBody>
          <a:bodyPr lIns="0" tIns="0" rIns="0" bIns="0">
            <a:noAutofit/>
          </a:bodyPr>
          <a:lstStyle/>
          <a:p>
            <a:pPr>
              <a:defRPr sz="4650" b="0">
                <a:solidFill>
                  <a:srgbClr val="080808"/>
                </a:solidFill>
                <a:latin typeface="Arial"/>
                <a:ea typeface="Arial"/>
                <a:cs typeface="Arial"/>
              </a:defRPr>
            </a:pPr>
            <a:r>
              <a:rPr sz="4650" b="0">
                <a:solidFill>
                  <a:srgbClr val="080808"/>
                </a:solidFill>
                <a:latin typeface="Arial"/>
                <a:ea typeface="Arial"/>
                <a:cs typeface="Arial"/>
              </a:rPr>
              <a:t>→</a:t>
            </a:r>
          </a:p>
        </p:txBody>
      </p:sp>
      <p:sp>
        <p:nvSpPr>
          <p:cNvPr id="13" name="">
            <a:extLst>
              <a:ext uri="{FF2B5EF4-FFF2-40B4-BE49-F238E27FC236}">
                <ns2:creationId id="{E529E4BD-34C3-4D85-98DE-0FF1E7058EE5}"/>
              </a:ext>
            </a:extLst>
          </p:cNvPr>
          <p:cNvSpPr>
            <a:spLocks noGrp="1"/>
          </p:cNvSpPr>
          <p:nvPr/>
        </p:nvSpPr>
        <p:spPr>
          <a:xfrm>
            <a:off x="7286625" y="3714750"/>
            <a:ext cx="4314825" cy="1219200"/>
          </a:xfrm>
          <a:prstGeom prst="rect">
            <a:avLst/>
          </a:prstGeom>
          <a:noFill/>
          <a:ln w="0">
            <a:noFill/>
          </a:ln>
        </p:spPr>
        <p:txBody>
          <a:bodyPr lIns="0" tIns="0" rIns="0" bIns="0">
            <a:noAutofit/>
          </a:bodyPr>
          <a:lstStyle/>
          <a:p>
            <a:pPr>
              <a:defRPr sz="3225" b="1">
                <a:solidFill>
                  <a:srgbClr val="080808"/>
                </a:solidFill>
                <a:latin typeface="Arial"/>
                <a:ea typeface="Arial"/>
                <a:cs typeface="Arial"/>
              </a:defRPr>
            </a:pPr>
            <a:r>
              <a:rPr sz="3225" b="1">
                <a:solidFill>
                  <a:srgbClr val="080808"/>
                </a:solidFill>
                <a:latin typeface="Arial"/>
                <a:ea typeface="Arial"/>
                <a:cs typeface="Arial"/>
              </a:rPr>
              <a:t>Only 10 kW</a:t>
            </a:r>
          </a:p>
          <a:p>
            <a:pPr>
              <a:defRPr sz="3225" b="1">
                <a:solidFill>
                  <a:srgbClr val="080808"/>
                </a:solidFill>
                <a:latin typeface="Arial"/>
                <a:ea typeface="Arial"/>
                <a:cs typeface="Arial"/>
              </a:defRPr>
            </a:pPr>
            <a:r>
              <a:rPr sz="3225" b="1">
                <a:solidFill>
                  <a:srgbClr val="080808"/>
                </a:solidFill>
                <a:latin typeface="Arial"/>
                <a:ea typeface="Arial"/>
                <a:cs typeface="Arial"/>
              </a:rPr>
              <a:t>backup is ready</a:t>
            </a:r>
          </a:p>
        </p:txBody>
      </p:sp>
      <p:sp>
        <p:nvSpPr>
          <p:cNvPr id="14" name="">
            <a:extLst>
              <a:ext uri="{FF2B5EF4-FFF2-40B4-BE49-F238E27FC236}">
                <ns2:creationId id="{BEB28C83-DBE4-4F64-8F7E-C2BA13F0140B}"/>
              </a:ext>
            </a:extLst>
          </p:cNvPr>
          <p:cNvSpPr>
            <a:spLocks noGrp="1"/>
          </p:cNvSpPr>
          <p:nvPr/>
        </p:nvSpPr>
        <p:spPr>
          <a:xfrm>
            <a:off x="7286625" y="5133975"/>
            <a:ext cx="4314825" cy="809625"/>
          </a:xfrm>
          <a:prstGeom prst="rect">
            <a:avLst/>
          </a:prstGeom>
          <a:noFill/>
          <a:ln w="0">
            <a:noFill/>
          </a:ln>
        </p:spPr>
        <p:txBody>
          <a:bodyPr lIns="0" tIns="0" rIns="0" bIns="0">
            <a:noAutofit/>
          </a:bodyPr>
          <a:lstStyle/>
          <a:p>
            <a:pPr>
              <a:defRPr sz="2025" b="0">
                <a:solidFill>
                  <a:srgbClr val="080808"/>
                </a:solidFill>
                <a:latin typeface="Arial"/>
                <a:ea typeface="Arial"/>
                <a:cs typeface="Arial"/>
              </a:defRPr>
            </a:pPr>
            <a:r>
              <a:rPr sz="2025" b="0">
                <a:solidFill>
                  <a:srgbClr val="080808"/>
                </a:solidFill>
                <a:latin typeface="Arial"/>
                <a:ea typeface="Arial"/>
                <a:cs typeface="Arial"/>
              </a:rPr>
              <a:t>Solar falls from 30 to 20 kW.</a:t>
            </a:r>
          </a:p>
          <a:p>
            <a:pPr>
              <a:defRPr sz="2025" b="0">
                <a:solidFill>
                  <a:srgbClr val="080808"/>
                </a:solidFill>
                <a:latin typeface="Arial"/>
                <a:ea typeface="Arial"/>
                <a:cs typeface="Arial"/>
              </a:defRPr>
            </a:pPr>
            <a:r>
              <a:rPr sz="2025" b="0">
                <a:solidFill>
                  <a:srgbClr val="080808"/>
                </a:solidFill>
                <a:latin typeface="Arial"/>
                <a:ea typeface="Arial"/>
                <a:cs typeface="Arial"/>
              </a:rPr>
              <a:t>10 kW demand remains unmet.</a:t>
            </a:r>
          </a:p>
        </p:txBody>
      </p:sp>
      <p:sp>
        <p:nvSpPr>
          <p:cNvPr id="19" name="Readable note 2 Illustrative arithmetic e">
            <a:extLst>
              <a:ext uri="{FF2B5EF4-FFF2-40B4-BE49-F238E27FC236}">
                <ns2:creationId id="{8E11E094-8606-49FD-AA34-46AE4DE0A512}"/>
              </a:ext>
            </a:extLst>
          </p:cNvPr>
          <p:cNvSpPr>
            <a:spLocks noGrp="1"/>
          </p:cNvSpPr>
          <p:nvPr/>
        </p:nvSpPr>
        <p:spPr>
          <a:xfrm>
            <a:off x="609600" y="6581775"/>
            <a:ext cx="10953750" cy="247650"/>
          </a:xfrm>
          <a:prstGeom prst="rect">
            <a:avLst/>
          </a:prstGeom>
          <a:noFill/>
          <a:ln w="0">
            <a:noFill/>
          </a:ln>
        </p:spPr>
        <p:txBody>
          <a:bodyPr lIns="0" tIns="0" rIns="0" bIns="0">
            <a:noAutofit/>
          </a:bodyPr>
          <a:lstStyle/>
          <a:p>
            <a:pPr algn="l">
              <a:defRPr sz="1500" b="0">
                <a:solidFill>
                  <a:srgbClr val="68645E"/>
                </a:solidFill>
                <a:latin typeface="Arial"/>
                <a:ea typeface="Arial"/>
                <a:cs typeface="Arial"/>
              </a:defRPr>
            </a:pPr>
            <a:r>
              <a:rPr sz="1500" b="0">
                <a:solidFill>
                  <a:srgbClr val="68645E"/>
                </a:solidFill>
                <a:latin typeface="Arial"/>
                <a:ea typeface="Arial"/>
                <a:cs typeface="Arial"/>
              </a:rPr>
              <a:t>Illustrative arithmetic example - not an experimental result.</a:t>
            </a:r>
          </a:p>
        </p:txBody>
      </p:sp>
    </p:spTree>
    <p:extLst>
      <p:ext uri="{BB962C8B-B14F-4D97-AF65-F5344CB8AC3E}">
        <ns5:creationId val="487114623"/>
      </p:ext>
    </p:extLst>
  </p:cSld>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4EFE6"/>
        </a:solidFill>
      </p:bgPr>
    </p:bg>
    <p:spTree>
      <p:nvGrpSpPr>
        <p:cNvPr id="1" name=""/>
        <p:cNvGrpSpPr/>
        <p:nvPr/>
      </p:nvGrpSpPr>
      <p:grpSpPr>
        <a:xfrm/>
      </p:grpSpPr>
      <p:sp>
        <p:nvSpPr>
          <p:cNvPr id="30" name="">
            <a:extLst>
              <a:ext uri="{FF2B5EF4-FFF2-40B4-BE49-F238E27FC236}">
                <ns2:creationId id="{8ACE324B-9BDE-44FB-8047-3C193AA568D3}"/>
              </a:ext>
            </a:extLst>
          </p:cNvPr>
          <p:cNvSpPr>
            <a:spLocks noGrp="1"/>
          </p:cNvSpPr>
          <p:nvPr/>
        </p:nvSpPr>
        <p:spPr>
          <a:xfrm>
            <a:off x="609600" y="495300"/>
            <a:ext cx="10096500" cy="1000125"/>
          </a:xfrm>
          <a:prstGeom prst="rect">
            <a:avLst/>
          </a:prstGeom>
          <a:noFill/>
          <a:ln w="0">
            <a:noFill/>
          </a:ln>
        </p:spPr>
        <p:txBody>
          <a:bodyPr lIns="0" tIns="0" rIns="0" bIns="0">
            <a:noAutofit/>
          </a:bodyPr>
          <a:lstStyle/>
          <a:p>
            <a:pPr>
              <a:buNone/>
              <a:defRPr sz="3525" b="1">
                <a:solidFill>
                  <a:srgbClr val="080808"/>
                </a:solidFill>
                <a:latin typeface="Arial Black"/>
                <a:ea typeface="Arial Black"/>
                <a:cs typeface="Arial Black"/>
              </a:defRPr>
            </a:pPr>
            <a:r>
              <a:rPr sz="3525" b="1">
                <a:solidFill>
                  <a:srgbClr val="080808"/>
                </a:solidFill>
                <a:latin typeface="Arial Black"/>
                <a:ea typeface="Arial Black"/>
                <a:cs typeface="Arial Black"/>
              </a:rPr>
              <a:t>GridMesh turns a forecast into a plan</a:t>
            </a:r>
          </a:p>
        </p:txBody>
      </p:sp>
      <p:sp>
        <p:nvSpPr>
          <p:cNvPr id="2" name="">
            <a:extLst>
              <a:ext uri="{FF2B5EF4-FFF2-40B4-BE49-F238E27FC236}">
                <ns2:creationId id="{434A16A2-C898-4BC9-8005-75A0AF0CB343}"/>
              </a:ext>
            </a:extLst>
          </p:cNvPr>
          <p:cNvSpPr>
            <a:spLocks noGrp="1"/>
          </p:cNvSpPr>
          <p:nvPr/>
        </p:nvSpPr>
        <p:spPr>
          <a:xfrm>
            <a:off x="10953750" y="523875"/>
            <a:ext cx="914400" cy="285750"/>
          </a:xfrm>
          <a:prstGeom prst="rect">
            <a:avLst/>
          </a:prstGeom>
          <a:noFill/>
          <a:ln w="0">
            <a:noFill/>
          </a:ln>
        </p:spPr>
        <p:txBody>
          <a:bodyPr lIns="0" tIns="0" rIns="0" bIns="0">
            <a:noAutofit/>
          </a:bodyPr>
          <a:lstStyle/>
          <a:p>
            <a:pPr>
              <a:buNone/>
              <a:defRPr sz="1575" b="1">
                <a:solidFill>
                  <a:srgbClr val="5F5A52"/>
                </a:solidFill>
                <a:latin typeface="Arial"/>
                <a:ea typeface="Arial"/>
                <a:cs typeface="Arial"/>
              </a:defRPr>
            </a:pPr>
            <a:r>
              <a:rPr sz="1575" b="1">
                <a:solidFill>
                  <a:srgbClr val="5F5A52"/>
                </a:solidFill>
                <a:latin typeface="Arial"/>
                <a:ea typeface="Arial"/>
                <a:cs typeface="Arial"/>
              </a:rPr>
              <a:t>03/12</a:t>
            </a:r>
          </a:p>
        </p:txBody>
      </p:sp>
      <p:sp>
        <p:nvSpPr>
          <p:cNvPr id="31" name="Verified text 3 FEDERATED LEARNING">
            <a:extLst>
              <a:ext uri="{FF2B5EF4-FFF2-40B4-BE49-F238E27FC236}">
                <ns2:creationId id="{FED3FBD9-5385-4E40-AD14-249D4642FB0D}"/>
              </a:ext>
            </a:extLst>
          </p:cNvPr>
          <p:cNvSpPr>
            <a:spLocks noGrp="1"/>
          </p:cNvSpPr>
          <p:nvPr/>
        </p:nvSpPr>
        <p:spPr>
          <a:xfrm>
            <a:off x="609600" y="1638300"/>
            <a:ext cx="10953750" cy="409575"/>
          </a:xfrm>
          <a:prstGeom prst="rect">
            <a:avLst/>
          </a:prstGeom>
          <a:noFill/>
          <a:ln w="0">
            <a:noFill/>
          </a:ln>
        </p:spPr>
        <p:txBody>
          <a:bodyPr lIns="0" tIns="0" rIns="0" bIns="0">
            <a:noAutofit/>
          </a:bodyPr>
          <a:lstStyle/>
          <a:p>
            <a:pPr algn="l">
              <a:defRPr sz="2400" b="1">
                <a:solidFill>
                  <a:srgbClr val="174A72"/>
                </a:solidFill>
                <a:latin typeface="Arial"/>
                <a:ea typeface="Arial"/>
                <a:cs typeface="Arial"/>
              </a:defRPr>
            </a:pPr>
            <a:r>
              <a:rPr sz="2400" b="1">
                <a:solidFill>
                  <a:srgbClr val="174A72"/>
                </a:solidFill>
                <a:latin typeface="Arial"/>
                <a:ea typeface="Arial"/>
                <a:cs typeface="Arial"/>
              </a:rPr>
              <a:t>FEDERATED LEARNING</a:t>
            </a:r>
          </a:p>
        </p:txBody>
      </p:sp>
      <p:sp>
        <p:nvSpPr>
          <p:cNvPr id="32" name="Verified text 3 Learn across multiple solar si">
            <a:extLst>
              <a:ext uri="{FF2B5EF4-FFF2-40B4-BE49-F238E27FC236}">
                <ns2:creationId id="{07A0D4F6-A77D-40E2-BB6E-FEB928AEB91C}"/>
              </a:ext>
            </a:extLst>
          </p:cNvPr>
          <p:cNvSpPr>
            <a:spLocks noGrp="1"/>
          </p:cNvSpPr>
          <p:nvPr/>
        </p:nvSpPr>
        <p:spPr>
          <a:xfrm>
            <a:off x="609600" y="2105025"/>
            <a:ext cx="10991850" cy="590550"/>
          </a:xfrm>
          <a:prstGeom prst="rect">
            <a:avLst/>
          </a:prstGeom>
          <a:noFill/>
          <a:ln w="0">
            <a:noFill/>
          </a:ln>
        </p:spPr>
        <p:txBody>
          <a:bodyPr lIns="0" tIns="0" rIns="0" bIns="0" anchor="t">
            <a:noAutofit/>
          </a:bodyPr>
          <a:lstStyle/>
          <a:p>
            <a:pPr algn="l"/>
            <a:r>
              <a:rPr sz="1875" b="0">
                <a:solidFill>
                  <a:srgbClr val="080808"/>
                </a:solidFill>
                <a:latin typeface="Arial"/>
              </a:rPr>
              <a:t>Separately managed sites learn together while keeping raw histories local.</a:t>
            </a:r>
            <a:endParaRPr sz="1875"/>
          </a:p>
          <a:p>
            <a:pPr algn="l"/>
            <a:r>
              <a:rPr sz="1875" b="0">
                <a:solidFill>
                  <a:srgbClr val="080808"/>
                </a:solidFill>
                <a:latin typeface="Arial"/>
              </a:rPr>
              <a:t>Sites share model updates. FedAvg combines them into a shared model.</a:t>
            </a:r>
            <a:endParaRPr sz="1875"/>
          </a:p>
        </p:txBody>
      </p:sp>
      <p:sp>
        <p:nvSpPr>
          <p:cNvPr id="33" name="Verified flow Site A: local training">
            <a:extLst>
              <a:ext uri="{FF2B5EF4-FFF2-40B4-BE49-F238E27FC236}">
                <ns2:creationId id="{BB8624DB-B81F-4EBA-B6A6-FCCCBFB51B3B}"/>
              </a:ext>
            </a:extLst>
          </p:cNvPr>
          <p:cNvSpPr>
            <a:spLocks noGrp="1"/>
          </p:cNvSpPr>
          <p:nvPr/>
        </p:nvSpPr>
        <p:spPr>
          <a:xfrm>
            <a:off x="609600" y="2724150"/>
            <a:ext cx="2667000" cy="561975"/>
          </a:xfrm>
          <a:prstGeom prst="rect">
            <a:avLst/>
          </a:prstGeom>
          <a:solidFill>
            <a:srgbClr val="F4EFE6"/>
          </a:solidFill>
          <a:ln w="14288">
            <a:solidFill>
              <a:srgbClr val="174A72"/>
            </a:solidFill>
          </a:ln>
        </p:spPr>
        <p:txBody>
          <a:bodyPr lIns="95250" tIns="76200" rIns="95250" bIns="76200" anchor="ctr">
            <a:noAutofit/>
          </a:bodyPr>
          <a:lstStyle/>
          <a:p>
            <a:pPr algn="ctr">
              <a:defRPr sz="1875" b="1">
                <a:solidFill>
                  <a:srgbClr val="174A72"/>
                </a:solidFill>
                <a:latin typeface="Arial"/>
                <a:ea typeface="Arial"/>
                <a:cs typeface="Arial"/>
              </a:defRPr>
            </a:pPr>
            <a:r>
              <a:rPr sz="1875" b="1">
                <a:solidFill>
                  <a:srgbClr val="174A72"/>
                </a:solidFill>
                <a:latin typeface="Arial"/>
                <a:ea typeface="Arial"/>
                <a:cs typeface="Arial"/>
              </a:rPr>
              <a:t>Site A: local training</a:t>
            </a:r>
          </a:p>
        </p:txBody>
      </p:sp>
      <p:sp>
        <p:nvSpPr>
          <p:cNvPr id="34" name="Verified flow Site B: local training">
            <a:extLst>
              <a:ext uri="{FF2B5EF4-FFF2-40B4-BE49-F238E27FC236}">
                <ns2:creationId id="{941F04B8-1630-4DC4-8BF0-D84E4CDF090E}"/>
              </a:ext>
            </a:extLst>
          </p:cNvPr>
          <p:cNvSpPr>
            <a:spLocks noGrp="1"/>
          </p:cNvSpPr>
          <p:nvPr/>
        </p:nvSpPr>
        <p:spPr>
          <a:xfrm>
            <a:off x="609600" y="3438525"/>
            <a:ext cx="2667000" cy="561975"/>
          </a:xfrm>
          <a:prstGeom prst="rect">
            <a:avLst/>
          </a:prstGeom>
          <a:solidFill>
            <a:srgbClr val="F4EFE6"/>
          </a:solidFill>
          <a:ln w="14288">
            <a:solidFill>
              <a:srgbClr val="174A72"/>
            </a:solidFill>
          </a:ln>
        </p:spPr>
        <p:txBody>
          <a:bodyPr lIns="95250" tIns="76200" rIns="95250" bIns="76200" anchor="ctr">
            <a:noAutofit/>
          </a:bodyPr>
          <a:lstStyle/>
          <a:p>
            <a:pPr algn="ctr">
              <a:defRPr sz="1875" b="1">
                <a:solidFill>
                  <a:srgbClr val="174A72"/>
                </a:solidFill>
                <a:latin typeface="Arial"/>
                <a:ea typeface="Arial"/>
                <a:cs typeface="Arial"/>
              </a:defRPr>
            </a:pPr>
            <a:r>
              <a:rPr sz="1875" b="1">
                <a:solidFill>
                  <a:srgbClr val="174A72"/>
                </a:solidFill>
                <a:latin typeface="Arial"/>
                <a:ea typeface="Arial"/>
                <a:cs typeface="Arial"/>
              </a:rPr>
              <a:t>Site B: local training</a:t>
            </a:r>
          </a:p>
        </p:txBody>
      </p:sp>
      <p:sp>
        <p:nvSpPr>
          <p:cNvPr id="35" name="Verified flow Site C: local training">
            <a:extLst>
              <a:ext uri="{FF2B5EF4-FFF2-40B4-BE49-F238E27FC236}">
                <ns2:creationId id="{071F62BC-37BF-4297-9013-5D3640279F61}"/>
              </a:ext>
            </a:extLst>
          </p:cNvPr>
          <p:cNvSpPr>
            <a:spLocks noGrp="1"/>
          </p:cNvSpPr>
          <p:nvPr/>
        </p:nvSpPr>
        <p:spPr>
          <a:xfrm>
            <a:off x="609600" y="4152900"/>
            <a:ext cx="2667000" cy="561975"/>
          </a:xfrm>
          <a:prstGeom prst="rect">
            <a:avLst/>
          </a:prstGeom>
          <a:solidFill>
            <a:srgbClr val="F4EFE6"/>
          </a:solidFill>
          <a:ln w="14288">
            <a:solidFill>
              <a:srgbClr val="174A72"/>
            </a:solidFill>
          </a:ln>
        </p:spPr>
        <p:txBody>
          <a:bodyPr lIns="95250" tIns="76200" rIns="95250" bIns="76200" anchor="ctr">
            <a:noAutofit/>
          </a:bodyPr>
          <a:lstStyle/>
          <a:p>
            <a:pPr algn="ctr">
              <a:defRPr sz="1875" b="1">
                <a:solidFill>
                  <a:srgbClr val="174A72"/>
                </a:solidFill>
                <a:latin typeface="Arial"/>
                <a:ea typeface="Arial"/>
                <a:cs typeface="Arial"/>
              </a:defRPr>
            </a:pPr>
            <a:r>
              <a:rPr sz="1875" b="1">
                <a:solidFill>
                  <a:srgbClr val="174A72"/>
                </a:solidFill>
                <a:latin typeface="Arial"/>
                <a:ea typeface="Arial"/>
                <a:cs typeface="Arial"/>
              </a:rPr>
              <a:t>Site C: local training</a:t>
            </a:r>
          </a:p>
        </p:txBody>
      </p:sp>
      <p:sp>
        <p:nvSpPr>
          <p:cNvPr id="36" name="Verified flow Central coordinator&#10;aggregates model updates">
            <a:extLst>
              <a:ext uri="{FF2B5EF4-FFF2-40B4-BE49-F238E27FC236}">
                <ns2:creationId id="{24AF52AD-B355-4EC0-8CF8-E5525A13EDC9}"/>
              </a:ext>
            </a:extLst>
          </p:cNvPr>
          <p:cNvSpPr>
            <a:spLocks noGrp="1"/>
          </p:cNvSpPr>
          <p:nvPr/>
        </p:nvSpPr>
        <p:spPr>
          <a:xfrm>
            <a:off x="4267200" y="3276600"/>
            <a:ext cx="3333750" cy="904875"/>
          </a:xfrm>
          <a:prstGeom prst="rect">
            <a:avLst/>
          </a:prstGeom>
          <a:solidFill>
            <a:srgbClr val="F4EFE6"/>
          </a:solidFill>
          <a:ln w="14288">
            <a:solidFill>
              <a:srgbClr val="174A72"/>
            </a:solidFill>
          </a:ln>
        </p:spPr>
        <p:txBody>
          <a:bodyPr lIns="95250" tIns="76200" rIns="95250" bIns="76200" anchor="ctr">
            <a:noAutofit/>
          </a:bodyPr>
          <a:lstStyle/>
          <a:p>
            <a:pPr algn="ctr">
              <a:defRPr sz="1875" b="1">
                <a:solidFill>
                  <a:srgbClr val="174A72"/>
                </a:solidFill>
                <a:latin typeface="Arial"/>
                <a:ea typeface="Arial"/>
                <a:cs typeface="Arial"/>
              </a:defRPr>
            </a:pPr>
            <a:r>
              <a:rPr sz="1875" b="1">
                <a:solidFill>
                  <a:srgbClr val="174A72"/>
                </a:solidFill>
                <a:latin typeface="Arial"/>
                <a:ea typeface="Arial"/>
                <a:cs typeface="Arial"/>
              </a:rPr>
              <a:t>Central coordinator</a:t>
            </a:r>
          </a:p>
          <a:p>
            <a:pPr algn="ctr">
              <a:defRPr sz="1875" b="1">
                <a:solidFill>
                  <a:srgbClr val="174A72"/>
                </a:solidFill>
                <a:latin typeface="Arial"/>
                <a:ea typeface="Arial"/>
                <a:cs typeface="Arial"/>
              </a:defRPr>
            </a:pPr>
            <a:r>
              <a:rPr sz="1875" b="1">
                <a:solidFill>
                  <a:srgbClr val="174A72"/>
                </a:solidFill>
                <a:latin typeface="Arial"/>
                <a:ea typeface="Arial"/>
                <a:cs typeface="Arial"/>
              </a:rPr>
              <a:t>aggregates model updates</a:t>
            </a:r>
          </a:p>
        </p:txBody>
      </p:sp>
      <p:sp>
        <p:nvSpPr>
          <p:cNvPr id="37" name="Verified flow Shared model&#10;returned to sites">
            <a:extLst>
              <a:ext uri="{FF2B5EF4-FFF2-40B4-BE49-F238E27FC236}">
                <ns2:creationId id="{770FB306-953E-43DE-9BEA-43E0EFBDA278}"/>
              </a:ext>
            </a:extLst>
          </p:cNvPr>
          <p:cNvSpPr>
            <a:spLocks noGrp="1"/>
          </p:cNvSpPr>
          <p:nvPr/>
        </p:nvSpPr>
        <p:spPr>
          <a:xfrm>
            <a:off x="8648700" y="3276600"/>
            <a:ext cx="2952750" cy="904875"/>
          </a:xfrm>
          <a:prstGeom prst="rect">
            <a:avLst/>
          </a:prstGeom>
          <a:solidFill>
            <a:srgbClr val="F4EFE6"/>
          </a:solidFill>
          <a:ln w="14288">
            <a:solidFill>
              <a:srgbClr val="174A72"/>
            </a:solidFill>
          </a:ln>
        </p:spPr>
        <p:txBody>
          <a:bodyPr lIns="95250" tIns="76200" rIns="95250" bIns="76200" anchor="ctr">
            <a:noAutofit/>
          </a:bodyPr>
          <a:lstStyle/>
          <a:p>
            <a:pPr algn="ctr">
              <a:defRPr sz="1875" b="1">
                <a:solidFill>
                  <a:srgbClr val="174A72"/>
                </a:solidFill>
                <a:latin typeface="Arial"/>
                <a:ea typeface="Arial"/>
                <a:cs typeface="Arial"/>
              </a:defRPr>
            </a:pPr>
            <a:r>
              <a:rPr sz="1875" b="1">
                <a:solidFill>
                  <a:srgbClr val="174A72"/>
                </a:solidFill>
                <a:latin typeface="Arial"/>
                <a:ea typeface="Arial"/>
                <a:cs typeface="Arial"/>
              </a:rPr>
              <a:t>Shared model</a:t>
            </a:r>
          </a:p>
          <a:p>
            <a:pPr algn="ctr">
              <a:defRPr sz="1875" b="1">
                <a:solidFill>
                  <a:srgbClr val="174A72"/>
                </a:solidFill>
                <a:latin typeface="Arial"/>
                <a:ea typeface="Arial"/>
                <a:cs typeface="Arial"/>
              </a:defRPr>
            </a:pPr>
            <a:r>
              <a:rPr sz="1875" b="1">
                <a:solidFill>
                  <a:srgbClr val="174A72"/>
                </a:solidFill>
                <a:latin typeface="Arial"/>
                <a:ea typeface="Arial"/>
                <a:cs typeface="Arial"/>
              </a:rPr>
              <a:t>returned to sites</a:t>
            </a:r>
          </a:p>
        </p:txBody>
      </p:sp>
      <p:cxnSp>
        <p:nvCxnSpPr>
          <p:cNvPr id="38" name="Verified connector"/>
          <p:cNvCxnSpPr>
            <a:stCxn id="33" idx="3"/>
            <a:endCxn id="36" idx="1"/>
          </p:cNvCxnSpPr>
          <p:nvPr/>
        </p:nvCxnSpPr>
        <p:spPr>
          <a:xfrm>
            <a:off x="3276600" y="3005138"/>
            <a:ext cx="990600" cy="723900"/>
          </a:xfrm>
          <a:prstGeom prst="bentConnector3">
            <a:avLst>
              <a:gd name="adj1" fmla="val 50000"/>
            </a:avLst>
          </a:prstGeom>
          <a:ln w="19050">
            <a:solidFill>
              <a:srgbClr val="174A72"/>
            </a:solidFill>
            <a:tailEnd type="arrow" w="sm" len="sm"/>
          </a:ln>
        </p:spPr>
      </p:cxnSp>
      <p:cxnSp>
        <p:nvCxnSpPr>
          <p:cNvPr id="39" name="Verified connector"/>
          <p:cNvCxnSpPr>
            <a:stCxn id="34" idx="3"/>
            <a:endCxn id="36" idx="1"/>
          </p:cNvCxnSpPr>
          <p:nvPr/>
        </p:nvCxnSpPr>
        <p:spPr>
          <a:xfrm>
            <a:off x="3276600" y="3719513"/>
            <a:ext cx="990600" cy="9525"/>
          </a:xfrm>
          <a:prstGeom prst="bentConnector3">
            <a:avLst>
              <a:gd name="adj1" fmla="val 50000"/>
            </a:avLst>
          </a:prstGeom>
          <a:ln w="19050">
            <a:solidFill>
              <a:srgbClr val="174A72"/>
            </a:solidFill>
            <a:tailEnd type="arrow" w="sm" len="sm"/>
          </a:ln>
        </p:spPr>
      </p:cxnSp>
      <p:cxnSp>
        <p:nvCxnSpPr>
          <p:cNvPr id="40" name="Verified connector"/>
          <p:cNvCxnSpPr>
            <a:stCxn id="35" idx="3"/>
            <a:endCxn id="36" idx="1"/>
          </p:cNvCxnSpPr>
          <p:nvPr/>
        </p:nvCxnSpPr>
        <p:spPr>
          <a:xfrm flipV="1">
            <a:off x="3276600" y="3729038"/>
            <a:ext cx="990600" cy="704850"/>
          </a:xfrm>
          <a:prstGeom prst="bentConnector3">
            <a:avLst>
              <a:gd name="adj1" fmla="val 50000"/>
            </a:avLst>
          </a:prstGeom>
          <a:ln w="19050">
            <a:solidFill>
              <a:srgbClr val="174A72"/>
            </a:solidFill>
            <a:tailEnd type="arrow" w="sm" len="sm"/>
          </a:ln>
        </p:spPr>
      </p:cxnSp>
      <p:cxnSp>
        <p:nvCxnSpPr>
          <p:cNvPr id="41" name="Verified connector"/>
          <p:cNvCxnSpPr>
            <a:stCxn id="36" idx="3"/>
            <a:endCxn id="37" idx="1"/>
          </p:cNvCxnSpPr>
          <p:nvPr/>
        </p:nvCxnSpPr>
        <p:spPr>
          <a:xfrm>
            <a:off x="7600950" y="3729038"/>
            <a:ext cx="1047750" cy="0"/>
          </a:xfrm>
          <a:prstGeom prst="straightConnector1">
            <a:avLst/>
          </a:prstGeom>
          <a:ln w="19050">
            <a:solidFill>
              <a:srgbClr val="174A72"/>
            </a:solidFill>
            <a:tailEnd type="arrow" w="sm" len="sm"/>
          </a:ln>
        </p:spPr>
      </p:cxnSp>
      <p:sp>
        <p:nvSpPr>
          <p:cNvPr id="42" name="Verified text 3 The shared model forecasts eac">
            <a:extLst>
              <a:ext uri="{FF2B5EF4-FFF2-40B4-BE49-F238E27FC236}">
                <ns2:creationId id="{50B7C9A6-744F-49D6-A540-95AF0C196A67}"/>
              </a:ext>
            </a:extLst>
          </p:cNvPr>
          <p:cNvSpPr>
            <a:spLocks noGrp="1"/>
          </p:cNvSpPr>
          <p:nvPr/>
        </p:nvSpPr>
        <p:spPr>
          <a:xfrm>
            <a:off x="609600" y="4933950"/>
            <a:ext cx="10953750" cy="304800"/>
          </a:xfrm>
          <a:prstGeom prst="rect">
            <a:avLst/>
          </a:prstGeom>
          <a:noFill/>
          <a:ln w="0">
            <a:noFill/>
          </a:ln>
        </p:spPr>
        <p:txBody>
          <a:bodyPr lIns="0" tIns="0" rIns="0" bIns="0" anchor="t">
            <a:noAutofit/>
          </a:bodyPr>
          <a:lstStyle/>
          <a:p>
            <a:pPr algn="l"/>
            <a:r>
              <a:rPr sz="1725" b="0">
                <a:solidFill>
                  <a:srgbClr val="68645E"/>
                </a:solidFill>
                <a:latin typeface="Arial"/>
              </a:rPr>
              <a:t>The shared forecasts feed one reserve-planning node.</a:t>
            </a:r>
            <a:endParaRPr sz="1725"/>
          </a:p>
        </p:txBody>
      </p:sp>
      <p:sp>
        <p:nvSpPr>
          <p:cNvPr id="43" name="Verified flow FORECAST">
            <a:extLst>
              <a:ext uri="{FF2B5EF4-FFF2-40B4-BE49-F238E27FC236}">
                <ns2:creationId id="{55645AE8-E1A4-4818-819F-D092F7465E5D}"/>
              </a:ext>
            </a:extLst>
          </p:cNvPr>
          <p:cNvSpPr>
            <a:spLocks noGrp="1"/>
          </p:cNvSpPr>
          <p:nvPr/>
        </p:nvSpPr>
        <p:spPr>
          <a:xfrm>
            <a:off x="609600" y="5419725"/>
            <a:ext cx="2390775" cy="590550"/>
          </a:xfrm>
          <a:prstGeom prst="rect">
            <a:avLst/>
          </a:prstGeom>
          <a:solidFill>
            <a:srgbClr val="F4EFE6"/>
          </a:solidFill>
          <a:ln w="14288">
            <a:solidFill>
              <a:srgbClr val="174A72"/>
            </a:solidFill>
          </a:ln>
        </p:spPr>
        <p:txBody>
          <a:bodyPr lIns="95250" tIns="76200" rIns="95250" bIns="76200" anchor="ctr">
            <a:noAutofit/>
          </a:bodyPr>
          <a:lstStyle/>
          <a:p>
            <a:pPr algn="ctr">
              <a:defRPr sz="1875" b="1">
                <a:solidFill>
                  <a:srgbClr val="174A72"/>
                </a:solidFill>
                <a:latin typeface="Arial"/>
                <a:ea typeface="Arial"/>
                <a:cs typeface="Arial"/>
              </a:defRPr>
            </a:pPr>
            <a:r>
              <a:rPr sz="1875" b="1">
                <a:solidFill>
                  <a:srgbClr val="174A72"/>
                </a:solidFill>
                <a:latin typeface="Arial"/>
                <a:ea typeface="Arial"/>
                <a:cs typeface="Arial"/>
              </a:rPr>
              <a:t>FORECAST</a:t>
            </a:r>
          </a:p>
        </p:txBody>
      </p:sp>
      <p:sp>
        <p:nvSpPr>
          <p:cNvPr id="44" name="Verified flow UNCERTAINTY">
            <a:extLst>
              <a:ext uri="{FF2B5EF4-FFF2-40B4-BE49-F238E27FC236}">
                <ns2:creationId id="{22CE779C-16FD-454F-8F5A-CD90EAE6089D}"/>
              </a:ext>
            </a:extLst>
          </p:cNvPr>
          <p:cNvSpPr>
            <a:spLocks noGrp="1"/>
          </p:cNvSpPr>
          <p:nvPr/>
        </p:nvSpPr>
        <p:spPr>
          <a:xfrm>
            <a:off x="3457575" y="5419725"/>
            <a:ext cx="2390775" cy="590550"/>
          </a:xfrm>
          <a:prstGeom prst="rect">
            <a:avLst/>
          </a:prstGeom>
          <a:solidFill>
            <a:srgbClr val="F4EFE6"/>
          </a:solidFill>
          <a:ln w="14288">
            <a:solidFill>
              <a:srgbClr val="9B661B"/>
            </a:solidFill>
          </a:ln>
        </p:spPr>
        <p:txBody>
          <a:bodyPr lIns="95250" tIns="76200" rIns="95250" bIns="76200" anchor="ctr">
            <a:noAutofit/>
          </a:bodyPr>
          <a:lstStyle/>
          <a:p>
            <a:pPr algn="ctr">
              <a:defRPr sz="1875" b="1">
                <a:solidFill>
                  <a:srgbClr val="9B661B"/>
                </a:solidFill>
                <a:latin typeface="Arial"/>
                <a:ea typeface="Arial"/>
                <a:cs typeface="Arial"/>
              </a:defRPr>
            </a:pPr>
            <a:r>
              <a:rPr sz="1875" b="1">
                <a:solidFill>
                  <a:srgbClr val="9B661B"/>
                </a:solidFill>
                <a:latin typeface="Arial"/>
                <a:ea typeface="Arial"/>
                <a:cs typeface="Arial"/>
              </a:rPr>
              <a:t>UNCERTAINTY</a:t>
            </a:r>
          </a:p>
        </p:txBody>
      </p:sp>
      <p:sp>
        <p:nvSpPr>
          <p:cNvPr id="45" name="Verified flow GAP">
            <a:extLst>
              <a:ext uri="{FF2B5EF4-FFF2-40B4-BE49-F238E27FC236}">
                <ns2:creationId id="{22E9C80E-C401-4F1D-B50A-45DC9365EC72}"/>
              </a:ext>
            </a:extLst>
          </p:cNvPr>
          <p:cNvSpPr>
            <a:spLocks noGrp="1"/>
          </p:cNvSpPr>
          <p:nvPr/>
        </p:nvSpPr>
        <p:spPr>
          <a:xfrm>
            <a:off x="6305550" y="5419725"/>
            <a:ext cx="2390775" cy="590550"/>
          </a:xfrm>
          <a:prstGeom prst="rect">
            <a:avLst/>
          </a:prstGeom>
          <a:solidFill>
            <a:srgbClr val="F4EFE6"/>
          </a:solidFill>
          <a:ln w="14288">
            <a:solidFill>
              <a:srgbClr val="9B661B"/>
            </a:solidFill>
          </a:ln>
        </p:spPr>
        <p:txBody>
          <a:bodyPr lIns="95250" tIns="76200" rIns="95250" bIns="76200" anchor="ctr">
            <a:noAutofit/>
          </a:bodyPr>
          <a:lstStyle/>
          <a:p>
            <a:pPr algn="ctr">
              <a:defRPr sz="1875" b="1">
                <a:solidFill>
                  <a:srgbClr val="9B661B"/>
                </a:solidFill>
                <a:latin typeface="Arial"/>
                <a:ea typeface="Arial"/>
                <a:cs typeface="Arial"/>
              </a:defRPr>
            </a:pPr>
            <a:r>
              <a:rPr sz="1875" b="1">
                <a:solidFill>
                  <a:srgbClr val="9B661B"/>
                </a:solidFill>
                <a:latin typeface="Arial"/>
                <a:ea typeface="Arial"/>
                <a:cs typeface="Arial"/>
              </a:rPr>
              <a:t>GAP</a:t>
            </a:r>
          </a:p>
        </p:txBody>
      </p:sp>
      <p:sp>
        <p:nvSpPr>
          <p:cNvPr id="46" name="Verified flow RESERVE">
            <a:extLst>
              <a:ext uri="{FF2B5EF4-FFF2-40B4-BE49-F238E27FC236}">
                <ns2:creationId id="{7F4302D9-0CB3-430F-8102-D0770D8844D6}"/>
              </a:ext>
            </a:extLst>
          </p:cNvPr>
          <p:cNvSpPr>
            <a:spLocks noGrp="1"/>
          </p:cNvSpPr>
          <p:nvPr/>
        </p:nvSpPr>
        <p:spPr>
          <a:xfrm>
            <a:off x="9153525" y="5419725"/>
            <a:ext cx="2390775" cy="590550"/>
          </a:xfrm>
          <a:prstGeom prst="rect">
            <a:avLst/>
          </a:prstGeom>
          <a:solidFill>
            <a:srgbClr val="F4EFE6"/>
          </a:solidFill>
          <a:ln w="14288">
            <a:solidFill>
              <a:srgbClr val="174A72"/>
            </a:solidFill>
          </a:ln>
        </p:spPr>
        <p:txBody>
          <a:bodyPr lIns="95250" tIns="76200" rIns="95250" bIns="76200" anchor="ctr">
            <a:noAutofit/>
          </a:bodyPr>
          <a:lstStyle/>
          <a:p>
            <a:pPr algn="ctr">
              <a:defRPr sz="1875" b="1">
                <a:solidFill>
                  <a:srgbClr val="174A72"/>
                </a:solidFill>
                <a:latin typeface="Arial"/>
                <a:ea typeface="Arial"/>
                <a:cs typeface="Arial"/>
              </a:defRPr>
            </a:pPr>
            <a:r>
              <a:rPr sz="1875" b="1">
                <a:solidFill>
                  <a:srgbClr val="174A72"/>
                </a:solidFill>
                <a:latin typeface="Arial"/>
                <a:ea typeface="Arial"/>
                <a:cs typeface="Arial"/>
              </a:rPr>
              <a:t>RESERVE</a:t>
            </a:r>
          </a:p>
        </p:txBody>
      </p:sp>
      <p:cxnSp>
        <p:nvCxnSpPr>
          <p:cNvPr id="47" name="Verified connector"/>
          <p:cNvCxnSpPr>
            <a:stCxn id="43" idx="3"/>
            <a:endCxn id="44" idx="1"/>
          </p:cNvCxnSpPr>
          <p:nvPr/>
        </p:nvCxnSpPr>
        <p:spPr>
          <a:xfrm>
            <a:off x="3000375" y="5715000"/>
            <a:ext cx="457200" cy="0"/>
          </a:xfrm>
          <a:prstGeom prst="straightConnector1">
            <a:avLst/>
          </a:prstGeom>
          <a:ln w="19050">
            <a:solidFill>
              <a:srgbClr val="174A72"/>
            </a:solidFill>
            <a:tailEnd type="arrow" w="sm" len="sm"/>
          </a:ln>
        </p:spPr>
      </p:cxnSp>
      <p:cxnSp>
        <p:nvCxnSpPr>
          <p:cNvPr id="48" name="Verified connector"/>
          <p:cNvCxnSpPr>
            <a:stCxn id="44" idx="3"/>
            <a:endCxn id="45" idx="1"/>
          </p:cNvCxnSpPr>
          <p:nvPr/>
        </p:nvCxnSpPr>
        <p:spPr>
          <a:xfrm>
            <a:off x="5848350" y="5715000"/>
            <a:ext cx="457200" cy="0"/>
          </a:xfrm>
          <a:prstGeom prst="straightConnector1">
            <a:avLst/>
          </a:prstGeom>
          <a:ln w="19050">
            <a:solidFill>
              <a:srgbClr val="174A72"/>
            </a:solidFill>
            <a:tailEnd type="arrow" w="sm" len="sm"/>
          </a:ln>
        </p:spPr>
      </p:cxnSp>
      <p:cxnSp>
        <p:nvCxnSpPr>
          <p:cNvPr id="49" name="Verified connector"/>
          <p:cNvCxnSpPr>
            <a:stCxn id="45" idx="3"/>
            <a:endCxn id="46" idx="1"/>
          </p:cNvCxnSpPr>
          <p:nvPr/>
        </p:nvCxnSpPr>
        <p:spPr>
          <a:xfrm>
            <a:off x="8696325" y="5715000"/>
            <a:ext cx="457200" cy="0"/>
          </a:xfrm>
          <a:prstGeom prst="straightConnector1">
            <a:avLst/>
          </a:prstGeom>
          <a:ln w="19050">
            <a:solidFill>
              <a:srgbClr val="174A72"/>
            </a:solidFill>
            <a:tailEnd type="arrow" w="sm" len="sm"/>
          </a:ln>
        </p:spPr>
      </p:cxnSp>
      <p:sp>
        <p:nvSpPr>
          <p:cNvPr id="50" name="Verified text 3 Solar output +60 min">
            <a:extLst>
              <a:ext uri="{FF2B5EF4-FFF2-40B4-BE49-F238E27FC236}">
                <ns2:creationId id="{BA813975-A337-4BC0-B70A-9D02546F1E74}"/>
              </a:ext>
            </a:extLst>
          </p:cNvPr>
          <p:cNvSpPr>
            <a:spLocks noGrp="1"/>
          </p:cNvSpPr>
          <p:nvPr/>
        </p:nvSpPr>
        <p:spPr>
          <a:xfrm>
            <a:off x="609600" y="6086475"/>
            <a:ext cx="2390775" cy="247650"/>
          </a:xfrm>
          <a:prstGeom prst="rect">
            <a:avLst/>
          </a:prstGeom>
          <a:noFill/>
          <a:ln w="0">
            <a:noFill/>
          </a:ln>
        </p:spPr>
        <p:txBody>
          <a:bodyPr lIns="0" tIns="0" rIns="0" bIns="0">
            <a:noAutofit/>
          </a:bodyPr>
          <a:lstStyle/>
          <a:p>
            <a:pPr algn="l">
              <a:defRPr sz="1350" b="0">
                <a:solidFill>
                  <a:srgbClr val="68645E"/>
                </a:solidFill>
                <a:latin typeface="Arial"/>
                <a:ea typeface="Arial"/>
                <a:cs typeface="Arial"/>
              </a:defRPr>
            </a:pPr>
            <a:r>
              <a:rPr sz="1350" b="0">
                <a:solidFill>
                  <a:srgbClr val="68645E"/>
                </a:solidFill>
                <a:latin typeface="Arial"/>
                <a:ea typeface="Arial"/>
                <a:cs typeface="Arial"/>
              </a:rPr>
              <a:t>Solar output +60 min</a:t>
            </a:r>
          </a:p>
        </p:txBody>
      </p:sp>
      <p:sp>
        <p:nvSpPr>
          <p:cNvPr id="51" name="Verified text 3 Past forecast errors">
            <a:extLst>
              <a:ext uri="{FF2B5EF4-FFF2-40B4-BE49-F238E27FC236}">
                <ns2:creationId id="{AD07D880-B11D-4C72-834E-7630E63AC546}"/>
              </a:ext>
            </a:extLst>
          </p:cNvPr>
          <p:cNvSpPr>
            <a:spLocks noGrp="1"/>
          </p:cNvSpPr>
          <p:nvPr/>
        </p:nvSpPr>
        <p:spPr>
          <a:xfrm>
            <a:off x="3457575" y="6086475"/>
            <a:ext cx="2390775" cy="247650"/>
          </a:xfrm>
          <a:prstGeom prst="rect">
            <a:avLst/>
          </a:prstGeom>
          <a:noFill/>
          <a:ln w="0">
            <a:noFill/>
          </a:ln>
        </p:spPr>
        <p:txBody>
          <a:bodyPr lIns="0" tIns="0" rIns="0" bIns="0">
            <a:noAutofit/>
          </a:bodyPr>
          <a:lstStyle/>
          <a:p>
            <a:pPr algn="l">
              <a:defRPr sz="1350" b="0">
                <a:solidFill>
                  <a:srgbClr val="68645E"/>
                </a:solidFill>
                <a:latin typeface="Arial"/>
                <a:ea typeface="Arial"/>
                <a:cs typeface="Arial"/>
              </a:defRPr>
            </a:pPr>
            <a:r>
              <a:rPr sz="1350" b="0">
                <a:solidFill>
                  <a:srgbClr val="68645E"/>
                </a:solidFill>
                <a:latin typeface="Arial"/>
                <a:ea typeface="Arial"/>
                <a:cs typeface="Arial"/>
              </a:rPr>
              <a:t>Past forecast errors</a:t>
            </a:r>
          </a:p>
        </p:txBody>
      </p:sp>
      <p:sp>
        <p:nvSpPr>
          <p:cNvPr id="52" name="Verified text 3 Demand less grid and solar">
            <a:extLst>
              <a:ext uri="{FF2B5EF4-FFF2-40B4-BE49-F238E27FC236}">
                <ns2:creationId id="{1176536C-7686-4561-BE86-A0280C830637}"/>
              </a:ext>
            </a:extLst>
          </p:cNvPr>
          <p:cNvSpPr>
            <a:spLocks noGrp="1"/>
          </p:cNvSpPr>
          <p:nvPr/>
        </p:nvSpPr>
        <p:spPr>
          <a:xfrm>
            <a:off x="6305550" y="6086475"/>
            <a:ext cx="2390775" cy="247650"/>
          </a:xfrm>
          <a:prstGeom prst="rect">
            <a:avLst/>
          </a:prstGeom>
          <a:noFill/>
          <a:ln w="0">
            <a:noFill/>
          </a:ln>
        </p:spPr>
        <p:txBody>
          <a:bodyPr lIns="0" tIns="0" rIns="0" bIns="0">
            <a:noAutofit/>
          </a:bodyPr>
          <a:lstStyle/>
          <a:p>
            <a:pPr algn="l">
              <a:defRPr sz="1350" b="0">
                <a:solidFill>
                  <a:srgbClr val="68645E"/>
                </a:solidFill>
                <a:latin typeface="Arial"/>
                <a:ea typeface="Arial"/>
                <a:cs typeface="Arial"/>
              </a:defRPr>
            </a:pPr>
            <a:r>
              <a:rPr sz="1350" b="0">
                <a:solidFill>
                  <a:srgbClr val="68645E"/>
                </a:solidFill>
                <a:latin typeface="Arial"/>
                <a:ea typeface="Arial"/>
                <a:cs typeface="Arial"/>
              </a:rPr>
              <a:t>Demand less grid and solar</a:t>
            </a:r>
          </a:p>
        </p:txBody>
      </p:sp>
      <p:sp>
        <p:nvSpPr>
          <p:cNvPr id="53" name="Verified text 3 Backup within asset limits">
            <a:extLst>
              <a:ext uri="{FF2B5EF4-FFF2-40B4-BE49-F238E27FC236}">
                <ns2:creationId id="{D8B66A42-9E20-442B-8AA6-341A43B000C3}"/>
              </a:ext>
            </a:extLst>
          </p:cNvPr>
          <p:cNvSpPr>
            <a:spLocks noGrp="1"/>
          </p:cNvSpPr>
          <p:nvPr/>
        </p:nvSpPr>
        <p:spPr>
          <a:xfrm>
            <a:off x="9153525" y="6086475"/>
            <a:ext cx="2390775" cy="247650"/>
          </a:xfrm>
          <a:prstGeom prst="rect">
            <a:avLst/>
          </a:prstGeom>
          <a:noFill/>
          <a:ln w="0">
            <a:noFill/>
          </a:ln>
        </p:spPr>
        <p:txBody>
          <a:bodyPr lIns="0" tIns="0" rIns="0" bIns="0">
            <a:noAutofit/>
          </a:bodyPr>
          <a:lstStyle/>
          <a:p>
            <a:pPr algn="l">
              <a:defRPr sz="1350" b="0">
                <a:solidFill>
                  <a:srgbClr val="68645E"/>
                </a:solidFill>
                <a:latin typeface="Arial"/>
                <a:ea typeface="Arial"/>
                <a:cs typeface="Arial"/>
              </a:defRPr>
            </a:pPr>
            <a:r>
              <a:rPr sz="1350" b="0">
                <a:solidFill>
                  <a:srgbClr val="68645E"/>
                </a:solidFill>
                <a:latin typeface="Arial"/>
                <a:ea typeface="Arial"/>
                <a:cs typeface="Arial"/>
              </a:rPr>
              <a:t>Backup within asset limits</a:t>
            </a:r>
          </a:p>
        </p:txBody>
      </p:sp>
      <p:sp>
        <p:nvSpPr>
          <p:cNvPr id="54" name="Verified text 3 100 emulated sites in one proc">
            <a:extLst>
              <a:ext uri="{FF2B5EF4-FFF2-40B4-BE49-F238E27FC236}">
                <ns2:creationId id="{22D25FCA-1B1C-4B0D-AE05-F33447A0716E}"/>
              </a:ext>
            </a:extLst>
          </p:cNvPr>
          <p:cNvSpPr>
            <a:spLocks noGrp="1"/>
          </p:cNvSpPr>
          <p:nvPr/>
        </p:nvSpPr>
        <p:spPr>
          <a:xfrm>
            <a:off x="609600" y="6515100"/>
            <a:ext cx="10991850" cy="285750"/>
          </a:xfrm>
          <a:prstGeom prst="rect">
            <a:avLst/>
          </a:prstGeom>
          <a:noFill/>
          <a:ln w="0">
            <a:noFill/>
          </a:ln>
        </p:spPr>
        <p:txBody>
          <a:bodyPr lIns="0" tIns="0" rIns="0" bIns="0" anchor="t">
            <a:noAutofit/>
          </a:bodyPr>
          <a:lstStyle/>
          <a:p>
            <a:pPr algn="l"/>
            <a:r>
              <a:rPr sz="1500" b="0">
                <a:solidFill>
                  <a:srgbClr val="68645E"/>
                </a:solidFill>
                <a:latin typeface="Arial"/>
              </a:rPr>
              <a:t>100 virtual sites in one process. No formal privacy guarantee, geographic validation or live grid control.</a:t>
            </a:r>
            <a:endParaRPr sz="1500"/>
          </a:p>
        </p:txBody>
      </p:sp>
    </p:spTree>
    <p:extLst>
      <p:ext uri="{BB962C8B-B14F-4D97-AF65-F5344CB8AC3E}">
        <ns3:creationId val="809684072"/>
      </p:ext>
    </p:extLst>
  </p:cSld>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4EFE6"/>
        </a:solidFill>
      </p:bgPr>
    </p:bg>
    <p:spTree>
      <p:nvGrpSpPr>
        <p:cNvPr id="1" name=""/>
        <p:cNvGrpSpPr/>
        <p:nvPr/>
      </p:nvGrpSpPr>
      <p:grpSpPr>
        <a:xfrm/>
      </p:grpSpPr>
      <p:sp>
        <p:nvSpPr>
          <p:cNvPr id="42" name="">
            <a:extLst>
              <a:ext uri="{FF2B5EF4-FFF2-40B4-BE49-F238E27FC236}">
                <ns2:creationId id="{D20367A3-6D88-40AD-B082-B37211D9BC2E}"/>
              </a:ext>
            </a:extLst>
          </p:cNvPr>
          <p:cNvSpPr>
            <a:spLocks noGrp="1"/>
          </p:cNvSpPr>
          <p:nvPr/>
        </p:nvSpPr>
        <p:spPr>
          <a:xfrm>
            <a:off x="609600" y="495300"/>
            <a:ext cx="10096500" cy="1000125"/>
          </a:xfrm>
          <a:prstGeom prst="rect">
            <a:avLst/>
          </a:prstGeom>
          <a:noFill/>
          <a:ln w="0">
            <a:noFill/>
          </a:ln>
        </p:spPr>
        <p:txBody>
          <a:bodyPr lIns="0" tIns="0" rIns="0" bIns="0">
            <a:noAutofit/>
          </a:bodyPr>
          <a:lstStyle/>
          <a:p>
            <a:pPr>
              <a:buNone/>
              <a:defRPr sz="3525" b="1">
                <a:solidFill>
                  <a:srgbClr val="080808"/>
                </a:solidFill>
                <a:latin typeface="Arial Black"/>
                <a:ea typeface="Arial Black"/>
                <a:cs typeface="Arial Black"/>
              </a:defRPr>
            </a:pPr>
            <a:r>
              <a:rPr sz="3525" b="1">
                <a:solidFill>
                  <a:srgbClr val="080808"/>
                </a:solidFill>
                <a:latin typeface="Arial Black"/>
                <a:ea typeface="Arial Black"/>
                <a:cs typeface="Arial Black"/>
              </a:rPr>
              <a:t>GridMesh architecture</a:t>
            </a:r>
          </a:p>
        </p:txBody>
      </p:sp>
      <p:sp>
        <p:nvSpPr>
          <p:cNvPr id="2" name="">
            <a:extLst>
              <a:ext uri="{FF2B5EF4-FFF2-40B4-BE49-F238E27FC236}">
                <ns2:creationId id="{73A310BB-B7BE-4338-AE3C-38FCE1900803}"/>
              </a:ext>
            </a:extLst>
          </p:cNvPr>
          <p:cNvSpPr>
            <a:spLocks noGrp="1"/>
          </p:cNvSpPr>
          <p:nvPr/>
        </p:nvSpPr>
        <p:spPr>
          <a:xfrm>
            <a:off x="10953750" y="523875"/>
            <a:ext cx="914400" cy="285750"/>
          </a:xfrm>
          <a:prstGeom prst="rect">
            <a:avLst/>
          </a:prstGeom>
          <a:noFill/>
          <a:ln w="0">
            <a:noFill/>
          </a:ln>
        </p:spPr>
        <p:txBody>
          <a:bodyPr lIns="0" tIns="0" rIns="0" bIns="0">
            <a:noAutofit/>
          </a:bodyPr>
          <a:lstStyle/>
          <a:p>
            <a:pPr>
              <a:buNone/>
              <a:defRPr sz="1575" b="1">
                <a:solidFill>
                  <a:srgbClr val="5F5A52"/>
                </a:solidFill>
                <a:latin typeface="Arial"/>
                <a:ea typeface="Arial"/>
                <a:cs typeface="Arial"/>
              </a:defRPr>
            </a:pPr>
            <a:r>
              <a:rPr sz="1575" b="1">
                <a:solidFill>
                  <a:srgbClr val="5F5A52"/>
                </a:solidFill>
                <a:latin typeface="Arial"/>
                <a:ea typeface="Arial"/>
                <a:cs typeface="Arial"/>
              </a:rPr>
              <a:t>04/12</a:t>
            </a:r>
          </a:p>
        </p:txBody>
      </p:sp>
      <p:sp>
        <p:nvSpPr>
          <p:cNvPr id="3" name="">
            <a:extLst>
              <a:ext uri="{FF2B5EF4-FFF2-40B4-BE49-F238E27FC236}">
                <ns2:creationId id="{34B56516-C611-4E13-B5AB-87191B53A374}"/>
              </a:ext>
            </a:extLst>
          </p:cNvPr>
          <p:cNvSpPr>
            <a:spLocks noGrp="1"/>
          </p:cNvSpPr>
          <p:nvPr/>
        </p:nvSpPr>
        <p:spPr>
          <a:xfrm>
            <a:off x="609600" y="1971675"/>
            <a:ext cx="1571625" cy="381000"/>
          </a:xfrm>
          <a:prstGeom prst="rect">
            <a:avLst/>
          </a:prstGeom>
          <a:noFill/>
          <a:ln w="0">
            <a:noFill/>
          </a:ln>
        </p:spPr>
        <p:txBody>
          <a:bodyPr lIns="0" tIns="0" rIns="0" bIns="0">
            <a:noAutofit/>
          </a:bodyPr>
          <a:lstStyle/>
          <a:p>
            <a:pPr>
              <a:buNone/>
              <a:defRPr sz="2100" b="1">
                <a:solidFill>
                  <a:srgbClr val="5F5A52"/>
                </a:solidFill>
                <a:latin typeface="Arial"/>
                <a:ea typeface="Arial"/>
                <a:cs typeface="Arial"/>
              </a:defRPr>
            </a:pPr>
            <a:r>
              <a:rPr sz="2100" b="1">
                <a:solidFill>
                  <a:srgbClr val="5F5A52"/>
                </a:solidFill>
                <a:latin typeface="Arial"/>
                <a:ea typeface="Arial"/>
                <a:cs typeface="Arial"/>
              </a:rPr>
              <a:t>DATA</a:t>
            </a:r>
          </a:p>
        </p:txBody>
      </p:sp>
      <p:sp>
        <p:nvSpPr>
          <p:cNvPr id="4" name="">
            <a:extLst>
              <a:ext uri="{FF2B5EF4-FFF2-40B4-BE49-F238E27FC236}">
                <ns2:creationId id="{3371DCEE-332E-4002-9734-B21DA522DBC2}"/>
              </a:ext>
            </a:extLst>
          </p:cNvPr>
          <p:cNvSpPr>
            <a:spLocks noGrp="1"/>
          </p:cNvSpPr>
          <p:nvPr/>
        </p:nvSpPr>
        <p:spPr>
          <a:xfrm>
            <a:off x="2419350" y="1771650"/>
            <a:ext cx="2647950" cy="981075"/>
          </a:xfrm>
          <a:prstGeom prst="rect">
            <a:avLst/>
          </a:prstGeom>
          <a:solidFill>
            <a:srgbClr val="F4EFE6"/>
          </a:solidFill>
          <a:ln w="14288">
            <a:solidFill>
              <a:srgbClr val="080808"/>
            </a:solidFill>
          </a:ln>
        </p:spPr>
      </p:sp>
      <p:sp>
        <p:nvSpPr>
          <p:cNvPr id="5" name="">
            <a:extLst>
              <a:ext uri="{FF2B5EF4-FFF2-40B4-BE49-F238E27FC236}">
                <ns2:creationId id="{7BC375DA-2393-48CB-9092-1F62748B0AC2}"/>
              </a:ext>
            </a:extLst>
          </p:cNvPr>
          <p:cNvSpPr>
            <a:spLocks noGrp="1"/>
          </p:cNvSpPr>
          <p:nvPr/>
        </p:nvSpPr>
        <p:spPr>
          <a:xfrm>
            <a:off x="2552700" y="1895475"/>
            <a:ext cx="2381250" cy="381000"/>
          </a:xfrm>
          <a:prstGeom prst="rect">
            <a:avLst/>
          </a:prstGeom>
          <a:noFill/>
          <a:ln w="0">
            <a:noFill/>
          </a:ln>
        </p:spPr>
        <p:txBody>
          <a:bodyPr lIns="0" tIns="0" rIns="0" bIns="0">
            <a:noAutofit/>
          </a:bodyPr>
          <a:lstStyle/>
          <a:p>
            <a:pPr>
              <a:buNone/>
              <a:defRPr sz="1800" b="1">
                <a:solidFill>
                  <a:srgbClr val="080808"/>
                </a:solidFill>
                <a:latin typeface="Arial"/>
                <a:ea typeface="Arial"/>
                <a:cs typeface="Arial"/>
              </a:defRPr>
            </a:pPr>
            <a:r>
              <a:rPr sz="1800" b="1">
                <a:solidFill>
                  <a:srgbClr val="080808"/>
                </a:solidFill>
                <a:latin typeface="Arial"/>
                <a:ea typeface="Arial"/>
                <a:cs typeface="Arial"/>
              </a:rPr>
              <a:t>Weather + solar</a:t>
            </a:r>
          </a:p>
        </p:txBody>
      </p:sp>
      <p:sp>
        <p:nvSpPr>
          <p:cNvPr id="6" name="">
            <a:extLst>
              <a:ext uri="{FF2B5EF4-FFF2-40B4-BE49-F238E27FC236}">
                <ns2:creationId id="{D32DA81B-BC10-4AE6-8A99-5638A3D4678B}"/>
              </a:ext>
            </a:extLst>
          </p:cNvPr>
          <p:cNvSpPr>
            <a:spLocks noGrp="1"/>
          </p:cNvSpPr>
          <p:nvPr/>
        </p:nvSpPr>
        <p:spPr>
          <a:xfrm>
            <a:off x="2552700" y="2286000"/>
            <a:ext cx="2381250" cy="390525"/>
          </a:xfrm>
          <a:prstGeom prst="rect">
            <a:avLst/>
          </a:prstGeom>
          <a:noFill/>
          <a:ln w="0">
            <a:noFill/>
          </a:ln>
        </p:spPr>
        <p:txBody>
          <a:bodyPr lIns="0" tIns="0" rIns="0" bIns="0">
            <a:noAutofit/>
          </a:bodyPr>
          <a:lstStyle/>
          <a:p>
            <a:pPr>
              <a:buNone/>
              <a:defRPr sz="1725" b="0">
                <a:solidFill>
                  <a:srgbClr val="080808"/>
                </a:solidFill>
                <a:latin typeface="Arial"/>
                <a:ea typeface="Arial"/>
                <a:cs typeface="Arial"/>
              </a:defRPr>
            </a:pPr>
            <a:r>
              <a:rPr sz="1725" b="0">
                <a:solidFill>
                  <a:srgbClr val="080808"/>
                </a:solidFill>
                <a:latin typeface="Arial"/>
                <a:ea typeface="Arial"/>
                <a:cs typeface="Arial"/>
              </a:rPr>
              <a:t>Local history</a:t>
            </a:r>
          </a:p>
        </p:txBody>
      </p:sp>
      <p:sp>
        <p:nvSpPr>
          <p:cNvPr id="7" name="">
            <a:extLst>
              <a:ext uri="{FF2B5EF4-FFF2-40B4-BE49-F238E27FC236}">
                <ns2:creationId id="{FB741EA1-D611-469B-AA19-1FB5A5C06135}"/>
              </a:ext>
            </a:extLst>
          </p:cNvPr>
          <p:cNvSpPr>
            <a:spLocks noGrp="1"/>
          </p:cNvSpPr>
          <p:nvPr/>
        </p:nvSpPr>
        <p:spPr>
          <a:xfrm>
            <a:off x="5572125" y="1771650"/>
            <a:ext cx="2647950" cy="981075"/>
          </a:xfrm>
          <a:prstGeom prst="rect">
            <a:avLst/>
          </a:prstGeom>
          <a:solidFill>
            <a:srgbClr val="F4EFE6"/>
          </a:solidFill>
          <a:ln w="14288">
            <a:solidFill>
              <a:srgbClr val="080808"/>
            </a:solidFill>
          </a:ln>
        </p:spPr>
      </p:sp>
      <p:sp>
        <p:nvSpPr>
          <p:cNvPr id="8" name="">
            <a:extLst>
              <a:ext uri="{FF2B5EF4-FFF2-40B4-BE49-F238E27FC236}">
                <ns2:creationId id="{865C19DB-B72A-4C6A-8B69-8B0C038C1F5C}"/>
              </a:ext>
            </a:extLst>
          </p:cNvPr>
          <p:cNvSpPr>
            <a:spLocks noGrp="1"/>
          </p:cNvSpPr>
          <p:nvPr/>
        </p:nvSpPr>
        <p:spPr>
          <a:xfrm>
            <a:off x="5705475" y="1895475"/>
            <a:ext cx="2381250" cy="381000"/>
          </a:xfrm>
          <a:prstGeom prst="rect">
            <a:avLst/>
          </a:prstGeom>
          <a:noFill/>
          <a:ln w="0">
            <a:noFill/>
          </a:ln>
        </p:spPr>
        <p:txBody>
          <a:bodyPr lIns="0" tIns="0" rIns="0" bIns="0">
            <a:noAutofit/>
          </a:bodyPr>
          <a:lstStyle/>
          <a:p>
            <a:pPr>
              <a:buNone/>
              <a:defRPr sz="1800" b="1">
                <a:solidFill>
                  <a:srgbClr val="174A72"/>
                </a:solidFill>
                <a:latin typeface="Arial"/>
                <a:ea typeface="Arial"/>
                <a:cs typeface="Arial"/>
              </a:defRPr>
            </a:pPr>
            <a:r>
              <a:rPr sz="1800" b="1">
                <a:solidFill>
                  <a:srgbClr val="174A72"/>
                </a:solidFill>
                <a:latin typeface="Arial"/>
                <a:ea typeface="Arial"/>
                <a:cs typeface="Arial"/>
              </a:rPr>
              <a:t>Model updates</a:t>
            </a:r>
          </a:p>
        </p:txBody>
      </p:sp>
      <p:sp>
        <p:nvSpPr>
          <p:cNvPr id="9" name="">
            <a:extLst>
              <a:ext uri="{FF2B5EF4-FFF2-40B4-BE49-F238E27FC236}">
                <ns2:creationId id="{B3FCE2DA-9B0B-4A96-A95B-C39C21A476A7}"/>
              </a:ext>
            </a:extLst>
          </p:cNvPr>
          <p:cNvSpPr>
            <a:spLocks noGrp="1"/>
          </p:cNvSpPr>
          <p:nvPr/>
        </p:nvSpPr>
        <p:spPr>
          <a:xfrm>
            <a:off x="5705475" y="2286000"/>
            <a:ext cx="2381250" cy="390525"/>
          </a:xfrm>
          <a:prstGeom prst="rect">
            <a:avLst/>
          </a:prstGeom>
          <a:noFill/>
          <a:ln w="0">
            <a:noFill/>
          </a:ln>
        </p:spPr>
        <p:txBody>
          <a:bodyPr lIns="0" tIns="0" rIns="0" bIns="0">
            <a:noAutofit/>
          </a:bodyPr>
          <a:lstStyle/>
          <a:p>
            <a:pPr>
              <a:buNone/>
              <a:defRPr sz="1725" b="0">
                <a:solidFill>
                  <a:srgbClr val="080808"/>
                </a:solidFill>
                <a:latin typeface="Arial"/>
                <a:ea typeface="Arial"/>
                <a:cs typeface="Arial"/>
              </a:defRPr>
            </a:pPr>
            <a:r>
              <a:rPr sz="1725" b="0">
                <a:solidFill>
                  <a:srgbClr val="080808"/>
                </a:solidFill>
                <a:latin typeface="Arial"/>
                <a:ea typeface="Arial"/>
                <a:cs typeface="Arial"/>
              </a:rPr>
              <a:t>Learned patterns</a:t>
            </a:r>
          </a:p>
        </p:txBody>
      </p:sp>
      <p:sp>
        <p:nvSpPr>
          <p:cNvPr id="10" name="">
            <a:extLst>
              <a:ext uri="{FF2B5EF4-FFF2-40B4-BE49-F238E27FC236}">
                <ns2:creationId id="{CCD325A8-65EF-4794-80EF-A809A67230F9}"/>
              </a:ext>
            </a:extLst>
          </p:cNvPr>
          <p:cNvSpPr>
            <a:spLocks noGrp="1"/>
          </p:cNvSpPr>
          <p:nvPr/>
        </p:nvSpPr>
        <p:spPr>
          <a:xfrm>
            <a:off x="8724900" y="1771650"/>
            <a:ext cx="2876550" cy="981075"/>
          </a:xfrm>
          <a:prstGeom prst="rect">
            <a:avLst/>
          </a:prstGeom>
          <a:solidFill>
            <a:srgbClr val="F4EFE6"/>
          </a:solidFill>
          <a:ln w="14288">
            <a:solidFill>
              <a:srgbClr val="080808"/>
            </a:solidFill>
          </a:ln>
        </p:spPr>
      </p:sp>
      <p:sp>
        <p:nvSpPr>
          <p:cNvPr id="11" name="">
            <a:extLst>
              <a:ext uri="{FF2B5EF4-FFF2-40B4-BE49-F238E27FC236}">
                <ns2:creationId id="{DD76C913-DA71-4FEC-9C85-36249EF05096}"/>
              </a:ext>
            </a:extLst>
          </p:cNvPr>
          <p:cNvSpPr>
            <a:spLocks noGrp="1"/>
          </p:cNvSpPr>
          <p:nvPr/>
        </p:nvSpPr>
        <p:spPr>
          <a:xfrm>
            <a:off x="8858250" y="1895475"/>
            <a:ext cx="2609850" cy="381000"/>
          </a:xfrm>
          <a:prstGeom prst="rect">
            <a:avLst/>
          </a:prstGeom>
          <a:noFill/>
          <a:ln w="0">
            <a:noFill/>
          </a:ln>
        </p:spPr>
        <p:txBody>
          <a:bodyPr lIns="0" tIns="0" rIns="0" bIns="0">
            <a:noAutofit/>
          </a:bodyPr>
          <a:lstStyle/>
          <a:p>
            <a:pPr>
              <a:buNone/>
              <a:defRPr sz="1800" b="1">
                <a:solidFill>
                  <a:srgbClr val="080808"/>
                </a:solidFill>
                <a:latin typeface="Arial"/>
                <a:ea typeface="Arial"/>
                <a:cs typeface="Arial"/>
              </a:defRPr>
            </a:pPr>
            <a:r>
              <a:rPr sz="1800" b="1">
                <a:solidFill>
                  <a:srgbClr val="080808"/>
                </a:solidFill>
                <a:latin typeface="Arial"/>
                <a:ea typeface="Arial"/>
                <a:cs typeface="Arial"/>
              </a:rPr>
              <a:t>Load + assets</a:t>
            </a:r>
          </a:p>
        </p:txBody>
      </p:sp>
      <p:sp>
        <p:nvSpPr>
          <p:cNvPr id="12" name="">
            <a:extLst>
              <a:ext uri="{FF2B5EF4-FFF2-40B4-BE49-F238E27FC236}">
                <ns2:creationId id="{14A0A3A7-2547-4E9C-A377-B3BBE2EACCC1}"/>
              </a:ext>
            </a:extLst>
          </p:cNvPr>
          <p:cNvSpPr>
            <a:spLocks noGrp="1"/>
          </p:cNvSpPr>
          <p:nvPr/>
        </p:nvSpPr>
        <p:spPr>
          <a:xfrm>
            <a:off x="8858250" y="2286000"/>
            <a:ext cx="2609850" cy="390525"/>
          </a:xfrm>
          <a:prstGeom prst="rect">
            <a:avLst/>
          </a:prstGeom>
          <a:noFill/>
          <a:ln w="0">
            <a:noFill/>
          </a:ln>
        </p:spPr>
        <p:txBody>
          <a:bodyPr lIns="0" tIns="0" rIns="0" bIns="0">
            <a:noAutofit/>
          </a:bodyPr>
          <a:lstStyle/>
          <a:p>
            <a:pPr>
              <a:buNone/>
              <a:defRPr sz="1725" b="0">
                <a:solidFill>
                  <a:srgbClr val="080808"/>
                </a:solidFill>
                <a:latin typeface="Arial"/>
                <a:ea typeface="Arial"/>
                <a:cs typeface="Arial"/>
              </a:defRPr>
            </a:pPr>
            <a:r>
              <a:rPr sz="1725" b="0">
                <a:solidFill>
                  <a:srgbClr val="080808"/>
                </a:solidFill>
                <a:latin typeface="Arial"/>
                <a:ea typeface="Arial"/>
                <a:cs typeface="Arial"/>
              </a:rPr>
              <a:t>Demand + backup limits</a:t>
            </a:r>
          </a:p>
        </p:txBody>
      </p:sp>
      <p:sp>
        <p:nvSpPr>
          <p:cNvPr id="13" name="">
            <a:extLst>
              <a:ext uri="{FF2B5EF4-FFF2-40B4-BE49-F238E27FC236}">
                <ns2:creationId id="{B42175DC-B094-4A37-8EE4-21C3015D3E72}"/>
              </a:ext>
            </a:extLst>
          </p:cNvPr>
          <p:cNvSpPr>
            <a:spLocks noGrp="1"/>
          </p:cNvSpPr>
          <p:nvPr/>
        </p:nvSpPr>
        <p:spPr>
          <a:xfrm>
            <a:off x="609600" y="3438525"/>
            <a:ext cx="1762125" cy="457200"/>
          </a:xfrm>
          <a:prstGeom prst="rect">
            <a:avLst/>
          </a:prstGeom>
          <a:noFill/>
          <a:ln w="0">
            <a:noFill/>
          </a:ln>
        </p:spPr>
        <p:txBody>
          <a:bodyPr lIns="0" tIns="0" rIns="0" bIns="0" anchor="t">
            <a:noAutofit/>
          </a:bodyPr>
          <a:lstStyle/>
          <a:p>
            <a:pPr algn="l" marL="0" indent="0"/>
            <a:r>
              <a:rPr sz="1725" b="1">
                <a:solidFill>
                  <a:srgbClr val="5F5A52"/>
                </a:solidFill>
                <a:latin typeface="Arial"/>
                <a:ea typeface="Arial"/>
                <a:cs typeface="Arial"/>
              </a:rPr>
              <a:t>INTELLIGENCE</a:t>
            </a:r>
            <a:endParaRPr sz="1725"/>
          </a:p>
        </p:txBody>
      </p:sp>
      <p:sp>
        <p:nvSpPr>
          <p:cNvPr id="14" name="">
            <a:extLst>
              <a:ext uri="{FF2B5EF4-FFF2-40B4-BE49-F238E27FC236}">
                <ns2:creationId id="{D593C156-FDA4-43A9-9631-CB1410242501}"/>
              </a:ext>
            </a:extLst>
          </p:cNvPr>
          <p:cNvSpPr>
            <a:spLocks noGrp="1"/>
          </p:cNvSpPr>
          <p:nvPr/>
        </p:nvSpPr>
        <p:spPr>
          <a:xfrm>
            <a:off x="2419350" y="3267075"/>
            <a:ext cx="2647950" cy="1200150"/>
          </a:xfrm>
          <a:prstGeom prst="rect">
            <a:avLst/>
          </a:prstGeom>
          <a:solidFill>
            <a:srgbClr val="F4EFE6"/>
          </a:solidFill>
          <a:ln w="14288">
            <a:solidFill>
              <a:srgbClr val="080808"/>
            </a:solidFill>
          </a:ln>
        </p:spPr>
      </p:sp>
      <p:sp>
        <p:nvSpPr>
          <p:cNvPr id="15" name="">
            <a:extLst>
              <a:ext uri="{FF2B5EF4-FFF2-40B4-BE49-F238E27FC236}">
                <ns2:creationId id="{E7E010A5-1562-42AF-8C53-6416DF18055E}"/>
              </a:ext>
            </a:extLst>
          </p:cNvPr>
          <p:cNvSpPr>
            <a:spLocks noGrp="1"/>
          </p:cNvSpPr>
          <p:nvPr/>
        </p:nvSpPr>
        <p:spPr>
          <a:xfrm>
            <a:off x="2552700" y="3390900"/>
            <a:ext cx="2381250" cy="381000"/>
          </a:xfrm>
          <a:prstGeom prst="rect">
            <a:avLst/>
          </a:prstGeom>
          <a:noFill/>
          <a:ln w="0">
            <a:noFill/>
          </a:ln>
        </p:spPr>
        <p:txBody>
          <a:bodyPr lIns="0" tIns="0" rIns="0" bIns="0">
            <a:noAutofit/>
          </a:bodyPr>
          <a:lstStyle/>
          <a:p>
            <a:pPr>
              <a:buNone/>
              <a:defRPr sz="1800" b="1">
                <a:solidFill>
                  <a:srgbClr val="174A72"/>
                </a:solidFill>
                <a:latin typeface="Arial"/>
                <a:ea typeface="Arial"/>
                <a:cs typeface="Arial"/>
              </a:defRPr>
            </a:pPr>
            <a:r>
              <a:rPr sz="1800" b="1">
                <a:solidFill>
                  <a:srgbClr val="174A72"/>
                </a:solidFill>
                <a:latin typeface="Arial"/>
                <a:ea typeface="Arial"/>
                <a:cs typeface="Arial"/>
              </a:rPr>
              <a:t>Local models</a:t>
            </a:r>
          </a:p>
        </p:txBody>
      </p:sp>
      <p:sp>
        <p:nvSpPr>
          <p:cNvPr id="16" name="">
            <a:extLst>
              <a:ext uri="{FF2B5EF4-FFF2-40B4-BE49-F238E27FC236}">
                <ns2:creationId id="{F685197B-7F3D-4227-87EA-33CBB85C5FC6}"/>
              </a:ext>
            </a:extLst>
          </p:cNvPr>
          <p:cNvSpPr>
            <a:spLocks noGrp="1"/>
          </p:cNvSpPr>
          <p:nvPr/>
        </p:nvSpPr>
        <p:spPr>
          <a:xfrm>
            <a:off x="2552700" y="3781425"/>
            <a:ext cx="2381250" cy="609600"/>
          </a:xfrm>
          <a:prstGeom prst="rect">
            <a:avLst/>
          </a:prstGeom>
          <a:noFill/>
          <a:ln w="0">
            <a:noFill/>
          </a:ln>
        </p:spPr>
        <p:txBody>
          <a:bodyPr lIns="0" tIns="0" rIns="0" bIns="0">
            <a:noAutofit/>
          </a:bodyPr>
          <a:lstStyle/>
          <a:p>
            <a:pPr>
              <a:buNone/>
              <a:defRPr sz="1725" b="0">
                <a:solidFill>
                  <a:srgbClr val="080808"/>
                </a:solidFill>
                <a:latin typeface="Arial"/>
                <a:ea typeface="Arial"/>
                <a:cs typeface="Arial"/>
              </a:defRPr>
            </a:pPr>
            <a:r>
              <a:rPr sz="1725" b="0">
                <a:solidFill>
                  <a:srgbClr val="080808"/>
                </a:solidFill>
                <a:latin typeface="Arial"/>
                <a:ea typeface="Arial"/>
                <a:cs typeface="Arial"/>
              </a:rPr>
              <a:t>Solar prediction</a:t>
            </a:r>
          </a:p>
        </p:txBody>
      </p:sp>
      <p:sp>
        <p:nvSpPr>
          <p:cNvPr id="17" name="">
            <a:extLst>
              <a:ext uri="{FF2B5EF4-FFF2-40B4-BE49-F238E27FC236}">
                <ns2:creationId id="{40E056F0-6223-4215-B46B-B326619F1179}"/>
              </a:ext>
            </a:extLst>
          </p:cNvPr>
          <p:cNvSpPr>
            <a:spLocks noGrp="1"/>
          </p:cNvSpPr>
          <p:nvPr/>
        </p:nvSpPr>
        <p:spPr>
          <a:xfrm>
            <a:off x="5572125" y="3267075"/>
            <a:ext cx="2647950" cy="1200150"/>
          </a:xfrm>
          <a:prstGeom prst="rect">
            <a:avLst/>
          </a:prstGeom>
          <a:solidFill>
            <a:srgbClr val="F4EFE6"/>
          </a:solidFill>
          <a:ln w="14288">
            <a:solidFill>
              <a:srgbClr val="080808"/>
            </a:solidFill>
          </a:ln>
        </p:spPr>
      </p:sp>
      <p:sp>
        <p:nvSpPr>
          <p:cNvPr id="18" name="">
            <a:extLst>
              <a:ext uri="{FF2B5EF4-FFF2-40B4-BE49-F238E27FC236}">
                <ns2:creationId id="{E707264F-73F4-4E81-9C13-D8BD09468754}"/>
              </a:ext>
            </a:extLst>
          </p:cNvPr>
          <p:cNvSpPr>
            <a:spLocks noGrp="1"/>
          </p:cNvSpPr>
          <p:nvPr/>
        </p:nvSpPr>
        <p:spPr>
          <a:xfrm>
            <a:off x="5705475" y="3390900"/>
            <a:ext cx="2381250" cy="381000"/>
          </a:xfrm>
          <a:prstGeom prst="rect">
            <a:avLst/>
          </a:prstGeom>
          <a:noFill/>
          <a:ln w="0">
            <a:noFill/>
          </a:ln>
        </p:spPr>
        <p:txBody>
          <a:bodyPr lIns="0" tIns="0" rIns="0" bIns="0">
            <a:noAutofit/>
          </a:bodyPr>
          <a:lstStyle/>
          <a:p>
            <a:pPr>
              <a:buNone/>
              <a:defRPr sz="1800" b="1">
                <a:solidFill>
                  <a:srgbClr val="174A72"/>
                </a:solidFill>
                <a:latin typeface="Arial"/>
                <a:ea typeface="Arial"/>
                <a:cs typeface="Arial"/>
              </a:defRPr>
            </a:pPr>
            <a:r>
              <a:rPr sz="1800" b="1">
                <a:solidFill>
                  <a:srgbClr val="174A72"/>
                </a:solidFill>
                <a:latin typeface="Arial"/>
                <a:ea typeface="Arial"/>
                <a:cs typeface="Arial"/>
              </a:rPr>
              <a:t>Shared forecast</a:t>
            </a:r>
          </a:p>
        </p:txBody>
      </p:sp>
      <p:sp>
        <p:nvSpPr>
          <p:cNvPr id="19" name="">
            <a:extLst>
              <a:ext uri="{FF2B5EF4-FFF2-40B4-BE49-F238E27FC236}">
                <ns2:creationId id="{7A0F3800-20A8-4D0B-9551-7789C3CF7087}"/>
              </a:ext>
            </a:extLst>
          </p:cNvPr>
          <p:cNvSpPr>
            <a:spLocks noGrp="1"/>
          </p:cNvSpPr>
          <p:nvPr/>
        </p:nvSpPr>
        <p:spPr>
          <a:xfrm>
            <a:off x="5705475" y="3781425"/>
            <a:ext cx="2381250" cy="609600"/>
          </a:xfrm>
          <a:prstGeom prst="rect">
            <a:avLst/>
          </a:prstGeom>
          <a:noFill/>
          <a:ln w="0">
            <a:noFill/>
          </a:ln>
        </p:spPr>
        <p:txBody>
          <a:bodyPr lIns="0" tIns="0" rIns="0" bIns="0">
            <a:noAutofit/>
          </a:bodyPr>
          <a:lstStyle/>
          <a:p>
            <a:pPr>
              <a:buNone/>
              <a:defRPr sz="1725" b="0">
                <a:solidFill>
                  <a:srgbClr val="080808"/>
                </a:solidFill>
                <a:latin typeface="Arial"/>
                <a:ea typeface="Arial"/>
                <a:cs typeface="Arial"/>
              </a:defRPr>
            </a:pPr>
            <a:r>
              <a:rPr sz="1725" b="0">
                <a:solidFill>
                  <a:srgbClr val="080808"/>
                </a:solidFill>
                <a:latin typeface="Arial"/>
                <a:ea typeface="Arial"/>
                <a:cs typeface="Arial"/>
              </a:rPr>
              <a:t>Combined forecast</a:t>
            </a:r>
          </a:p>
        </p:txBody>
      </p:sp>
      <p:sp>
        <p:nvSpPr>
          <p:cNvPr id="20" name="">
            <a:extLst>
              <a:ext uri="{FF2B5EF4-FFF2-40B4-BE49-F238E27FC236}">
                <ns2:creationId id="{D7A0E61F-E5F3-4FE0-9D6C-577FF2D60BA7}"/>
              </a:ext>
            </a:extLst>
          </p:cNvPr>
          <p:cNvSpPr>
            <a:spLocks noGrp="1"/>
          </p:cNvSpPr>
          <p:nvPr/>
        </p:nvSpPr>
        <p:spPr>
          <a:xfrm>
            <a:off x="8724900" y="3267075"/>
            <a:ext cx="2876550" cy="1200150"/>
          </a:xfrm>
          <a:prstGeom prst="rect">
            <a:avLst/>
          </a:prstGeom>
          <a:solidFill>
            <a:srgbClr val="F4EFE6"/>
          </a:solidFill>
          <a:ln w="14288">
            <a:solidFill>
              <a:srgbClr val="080808"/>
            </a:solidFill>
          </a:ln>
        </p:spPr>
      </p:sp>
      <p:sp>
        <p:nvSpPr>
          <p:cNvPr id="21" name="">
            <a:extLst>
              <a:ext uri="{FF2B5EF4-FFF2-40B4-BE49-F238E27FC236}">
                <ns2:creationId id="{6F9022BE-5C0E-4618-B997-B04835AE2F77}"/>
              </a:ext>
            </a:extLst>
          </p:cNvPr>
          <p:cNvSpPr>
            <a:spLocks noGrp="1"/>
          </p:cNvSpPr>
          <p:nvPr/>
        </p:nvSpPr>
        <p:spPr>
          <a:xfrm>
            <a:off x="8858250" y="3390900"/>
            <a:ext cx="2609850" cy="381000"/>
          </a:xfrm>
          <a:prstGeom prst="rect">
            <a:avLst/>
          </a:prstGeom>
          <a:noFill/>
          <a:ln w="0">
            <a:noFill/>
          </a:ln>
        </p:spPr>
        <p:txBody>
          <a:bodyPr lIns="0" tIns="0" rIns="0" bIns="0">
            <a:noAutofit/>
          </a:bodyPr>
          <a:lstStyle/>
          <a:p>
            <a:pPr>
              <a:buNone/>
              <a:defRPr sz="1800" b="1">
                <a:solidFill>
                  <a:srgbClr val="174A72"/>
                </a:solidFill>
                <a:latin typeface="Arial"/>
                <a:ea typeface="Arial"/>
                <a:cs typeface="Arial"/>
              </a:defRPr>
            </a:pPr>
            <a:r>
              <a:rPr sz="1800" b="1">
                <a:solidFill>
                  <a:srgbClr val="174A72"/>
                </a:solidFill>
                <a:latin typeface="Arial"/>
                <a:ea typeface="Arial"/>
                <a:cs typeface="Arial"/>
              </a:rPr>
              <a:t>Reserve optimizer</a:t>
            </a:r>
          </a:p>
        </p:txBody>
      </p:sp>
      <p:sp>
        <p:nvSpPr>
          <p:cNvPr id="22" name="">
            <a:extLst>
              <a:ext uri="{FF2B5EF4-FFF2-40B4-BE49-F238E27FC236}">
                <ns2:creationId id="{7F342D69-1833-4536-AA44-B913C9AD6184}"/>
              </a:ext>
            </a:extLst>
          </p:cNvPr>
          <p:cNvSpPr>
            <a:spLocks noGrp="1"/>
          </p:cNvSpPr>
          <p:nvPr/>
        </p:nvSpPr>
        <p:spPr>
          <a:xfrm>
            <a:off x="8858250" y="3781425"/>
            <a:ext cx="2609850" cy="609600"/>
          </a:xfrm>
          <a:prstGeom prst="rect">
            <a:avLst/>
          </a:prstGeom>
          <a:noFill/>
          <a:ln w="0">
            <a:noFill/>
          </a:ln>
        </p:spPr>
        <p:txBody>
          <a:bodyPr lIns="0" tIns="0" rIns="0" bIns="0">
            <a:noAutofit/>
          </a:bodyPr>
          <a:lstStyle/>
          <a:p>
            <a:pPr>
              <a:buNone/>
              <a:defRPr sz="1725" b="0">
                <a:solidFill>
                  <a:srgbClr val="080808"/>
                </a:solidFill>
                <a:latin typeface="Arial"/>
                <a:ea typeface="Arial"/>
                <a:cs typeface="Arial"/>
              </a:defRPr>
            </a:pPr>
            <a:r>
              <a:rPr sz="1725" b="0">
                <a:solidFill>
                  <a:srgbClr val="080808"/>
                </a:solidFill>
                <a:latin typeface="Arial"/>
                <a:ea typeface="Arial"/>
                <a:cs typeface="Arial"/>
              </a:rPr>
              <a:t>Error-aware backup plan</a:t>
            </a:r>
          </a:p>
        </p:txBody>
      </p:sp>
      <p:cxnSp>
        <p:nvCxnSpPr>
          <p:cNvPr id="104" name=""/>
          <p:cNvCxnSpPr>
            <a:stCxn id="4" idx="2"/>
            <a:endCxn id="14" idx="0"/>
          </p:cNvCxnSpPr>
          <p:nvPr/>
        </p:nvCxnSpPr>
        <p:spPr>
          <a:xfrm>
            <a:off x="3743325" y="2752725"/>
            <a:ext cx="0" cy="514350"/>
          </a:xfrm>
          <a:prstGeom prst="straightConnector1">
            <a:avLst/>
          </a:prstGeom>
          <a:ln w="19050">
            <a:solidFill>
              <a:srgbClr val="174A72"/>
            </a:solidFill>
            <a:prstDash val="dash"/>
            <a:tailEnd type="arrow" w="med" len="med"/>
          </a:ln>
        </p:spPr>
      </p:cxnSp>
      <p:cxnSp>
        <p:nvCxnSpPr>
          <p:cNvPr id="105" name=""/>
          <p:cNvCxnSpPr>
            <a:stCxn id="7" idx="2"/>
            <a:endCxn id="17" idx="0"/>
          </p:cNvCxnSpPr>
          <p:nvPr/>
        </p:nvCxnSpPr>
        <p:spPr>
          <a:xfrm>
            <a:off x="6896100" y="2752725"/>
            <a:ext cx="0" cy="514350"/>
          </a:xfrm>
          <a:prstGeom prst="straightConnector1">
            <a:avLst/>
          </a:prstGeom>
          <a:ln w="19050">
            <a:solidFill>
              <a:srgbClr val="174A72"/>
            </a:solidFill>
            <a:prstDash val="dash"/>
            <a:tailEnd type="arrow" w="med" len="med"/>
          </a:ln>
        </p:spPr>
      </p:cxnSp>
      <p:cxnSp>
        <p:nvCxnSpPr>
          <p:cNvPr id="106" name=""/>
          <p:cNvCxnSpPr>
            <a:stCxn id="10" idx="2"/>
            <a:endCxn id="20" idx="0"/>
          </p:cNvCxnSpPr>
          <p:nvPr/>
        </p:nvCxnSpPr>
        <p:spPr>
          <a:xfrm>
            <a:off x="10163175" y="2752725"/>
            <a:ext cx="0" cy="514350"/>
          </a:xfrm>
          <a:prstGeom prst="straightConnector1">
            <a:avLst/>
          </a:prstGeom>
          <a:ln w="19050">
            <a:solidFill>
              <a:srgbClr val="174A72"/>
            </a:solidFill>
            <a:prstDash val="dash"/>
            <a:tailEnd type="arrow" w="med" len="med"/>
          </a:ln>
        </p:spPr>
      </p:cxnSp>
      <p:cxnSp>
        <p:nvCxnSpPr>
          <p:cNvPr id="107" name=""/>
          <p:cNvCxnSpPr>
            <a:stCxn id="14" idx="3"/>
            <a:endCxn id="17" idx="1"/>
          </p:cNvCxnSpPr>
          <p:nvPr/>
        </p:nvCxnSpPr>
        <p:spPr>
          <a:xfrm>
            <a:off x="5067300" y="3867150"/>
            <a:ext cx="504825" cy="0"/>
          </a:xfrm>
          <a:prstGeom prst="straightConnector1">
            <a:avLst/>
          </a:prstGeom>
          <a:ln w="19050">
            <a:solidFill>
              <a:srgbClr val="174A72"/>
            </a:solidFill>
            <a:prstDash val="dash"/>
            <a:tailEnd type="arrow" w="med" len="med"/>
          </a:ln>
        </p:spPr>
      </p:cxnSp>
      <p:cxnSp>
        <p:nvCxnSpPr>
          <p:cNvPr id="108" name=""/>
          <p:cNvCxnSpPr>
            <a:stCxn id="17" idx="3"/>
            <a:endCxn id="20" idx="1"/>
          </p:cNvCxnSpPr>
          <p:nvPr/>
        </p:nvCxnSpPr>
        <p:spPr>
          <a:xfrm>
            <a:off x="8220075" y="3867150"/>
            <a:ext cx="504825" cy="0"/>
          </a:xfrm>
          <a:prstGeom prst="straightConnector1">
            <a:avLst/>
          </a:prstGeom>
          <a:ln w="19050">
            <a:solidFill>
              <a:srgbClr val="174A72"/>
            </a:solidFill>
            <a:prstDash val="dash"/>
            <a:tailEnd type="arrow" w="med" len="med"/>
          </a:ln>
        </p:spPr>
      </p:cxnSp>
      <p:sp>
        <p:nvSpPr>
          <p:cNvPr id="28" name="">
            <a:extLst>
              <a:ext uri="{FF2B5EF4-FFF2-40B4-BE49-F238E27FC236}">
                <ns2:creationId id="{CA3AFB5A-C773-4D8D-A19F-9A58448F8BB6}"/>
              </a:ext>
            </a:extLst>
          </p:cNvPr>
          <p:cNvSpPr>
            <a:spLocks noGrp="1"/>
          </p:cNvSpPr>
          <p:nvPr/>
        </p:nvSpPr>
        <p:spPr>
          <a:xfrm>
            <a:off x="609600" y="5124450"/>
            <a:ext cx="1724025" cy="381000"/>
          </a:xfrm>
          <a:prstGeom prst="rect">
            <a:avLst/>
          </a:prstGeom>
          <a:noFill/>
          <a:ln w="0">
            <a:noFill/>
          </a:ln>
        </p:spPr>
        <p:txBody>
          <a:bodyPr lIns="0" tIns="0" rIns="0" bIns="0">
            <a:noAutofit/>
          </a:bodyPr>
          <a:lstStyle/>
          <a:p>
            <a:pPr>
              <a:buNone/>
              <a:defRPr sz="2100" b="1">
                <a:solidFill>
                  <a:srgbClr val="5F5A52"/>
                </a:solidFill>
                <a:latin typeface="Arial"/>
                <a:ea typeface="Arial"/>
                <a:cs typeface="Arial"/>
              </a:defRPr>
            </a:pPr>
            <a:r>
              <a:rPr sz="2100" b="1">
                <a:solidFill>
                  <a:srgbClr val="5F5A52"/>
                </a:solidFill>
                <a:latin typeface="Arial"/>
                <a:ea typeface="Arial"/>
                <a:cs typeface="Arial"/>
              </a:rPr>
              <a:t>DECISION</a:t>
            </a:r>
          </a:p>
        </p:txBody>
      </p:sp>
      <p:sp>
        <p:nvSpPr>
          <p:cNvPr id="29" name="">
            <a:extLst>
              <a:ext uri="{FF2B5EF4-FFF2-40B4-BE49-F238E27FC236}">
                <ns2:creationId id="{9B45138B-FF0B-43D8-B676-69AEAA121E95}"/>
              </a:ext>
            </a:extLst>
          </p:cNvPr>
          <p:cNvSpPr>
            <a:spLocks noGrp="1"/>
          </p:cNvSpPr>
          <p:nvPr/>
        </p:nvSpPr>
        <p:spPr>
          <a:xfrm>
            <a:off x="2419350" y="4914900"/>
            <a:ext cx="9182100" cy="933450"/>
          </a:xfrm>
          <a:prstGeom prst="rect">
            <a:avLst/>
          </a:prstGeom>
          <a:solidFill>
            <a:srgbClr val="F4EFE6"/>
          </a:solidFill>
          <a:ln w="14288">
            <a:solidFill>
              <a:srgbClr val="080808"/>
            </a:solidFill>
          </a:ln>
        </p:spPr>
      </p:sp>
      <p:sp>
        <p:nvSpPr>
          <p:cNvPr id="30" name="">
            <a:extLst>
              <a:ext uri="{FF2B5EF4-FFF2-40B4-BE49-F238E27FC236}">
                <ns2:creationId id="{195BF750-6EAF-4335-BBCF-615C6C5D40CF}"/>
              </a:ext>
            </a:extLst>
          </p:cNvPr>
          <p:cNvSpPr>
            <a:spLocks noGrp="1"/>
          </p:cNvSpPr>
          <p:nvPr/>
        </p:nvSpPr>
        <p:spPr>
          <a:xfrm>
            <a:off x="2552700" y="4991100"/>
            <a:ext cx="8858250" cy="457200"/>
          </a:xfrm>
          <a:prstGeom prst="rect">
            <a:avLst/>
          </a:prstGeom>
          <a:noFill/>
          <a:ln w="0">
            <a:noFill/>
          </a:ln>
        </p:spPr>
        <p:txBody>
          <a:bodyPr lIns="0" tIns="0" rIns="0" bIns="0">
            <a:noAutofit/>
          </a:bodyPr>
          <a:lstStyle/>
          <a:p>
            <a:pPr>
              <a:buNone/>
              <a:defRPr sz="2700" b="1">
                <a:solidFill>
                  <a:srgbClr val="080808"/>
                </a:solidFill>
                <a:latin typeface="Arial"/>
                <a:ea typeface="Arial"/>
                <a:cs typeface="Arial"/>
              </a:defRPr>
            </a:pPr>
            <a:r>
              <a:rPr sz="2700" b="1">
                <a:solidFill>
                  <a:srgbClr val="080808"/>
                </a:solidFill>
                <a:latin typeface="Arial"/>
                <a:ea typeface="Arial"/>
                <a:cs typeface="Arial"/>
              </a:rPr>
              <a:t>Operator dashboard</a:t>
            </a:r>
          </a:p>
        </p:txBody>
      </p:sp>
      <p:sp>
        <p:nvSpPr>
          <p:cNvPr id="31" name="">
            <a:extLst>
              <a:ext uri="{FF2B5EF4-FFF2-40B4-BE49-F238E27FC236}">
                <ns2:creationId id="{2C1C576D-54AF-49B3-8378-5671EE65A018}"/>
              </a:ext>
            </a:extLst>
          </p:cNvPr>
          <p:cNvSpPr>
            <a:spLocks noGrp="1"/>
          </p:cNvSpPr>
          <p:nvPr/>
        </p:nvSpPr>
        <p:spPr>
          <a:xfrm>
            <a:off x="2552700" y="5467350"/>
            <a:ext cx="8858250" cy="333375"/>
          </a:xfrm>
          <a:prstGeom prst="rect">
            <a:avLst/>
          </a:prstGeom>
          <a:noFill/>
          <a:ln w="0">
            <a:noFill/>
          </a:ln>
        </p:spPr>
        <p:txBody>
          <a:bodyPr lIns="0" tIns="0" rIns="0" bIns="0">
            <a:noAutofit/>
          </a:bodyPr>
          <a:lstStyle/>
          <a:p>
            <a:pPr>
              <a:buNone/>
              <a:defRPr sz="1950" b="0">
                <a:solidFill>
                  <a:srgbClr val="080808"/>
                </a:solidFill>
                <a:latin typeface="Arial"/>
                <a:ea typeface="Arial"/>
                <a:cs typeface="Arial"/>
              </a:defRPr>
            </a:pPr>
            <a:r>
              <a:rPr sz="1950" b="0">
                <a:solidFill>
                  <a:srgbClr val="080808"/>
                </a:solidFill>
                <a:latin typeface="Arial"/>
                <a:ea typeface="Arial"/>
                <a:cs typeface="Arial"/>
              </a:rPr>
              <a:t>Forecast, risk and backup advice</a:t>
            </a:r>
          </a:p>
        </p:txBody>
      </p:sp>
      <p:cxnSp>
        <p:nvCxnSpPr>
          <p:cNvPr id="113" name=""/>
          <p:cNvCxnSpPr>
            <a:stCxn id="17" idx="2"/>
            <a:endCxn id="29" idx="0"/>
          </p:cNvCxnSpPr>
          <p:nvPr/>
        </p:nvCxnSpPr>
        <p:spPr>
          <a:xfrm>
            <a:off x="6896100" y="4467225"/>
            <a:ext cx="114300" cy="447675"/>
          </a:xfrm>
          <a:prstGeom prst="bentConnector4">
            <a:avLst>
              <a:gd name="adj1" fmla="val 0"/>
              <a:gd name="adj2" fmla="val 50000"/>
            </a:avLst>
          </a:prstGeom>
          <a:ln w="19050">
            <a:solidFill>
              <a:srgbClr val="5F5A52"/>
            </a:solidFill>
            <a:prstDash val="dash"/>
            <a:tailEnd type="arrow" w="med" len="med"/>
          </a:ln>
        </p:spPr>
      </p:cxnSp>
      <p:cxnSp>
        <p:nvCxnSpPr>
          <p:cNvPr id="114" name=""/>
          <p:cNvCxnSpPr>
            <a:stCxn id="20" idx="2"/>
            <a:endCxn id="29" idx="0"/>
          </p:cNvCxnSpPr>
          <p:nvPr/>
        </p:nvCxnSpPr>
        <p:spPr>
          <a:xfrm flipH="1">
            <a:off x="7010400" y="4467225"/>
            <a:ext cx="3152775" cy="447675"/>
          </a:xfrm>
          <a:prstGeom prst="bentConnector4">
            <a:avLst>
              <a:gd name="adj1" fmla="val 0"/>
              <a:gd name="adj2" fmla="val 50000"/>
            </a:avLst>
          </a:prstGeom>
          <a:ln w="19050">
            <a:solidFill>
              <a:srgbClr val="5F5A52"/>
            </a:solidFill>
            <a:prstDash val="dash"/>
            <a:tailEnd type="arrow" w="med" len="med"/>
          </a:ln>
        </p:spPr>
      </p:cxnSp>
      <p:sp>
        <p:nvSpPr>
          <p:cNvPr id="34" name="">
            <a:extLst>
              <a:ext uri="{FF2B5EF4-FFF2-40B4-BE49-F238E27FC236}">
                <ns2:creationId id="{818C562C-E5B4-4FCD-89B0-7DFB62CD57C4}"/>
              </a:ext>
            </a:extLst>
          </p:cNvPr>
          <p:cNvSpPr>
            <a:spLocks noGrp="1"/>
          </p:cNvSpPr>
          <p:nvPr/>
        </p:nvSpPr>
        <p:spPr>
          <a:xfrm>
            <a:off x="609600" y="6134100"/>
            <a:ext cx="1724025" cy="381000"/>
          </a:xfrm>
          <a:prstGeom prst="rect">
            <a:avLst/>
          </a:prstGeom>
          <a:noFill/>
          <a:ln w="0">
            <a:noFill/>
          </a:ln>
        </p:spPr>
        <p:txBody>
          <a:bodyPr lIns="0" tIns="0" rIns="0" bIns="0">
            <a:noAutofit/>
          </a:bodyPr>
          <a:lstStyle/>
          <a:p>
            <a:pPr>
              <a:buNone/>
              <a:defRPr sz="2100" b="1">
                <a:solidFill>
                  <a:srgbClr val="080808"/>
                </a:solidFill>
                <a:latin typeface="Arial"/>
                <a:ea typeface="Arial"/>
                <a:cs typeface="Arial"/>
              </a:defRPr>
            </a:pPr>
            <a:r>
              <a:rPr sz="2100" b="1">
                <a:solidFill>
                  <a:srgbClr val="080808"/>
                </a:solidFill>
                <a:latin typeface="Arial"/>
                <a:ea typeface="Arial"/>
                <a:cs typeface="Arial"/>
              </a:rPr>
              <a:t>ENERGY</a:t>
            </a:r>
          </a:p>
        </p:txBody>
      </p:sp>
      <p:sp>
        <p:nvSpPr>
          <p:cNvPr id="35" name="">
            <a:extLst>
              <a:ext uri="{FF2B5EF4-FFF2-40B4-BE49-F238E27FC236}">
                <ns2:creationId id="{6AE7426F-3767-4A88-962A-E70241274183}"/>
              </a:ext>
            </a:extLst>
          </p:cNvPr>
          <p:cNvSpPr>
            <a:spLocks noGrp="1"/>
          </p:cNvSpPr>
          <p:nvPr/>
        </p:nvSpPr>
        <p:spPr>
          <a:xfrm>
            <a:off x="2419350" y="6057900"/>
            <a:ext cx="3857625" cy="409575"/>
          </a:xfrm>
          <a:prstGeom prst="rect">
            <a:avLst/>
          </a:prstGeom>
          <a:noFill/>
          <a:ln w="0">
            <a:noFill/>
          </a:ln>
        </p:spPr>
      </p:sp>
      <p:sp>
        <p:nvSpPr>
          <p:cNvPr id="36" name="">
            <a:extLst>
              <a:ext uri="{FF2B5EF4-FFF2-40B4-BE49-F238E27FC236}">
                <ns2:creationId id="{919154A5-B971-495B-8F72-050C4F162705}"/>
              </a:ext>
            </a:extLst>
          </p:cNvPr>
          <p:cNvSpPr>
            <a:spLocks noGrp="1"/>
          </p:cNvSpPr>
          <p:nvPr/>
        </p:nvSpPr>
        <p:spPr>
          <a:xfrm>
            <a:off x="2419350" y="6057900"/>
            <a:ext cx="3857625" cy="381000"/>
          </a:xfrm>
          <a:prstGeom prst="rect">
            <a:avLst/>
          </a:prstGeom>
          <a:noFill/>
          <a:ln w="0">
            <a:noFill/>
          </a:ln>
        </p:spPr>
        <p:txBody>
          <a:bodyPr lIns="0" tIns="0" rIns="0" bIns="0">
            <a:noAutofit/>
          </a:bodyPr>
          <a:lstStyle/>
          <a:p>
            <a:pPr>
              <a:buNone/>
              <a:defRPr sz="1800" b="1">
                <a:solidFill>
                  <a:srgbClr val="080808"/>
                </a:solidFill>
                <a:latin typeface="Arial"/>
                <a:ea typeface="Arial"/>
                <a:cs typeface="Arial"/>
              </a:defRPr>
            </a:pPr>
            <a:r>
              <a:rPr sz="1800" b="1">
                <a:solidFill>
                  <a:srgbClr val="080808"/>
                </a:solidFill>
                <a:latin typeface="Arial"/>
                <a:ea typeface="Arial"/>
                <a:cs typeface="Arial"/>
              </a:rPr>
              <a:t>Grid + solar + backup</a:t>
            </a:r>
          </a:p>
        </p:txBody>
      </p:sp>
      <p:sp>
        <p:nvSpPr>
          <p:cNvPr id="37" name="">
            <a:extLst>
              <a:ext uri="{FF2B5EF4-FFF2-40B4-BE49-F238E27FC236}">
                <ns2:creationId id="{01C1E16A-E2EF-418F-88F8-D02F1CB10797}"/>
              </a:ext>
            </a:extLst>
          </p:cNvPr>
          <p:cNvSpPr>
            <a:spLocks noGrp="1"/>
          </p:cNvSpPr>
          <p:nvPr/>
        </p:nvSpPr>
        <p:spPr>
          <a:xfrm>
            <a:off x="7734300" y="6057900"/>
            <a:ext cx="3876675" cy="409575"/>
          </a:xfrm>
          <a:prstGeom prst="rect">
            <a:avLst/>
          </a:prstGeom>
          <a:noFill/>
          <a:ln w="0">
            <a:noFill/>
          </a:ln>
        </p:spPr>
      </p:sp>
      <p:sp>
        <p:nvSpPr>
          <p:cNvPr id="38" name="">
            <a:extLst>
              <a:ext uri="{FF2B5EF4-FFF2-40B4-BE49-F238E27FC236}">
                <ns2:creationId id="{2EDFFDE4-36BE-4279-90AE-530C666D7BDD}"/>
              </a:ext>
            </a:extLst>
          </p:cNvPr>
          <p:cNvSpPr>
            <a:spLocks noGrp="1"/>
          </p:cNvSpPr>
          <p:nvPr/>
        </p:nvSpPr>
        <p:spPr>
          <a:xfrm>
            <a:off x="7734300" y="6057900"/>
            <a:ext cx="3876675" cy="381000"/>
          </a:xfrm>
          <a:prstGeom prst="rect">
            <a:avLst/>
          </a:prstGeom>
          <a:noFill/>
          <a:ln w="0">
            <a:noFill/>
          </a:ln>
        </p:spPr>
        <p:txBody>
          <a:bodyPr lIns="0" tIns="0" rIns="0" bIns="0">
            <a:noAutofit/>
          </a:bodyPr>
          <a:lstStyle/>
          <a:p>
            <a:pPr>
              <a:buNone/>
              <a:defRPr sz="1800" b="1">
                <a:solidFill>
                  <a:srgbClr val="080808"/>
                </a:solidFill>
                <a:latin typeface="Arial"/>
                <a:ea typeface="Arial"/>
                <a:cs typeface="Arial"/>
              </a:defRPr>
            </a:pPr>
            <a:r>
              <a:rPr sz="1800" b="1">
                <a:solidFill>
                  <a:srgbClr val="080808"/>
                </a:solidFill>
                <a:latin typeface="Arial"/>
                <a:ea typeface="Arial"/>
                <a:cs typeface="Arial"/>
              </a:rPr>
              <a:t>Homes + businesses</a:t>
            </a:r>
          </a:p>
        </p:txBody>
      </p:sp>
      <p:cxnSp>
        <p:nvCxnSpPr>
          <p:cNvPr id="120" name=""/>
          <p:cNvCxnSpPr>
            <a:stCxn id="35" idx="3"/>
            <a:endCxn id="37" idx="1"/>
          </p:cNvCxnSpPr>
          <p:nvPr/>
        </p:nvCxnSpPr>
        <p:spPr>
          <a:xfrm>
            <a:off x="6276975" y="6262688"/>
            <a:ext cx="1457325" cy="0"/>
          </a:xfrm>
          <a:prstGeom prst="straightConnector1">
            <a:avLst/>
          </a:prstGeom>
          <a:ln w="38100">
            <a:solidFill>
              <a:srgbClr val="080808"/>
            </a:solidFill>
            <a:prstDash val="solid"/>
            <a:tailEnd type="arrow" w="med" len="med"/>
          </a:ln>
        </p:spPr>
      </p:cxnSp>
      <p:sp>
        <p:nvSpPr>
          <p:cNvPr id="40" name="">
            <a:extLst>
              <a:ext uri="{FF2B5EF4-FFF2-40B4-BE49-F238E27FC236}">
                <ns2:creationId id="{0C63E409-885E-4961-81AC-063F35D1FF87}"/>
              </a:ext>
            </a:extLst>
          </p:cNvPr>
          <p:cNvSpPr>
            <a:spLocks noGrp="1"/>
          </p:cNvSpPr>
          <p:nvPr/>
        </p:nvSpPr>
        <p:spPr>
          <a:xfrm>
            <a:off x="6362700" y="5905500"/>
            <a:ext cx="1790700" cy="285750"/>
          </a:xfrm>
          <a:prstGeom prst="rect">
            <a:avLst/>
          </a:prstGeom>
          <a:noFill/>
          <a:ln w="0">
            <a:noFill/>
          </a:ln>
        </p:spPr>
        <p:txBody>
          <a:bodyPr lIns="0" tIns="0" rIns="0" bIns="0">
            <a:noAutofit/>
          </a:bodyPr>
          <a:lstStyle/>
          <a:p>
            <a:pPr>
              <a:buNone/>
              <a:defRPr sz="1350" b="0">
                <a:solidFill>
                  <a:srgbClr val="080808"/>
                </a:solidFill>
                <a:latin typeface="Arial"/>
                <a:ea typeface="Arial"/>
                <a:cs typeface="Arial"/>
              </a:defRPr>
            </a:pPr>
            <a:r>
              <a:rPr sz="1350" b="0">
                <a:solidFill>
                  <a:srgbClr val="080808"/>
                </a:solidFill>
                <a:latin typeface="Arial"/>
                <a:ea typeface="Arial"/>
                <a:cs typeface="Arial"/>
              </a:rPr>
              <a:t>Physical electricity</a:t>
            </a:r>
          </a:p>
        </p:txBody>
      </p:sp>
      <p:sp>
        <p:nvSpPr>
          <p:cNvPr id="41" name="">
            <a:extLst>
              <a:ext uri="{FF2B5EF4-FFF2-40B4-BE49-F238E27FC236}">
                <ns2:creationId id="{F637DB13-69C3-46F3-93CA-E9D6912D302E}"/>
              </a:ext>
            </a:extLst>
          </p:cNvPr>
          <p:cNvSpPr>
            <a:spLocks noGrp="1"/>
          </p:cNvSpPr>
          <p:nvPr/>
        </p:nvSpPr>
        <p:spPr>
          <a:xfrm>
            <a:off x="609600" y="6543675"/>
            <a:ext cx="10953750" cy="285750"/>
          </a:xfrm>
          <a:prstGeom prst="rect">
            <a:avLst/>
          </a:prstGeom>
          <a:noFill/>
          <a:ln w="0">
            <a:noFill/>
          </a:ln>
        </p:spPr>
        <p:txBody>
          <a:bodyPr lIns="0" tIns="0" rIns="0" bIns="0" anchor="t">
            <a:noAutofit/>
          </a:bodyPr>
          <a:lstStyle/>
          <a:p>
            <a:pPr algn="l"/>
            <a:r>
              <a:rPr sz="1500" b="0">
                <a:solidFill>
                  <a:srgbClr val="68645E"/>
                </a:solidFill>
                <a:latin typeface="Arial"/>
              </a:rPr>
              <a:t>Advisory prototype: operators and equipment determine the physical response. No live control integration.</a:t>
            </a:r>
            <a:endParaRPr sz="1500"/>
          </a:p>
        </p:txBody>
      </p:sp>
      <p:sp>
        <p:nvSpPr>
          <p:cNvPr id="81" name="">
            <a:extLst>
              <a:ext uri="{FF2B5EF4-FFF2-40B4-BE49-F238E27FC236}">
                <ns2:creationId id="{07C5E3D7-1DED-47F4-B2DA-AD87B8935E96}"/>
              </a:ext>
            </a:extLst>
          </p:cNvPr>
          <p:cNvSpPr>
            <a:spLocks noGrp="1"/>
          </p:cNvSpPr>
          <p:nvPr/>
        </p:nvSpPr>
        <p:spPr>
          <a:xfrm>
            <a:off x="6953250" y="1476375"/>
            <a:ext cx="4648200" cy="266700"/>
          </a:xfrm>
          <a:prstGeom prst="rect">
            <a:avLst/>
          </a:prstGeom>
          <a:noFill/>
          <a:ln w="0">
            <a:noFill/>
          </a:ln>
        </p:spPr>
        <p:txBody>
          <a:bodyPr lIns="0" tIns="0" rIns="0" bIns="0">
            <a:noAutofit/>
          </a:bodyPr>
          <a:lstStyle/>
          <a:p>
            <a:pPr>
              <a:defRPr sz="1350" b="0">
                <a:solidFill>
                  <a:srgbClr val="5F5A52"/>
                </a:solidFill>
                <a:latin typeface="Arial"/>
                <a:ea typeface="Arial"/>
                <a:cs typeface="Arial"/>
              </a:defRPr>
            </a:pPr>
            <a:r>
              <a:rPr sz="1350" b="0">
                <a:solidFill>
                  <a:srgbClr val="5F5A52"/>
                </a:solidFill>
                <a:latin typeface="Arial"/>
                <a:ea typeface="Arial"/>
                <a:cs typeface="Arial"/>
              </a:rPr>
              <a:t>Dashed: digital information</a:t>
            </a:r>
          </a:p>
        </p:txBody>
      </p:sp>
      <p:sp>
        <p:nvSpPr>
          <p:cNvPr id="121" name="Standalone clarification 121"/>
          <p:cNvSpPr txBox="1"/>
          <p:nvPr/>
        </p:nvSpPr>
        <p:spPr>
          <a:xfrm>
            <a:off x="609600" y="1219200"/>
            <a:ext cx="10953750" cy="333375"/>
          </a:xfrm>
          <a:prstGeom prst="rect">
            <a:avLst/>
          </a:prstGeom>
          <a:noFill/>
          <a:ln>
            <a:noFill/>
          </a:ln>
        </p:spPr>
        <p:txBody>
          <a:bodyPr lIns="0" rIns="0" tIns="0" bIns="0" anchor="t"/>
          <a:lstStyle/>
          <a:p>
            <a:pPr algn="l" marL="0" indent="0"/>
            <a:r>
              <a:rPr sz="1800" b="0">
                <a:solidFill>
                  <a:srgbClr val="080808"/>
                </a:solidFill>
                <a:latin typeface="Arial"/>
                <a:ea typeface="Arial"/>
                <a:cs typeface="Arial"/>
              </a:rPr>
              <a:t>Local data becomes a shared forecast and risk-aware backup recommendation.</a:t>
            </a:r>
            <a:endParaRPr sz="1800"/>
          </a:p>
        </p:txBody>
      </p:sp>
    </p:spTree>
    <p:extLst>
      <p:ext uri="{BB962C8B-B14F-4D97-AF65-F5344CB8AC3E}">
        <ns3:creationId val="276959099"/>
      </p:ext>
    </p:extLst>
  </p:cSld>
</p:sld>
</file>

<file path=ppt/slides/slide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4EFE6"/>
        </a:solidFill>
      </p:bgPr>
    </p:bg>
    <p:spTree>
      <p:nvGrpSpPr>
        <p:cNvPr id="1" name=""/>
        <p:cNvGrpSpPr/>
        <p:nvPr/>
      </p:nvGrpSpPr>
      <p:grpSpPr>
        <a:xfrm/>
      </p:grpSpPr>
      <p:sp>
        <p:nvSpPr>
          <p:cNvPr id="16" name="">
            <a:extLst>
              <a:ext uri="{FF2B5EF4-FFF2-40B4-BE49-F238E27FC236}">
                <ns2:creationId id="{9F0A77F8-F73E-4B0E-B18D-50D80EBE7BEF}"/>
              </a:ext>
            </a:extLst>
          </p:cNvPr>
          <p:cNvSpPr>
            <a:spLocks noGrp="1"/>
          </p:cNvSpPr>
          <p:nvPr/>
        </p:nvSpPr>
        <p:spPr>
          <a:xfrm>
            <a:off x="381000" y="219075"/>
            <a:ext cx="10477500" cy="847725"/>
          </a:xfrm>
          <a:prstGeom prst="rect">
            <a:avLst/>
          </a:prstGeom>
          <a:noFill/>
          <a:ln w="0">
            <a:noFill/>
          </a:ln>
        </p:spPr>
        <p:txBody>
          <a:bodyPr lIns="0" tIns="0" rIns="0" bIns="0">
            <a:noAutofit/>
          </a:bodyPr>
          <a:lstStyle/>
          <a:p>
            <a:pPr algn="l">
              <a:buNone/>
              <a:defRPr sz="2775" b="1">
                <a:solidFill>
                  <a:srgbClr val="080808"/>
                </a:solidFill>
                <a:latin typeface="Arial Black"/>
                <a:ea typeface="Arial Black"/>
                <a:cs typeface="Arial Black"/>
              </a:defRPr>
            </a:pPr>
            <a:r>
              <a:rPr sz="2775" b="1">
                <a:solidFill>
                  <a:srgbClr val="080808"/>
                </a:solidFill>
                <a:latin typeface="Arial Black"/>
                <a:ea typeface="Arial Black"/>
                <a:cs typeface="Arial Black"/>
              </a:rPr>
              <a:t>GridMesh recommends.</a:t>
            </a:r>
          </a:p>
          <a:p>
            <a:pPr algn="l">
              <a:buNone/>
              <a:defRPr sz="2775" b="1">
                <a:solidFill>
                  <a:srgbClr val="080808"/>
                </a:solidFill>
                <a:latin typeface="Arial Black"/>
                <a:ea typeface="Arial Black"/>
                <a:cs typeface="Arial Black"/>
              </a:defRPr>
            </a:pPr>
            <a:r>
              <a:rPr sz="2775" b="1">
                <a:solidFill>
                  <a:srgbClr val="080808"/>
                </a:solidFill>
                <a:latin typeface="Arial Black"/>
                <a:ea typeface="Arial Black"/>
                <a:cs typeface="Arial Black"/>
              </a:rPr>
              <a:t>The local operator decides.</a:t>
            </a:r>
          </a:p>
        </p:txBody>
      </p:sp>
      <p:sp>
        <p:nvSpPr>
          <p:cNvPr id="2" name="">
            <a:extLst>
              <a:ext uri="{FF2B5EF4-FFF2-40B4-BE49-F238E27FC236}">
                <ns2:creationId id="{B310DF02-66EB-4FC1-9687-9CC75DEFF4D2}"/>
              </a:ext>
            </a:extLst>
          </p:cNvPr>
          <p:cNvSpPr>
            <a:spLocks noGrp="1"/>
          </p:cNvSpPr>
          <p:nvPr/>
        </p:nvSpPr>
        <p:spPr>
          <a:xfrm>
            <a:off x="10953750" y="523875"/>
            <a:ext cx="914400" cy="285750"/>
          </a:xfrm>
          <a:prstGeom prst="rect">
            <a:avLst/>
          </a:prstGeom>
          <a:noFill/>
          <a:ln w="0">
            <a:noFill/>
          </a:ln>
        </p:spPr>
        <p:txBody>
          <a:bodyPr lIns="0" tIns="0" rIns="0" bIns="0">
            <a:noAutofit/>
          </a:bodyPr>
          <a:lstStyle/>
          <a:p>
            <a:pPr>
              <a:buNone/>
              <a:defRPr sz="1575" b="1">
                <a:solidFill>
                  <a:srgbClr val="5F5A52"/>
                </a:solidFill>
                <a:latin typeface="Arial"/>
                <a:ea typeface="Arial"/>
                <a:cs typeface="Arial"/>
              </a:defRPr>
            </a:pPr>
            <a:r>
              <a:rPr sz="1575" b="1">
                <a:solidFill>
                  <a:srgbClr val="5F5A52"/>
                </a:solidFill>
                <a:latin typeface="Arial"/>
                <a:ea typeface="Arial"/>
                <a:cs typeface="Arial"/>
              </a:rPr>
              <a:t>05/12</a:t>
            </a:r>
          </a:p>
        </p:txBody>
      </p:sp>
      <p:pic>
        <p:nvPicPr>
          <p:cNvPr id="23" name=""/>
          <p:cNvPicPr>
            <a:picLocks noChangeAspect="1"/>
          </p:cNvPicPr>
          <p:nvPr/>
        </p:nvPicPr>
        <p:blipFill>
          <a:blip r:embed="rIdGridMeshv34ui1_Image5_0"/>
          <a:srcRect l="29688" t="11111" r="7031" b="5139"/>
          <a:stretch>
            <a:fillRect l="0" t="0" r="0" b="0"/>
          </a:stretch>
        </p:blipFill>
        <p:spPr>
          <a:xfrm>
            <a:off x="609600" y="2143125"/>
            <a:ext cx="5715000" cy="4254532"/>
          </a:xfrm>
          <a:prstGeom prst="rect">
            <a:avLst/>
          </a:prstGeom>
        </p:spPr>
      </p:pic>
      <p:pic>
        <p:nvPicPr>
          <p:cNvPr id="24" name=""/>
          <p:cNvPicPr>
            <a:picLocks noChangeAspect="1"/>
          </p:cNvPicPr>
          <p:nvPr/>
        </p:nvPicPr>
        <p:blipFill>
          <a:blip r:embed="rIdGridMeshv34ui1_Image5_1"/>
          <a:srcRect l="29688" t="19444" r="7031" b="42500"/>
          <a:stretch>
            <a:fillRect l="0" t="0" r="0" b="0"/>
          </a:stretch>
        </p:blipFill>
        <p:spPr>
          <a:xfrm>
            <a:off x="6953250" y="2238375"/>
            <a:ext cx="4648200" cy="1572387"/>
          </a:xfrm>
          <a:prstGeom prst="rect">
            <a:avLst/>
          </a:prstGeom>
        </p:spPr>
      </p:pic>
      <p:sp>
        <p:nvSpPr>
          <p:cNvPr id="25" name="Hackathon completion 5 IMPLEMENTED OPERATOR DEMO">
            <a:extLst>
              <a:ext uri="{FF2B5EF4-FFF2-40B4-BE49-F238E27FC236}">
                <ns2:creationId id="{CB0A220C-5053-4776-8D6C-BA70BA6EC9B3}"/>
              </a:ext>
            </a:extLst>
          </p:cNvPr>
          <p:cNvSpPr>
            <a:spLocks noGrp="1"/>
          </p:cNvSpPr>
          <p:nvPr/>
        </p:nvSpPr>
        <p:spPr>
          <a:xfrm>
            <a:off x="609600" y="1190625"/>
            <a:ext cx="10991850" cy="323850"/>
          </a:xfrm>
          <a:prstGeom prst="rect">
            <a:avLst/>
          </a:prstGeom>
          <a:noFill/>
          <a:ln w="0">
            <a:noFill/>
          </a:ln>
        </p:spPr>
        <p:txBody>
          <a:bodyPr lIns="0" tIns="0" rIns="0" bIns="0" anchor="t">
            <a:noAutofit/>
          </a:bodyPr>
          <a:lstStyle/>
          <a:p>
            <a:pPr algn="l"/>
            <a:r>
              <a:rPr sz="2100" b="1">
                <a:solidFill>
                  <a:srgbClr val="174A72"/>
                </a:solidFill>
                <a:latin typeface="Arial"/>
              </a:rPr>
              <a:t>IMPLEMENTED OPERATOR WORKSPACE</a:t>
            </a:r>
            <a:endParaRPr sz="2100"/>
          </a:p>
        </p:txBody>
      </p:sp>
      <p:sp>
        <p:nvSpPr>
          <p:cNvPr id="26" name="Hackathon completion 5 Five scenarios · synthetic 100-home">
            <a:extLst>
              <a:ext uri="{FF2B5EF4-FFF2-40B4-BE49-F238E27FC236}">
                <ns2:creationId id="{2FDB1465-C325-417F-8501-C24BE122DCBA}"/>
              </a:ext>
            </a:extLst>
          </p:cNvPr>
          <p:cNvSpPr>
            <a:spLocks noGrp="1"/>
          </p:cNvSpPr>
          <p:nvPr/>
        </p:nvSpPr>
        <p:spPr>
          <a:xfrm>
            <a:off x="609600" y="1562100"/>
            <a:ext cx="10991850" cy="285750"/>
          </a:xfrm>
          <a:prstGeom prst="rect">
            <a:avLst/>
          </a:prstGeom>
          <a:noFill/>
          <a:ln w="0">
            <a:noFill/>
          </a:ln>
        </p:spPr>
        <p:txBody>
          <a:bodyPr lIns="0" tIns="0" rIns="0" bIns="0" anchor="t">
            <a:noAutofit/>
          </a:bodyPr>
          <a:lstStyle/>
          <a:p>
            <a:pPr algn="l"/>
            <a:r>
              <a:rPr sz="1725" b="0">
                <a:solidFill>
                  <a:srgbClr val="68645E"/>
                </a:solidFill>
                <a:latin typeface="Arial"/>
              </a:rPr>
              <a:t>Five scenarios · synthetic 100-home assumptions · +60-minute advice</a:t>
            </a:r>
            <a:endParaRPr sz="1725"/>
          </a:p>
        </p:txBody>
      </p:sp>
      <p:sp>
        <p:nvSpPr>
          <p:cNvPr id="27" name="Hackathon completion 5 INSUFFICIENT BACKUP">
            <a:extLst>
              <a:ext uri="{FF2B5EF4-FFF2-40B4-BE49-F238E27FC236}">
                <ns2:creationId id="{EA3FFFFE-887D-4BDD-9755-269347F71526}"/>
              </a:ext>
            </a:extLst>
          </p:cNvPr>
          <p:cNvSpPr>
            <a:spLocks noGrp="1"/>
          </p:cNvSpPr>
          <p:nvPr/>
        </p:nvSpPr>
        <p:spPr>
          <a:xfrm>
            <a:off x="609600" y="1905000"/>
            <a:ext cx="5810250" cy="285750"/>
          </a:xfrm>
          <a:prstGeom prst="rect">
            <a:avLst/>
          </a:prstGeom>
          <a:noFill/>
          <a:ln w="0">
            <a:noFill/>
          </a:ln>
        </p:spPr>
        <p:txBody>
          <a:bodyPr lIns="0" tIns="0" rIns="0" bIns="0" anchor="t">
            <a:noAutofit/>
          </a:bodyPr>
          <a:lstStyle/>
          <a:p>
            <a:pPr algn="l"/>
            <a:r>
              <a:rPr sz="1800" b="1">
                <a:solidFill>
                  <a:srgbClr val="174A72"/>
                </a:solidFill>
                <a:latin typeface="Arial"/>
              </a:rPr>
              <a:t>01 FORECAST, RISK + BACKUP ADVICE</a:t>
            </a:r>
            <a:endParaRPr sz="1800"/>
          </a:p>
        </p:txBody>
      </p:sp>
      <p:sp>
        <p:nvSpPr>
          <p:cNvPr id="28" name="Hackathon completion 5 MISSING SOLAR INPUT">
            <a:extLst>
              <a:ext uri="{FF2B5EF4-FFF2-40B4-BE49-F238E27FC236}">
                <ns2:creationId id="{C48B6844-E9E8-491F-97EC-979C8CB695D7}"/>
              </a:ext>
            </a:extLst>
          </p:cNvPr>
          <p:cNvSpPr>
            <a:spLocks noGrp="1"/>
          </p:cNvSpPr>
          <p:nvPr/>
        </p:nvSpPr>
        <p:spPr>
          <a:xfrm>
            <a:off x="6953250" y="1905000"/>
            <a:ext cx="4648200" cy="285750"/>
          </a:xfrm>
          <a:prstGeom prst="rect">
            <a:avLst/>
          </a:prstGeom>
          <a:noFill/>
          <a:ln w="0">
            <a:noFill/>
          </a:ln>
        </p:spPr>
        <p:txBody>
          <a:bodyPr lIns="0" tIns="0" rIns="0" bIns="0" anchor="t">
            <a:noAutofit/>
          </a:bodyPr>
          <a:lstStyle/>
          <a:p>
            <a:pPr algn="l"/>
            <a:r>
              <a:rPr sz="1800" b="1">
                <a:solidFill>
                  <a:srgbClr val="174A72"/>
                </a:solidFill>
                <a:latin typeface="Arial"/>
              </a:rPr>
              <a:t>02 SUPPLY + RESERVE GRAPHS</a:t>
            </a:r>
            <a:endParaRPr sz="1800"/>
          </a:p>
        </p:txBody>
      </p:sp>
      <p:sp>
        <p:nvSpPr>
          <p:cNvPr id="29" name="Hackathon completion 5 Zero backup: daily allowance exhaus">
            <a:extLst>
              <a:ext uri="{FF2B5EF4-FFF2-40B4-BE49-F238E27FC236}">
                <ns2:creationId id="{C4005966-CE03-4B96-A7E7-DBF7F80D0C02}"/>
              </a:ext>
            </a:extLst>
          </p:cNvPr>
          <p:cNvSpPr>
            <a:spLocks noGrp="1"/>
          </p:cNvSpPr>
          <p:nvPr/>
        </p:nvSpPr>
        <p:spPr>
          <a:xfrm>
            <a:off x="6953250" y="3962400"/>
            <a:ext cx="4648200" cy="542925"/>
          </a:xfrm>
          <a:prstGeom prst="rect">
            <a:avLst/>
          </a:prstGeom>
          <a:noFill/>
          <a:ln w="0">
            <a:noFill/>
          </a:ln>
        </p:spPr>
        <p:txBody>
          <a:bodyPr lIns="0" tIns="0" rIns="0" bIns="0" anchor="t">
            <a:noAutofit/>
          </a:bodyPr>
          <a:lstStyle/>
          <a:p>
            <a:pPr algn="l"/>
            <a:r>
              <a:rPr sz="1725" b="1">
                <a:solidFill>
                  <a:srgbClr val="080808"/>
                </a:solidFill>
                <a:latin typeface="Arial"/>
              </a:rPr>
              <a:t>Demand exceeds solar + grid.</a:t>
            </a:r>
            <a:endParaRPr sz="1725"/>
          </a:p>
          <a:p>
            <a:pPr algn="l"/>
            <a:r>
              <a:rPr sz="1725" b="1">
                <a:solidFill>
                  <a:srgbClr val="080808"/>
                </a:solidFill>
                <a:latin typeface="Arial"/>
              </a:rPr>
              <a:t>Uncovered reserve stays visible.</a:t>
            </a:r>
            <a:endParaRPr sz="1725"/>
          </a:p>
        </p:txBody>
      </p:sp>
      <p:sp>
        <p:nvSpPr>
          <p:cNvPr id="30" name="Hackathon completion 5 Zero solar is a planning bound.&#10;Ref">
            <a:extLst>
              <a:ext uri="{FF2B5EF4-FFF2-40B4-BE49-F238E27FC236}">
                <ns2:creationId id="{166D861E-3B0E-420D-BD8A-A3465BDA5101}"/>
              </a:ext>
            </a:extLst>
          </p:cNvPr>
          <p:cNvSpPr>
            <a:spLocks noGrp="1"/>
          </p:cNvSpPr>
          <p:nvPr/>
        </p:nvSpPr>
        <p:spPr>
          <a:xfrm>
            <a:off x="6953250" y="4591050"/>
            <a:ext cx="4648200" cy="266700"/>
          </a:xfrm>
          <a:prstGeom prst="rect">
            <a:avLst/>
          </a:prstGeom>
          <a:noFill/>
          <a:ln w="0">
            <a:noFill/>
          </a:ln>
        </p:spPr>
        <p:txBody>
          <a:bodyPr lIns="0" tIns="0" rIns="0" bIns="0" anchor="t">
            <a:noAutofit/>
          </a:bodyPr>
          <a:lstStyle/>
          <a:p>
            <a:pPr algn="l"/>
            <a:r>
              <a:rPr sz="1725" b="1">
                <a:solidFill>
                  <a:srgbClr val="174A72"/>
                </a:solidFill>
                <a:latin typeface="Arial"/>
              </a:rPr>
              <a:t>03 BACKUP-ENERGY BUDGET</a:t>
            </a:r>
            <a:endParaRPr sz="1725"/>
          </a:p>
        </p:txBody>
      </p:sp>
      <p:sp>
        <p:nvSpPr>
          <p:cNvPr id="31" name="Hackathon completion 5 Forecast / freshness → gap → limite">
            <a:extLst>
              <a:ext uri="{FF2B5EF4-FFF2-40B4-BE49-F238E27FC236}">
                <ns2:creationId id="{8FED8B17-8C18-4992-8E3F-45C46A95FCAA}"/>
              </a:ext>
            </a:extLst>
          </p:cNvPr>
          <p:cNvSpPr>
            <a:spLocks noGrp="1"/>
          </p:cNvSpPr>
          <p:nvPr/>
        </p:nvSpPr>
        <p:spPr>
          <a:xfrm>
            <a:off x="6953250" y="6257925"/>
            <a:ext cx="4648200" cy="257175"/>
          </a:xfrm>
          <a:prstGeom prst="rect">
            <a:avLst/>
          </a:prstGeom>
          <a:noFill/>
          <a:ln w="0">
            <a:noFill/>
          </a:ln>
        </p:spPr>
        <p:txBody>
          <a:bodyPr lIns="0" tIns="0" rIns="0" bIns="0" anchor="t">
            <a:noAutofit/>
          </a:bodyPr>
          <a:lstStyle/>
          <a:p>
            <a:pPr algn="l"/>
            <a:r>
              <a:rPr sz="1575" b="0">
                <a:solidFill>
                  <a:srgbClr val="68645E"/>
                </a:solidFill>
                <a:latin typeface="Arial"/>
              </a:rPr>
              <a:t>Assumed budget, not battery charge.</a:t>
            </a:r>
            <a:endParaRPr sz="1575"/>
          </a:p>
        </p:txBody>
      </p:sp>
      <p:sp>
        <p:nvSpPr>
          <p:cNvPr id="34" name="Hackathon completion 5 Synthetic replay and advice only. N">
            <a:extLst>
              <a:ext uri="{FF2B5EF4-FFF2-40B4-BE49-F238E27FC236}">
                <ns2:creationId id="{7003C743-E16F-4859-A8AC-2EEB881BF090}"/>
              </a:ext>
            </a:extLst>
          </p:cNvPr>
          <p:cNvSpPr>
            <a:spLocks noGrp="1"/>
          </p:cNvSpPr>
          <p:nvPr/>
        </p:nvSpPr>
        <p:spPr>
          <a:xfrm>
            <a:off x="609600" y="6638925"/>
            <a:ext cx="10991850" cy="209550"/>
          </a:xfrm>
          <a:prstGeom prst="rect">
            <a:avLst/>
          </a:prstGeom>
          <a:noFill/>
          <a:ln w="0">
            <a:noFill/>
          </a:ln>
        </p:spPr>
        <p:txBody>
          <a:bodyPr lIns="0" tIns="0" rIns="0" bIns="0" anchor="t">
            <a:noAutofit/>
          </a:bodyPr>
          <a:lstStyle/>
          <a:p>
            <a:pPr algn="l"/>
            <a:r>
              <a:rPr sz="1350" b="0">
                <a:solidFill>
                  <a:srgbClr val="68645E"/>
                </a:solidFill>
                <a:latin typeface="Arial"/>
              </a:rPr>
              <a:t>Synthetic replay and advice only. No equipment commands or field reliability claim.</a:t>
            </a:r>
            <a:endParaRPr sz="1350"/>
          </a:p>
        </p:txBody>
      </p:sp>
      <p:pic>
        <p:nvPicPr>
          <p:cNvPr id="35" name="Complete UI v34 1 energy budget screenshot"/>
          <p:cNvPicPr>
            <a:picLocks noChangeAspect="1"/>
          </p:cNvPicPr>
          <p:nvPr/>
        </p:nvPicPr>
        <p:blipFill>
          <a:blip r:embed="rIdGridMeshv34ui1_Added35"/>
          <a:srcRect l="29688" t="45214" r="7031" b="22842"/>
          <a:stretch>
            <a:fillRect l="0" t="0" r="0" b="0"/>
          </a:stretch>
        </p:blipFill>
        <p:spPr>
          <a:xfrm>
            <a:off x="6953250" y="4905375"/>
            <a:ext cx="4648200" cy="1319879"/>
          </a:xfrm>
          <a:prstGeom prst="rect">
            <a:avLst/>
          </a:prstGeom>
        </p:spPr>
      </p:pic>
    </p:spTree>
    <p:extLst>
      <p:ext uri="{BB962C8B-B14F-4D97-AF65-F5344CB8AC3E}">
        <ns4:creationId val="136875345"/>
      </p:ext>
    </p:extLst>
  </p:cSld>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4EFE6"/>
        </a:solidFill>
      </p:bgPr>
    </p:bg>
    <p:spTree>
      <p:nvGrpSpPr>
        <p:cNvPr id="1" name=""/>
        <p:cNvGrpSpPr/>
        <p:nvPr/>
      </p:nvGrpSpPr>
      <p:grpSpPr>
        <a:xfrm/>
      </p:grpSpPr>
      <p:sp>
        <p:nvSpPr>
          <p:cNvPr id="34" name="">
            <a:extLst>
              <a:ext uri="{FF2B5EF4-FFF2-40B4-BE49-F238E27FC236}">
                <ns2:creationId id="{768EBF50-A9C7-4C72-A121-E4DC682A40A1}"/>
              </a:ext>
            </a:extLst>
          </p:cNvPr>
          <p:cNvSpPr>
            <a:spLocks noGrp="1"/>
          </p:cNvSpPr>
          <p:nvPr/>
        </p:nvSpPr>
        <p:spPr>
          <a:xfrm>
            <a:off x="609600" y="495300"/>
            <a:ext cx="10096500" cy="1000125"/>
          </a:xfrm>
          <a:prstGeom prst="rect">
            <a:avLst/>
          </a:prstGeom>
          <a:noFill/>
          <a:ln w="0">
            <a:noFill/>
          </a:ln>
        </p:spPr>
        <p:txBody>
          <a:bodyPr lIns="0" tIns="0" rIns="0" bIns="0">
            <a:noAutofit/>
          </a:bodyPr>
          <a:lstStyle/>
          <a:p>
            <a:pPr>
              <a:buNone/>
              <a:defRPr sz="3000" b="1">
                <a:solidFill>
                  <a:srgbClr val="080808"/>
                </a:solidFill>
                <a:latin typeface="Arial Black"/>
                <a:ea typeface="Arial Black"/>
                <a:cs typeface="Arial Black"/>
              </a:defRPr>
            </a:pPr>
            <a:r>
              <a:rPr sz="3000" b="1">
                <a:solidFill>
                  <a:srgbClr val="080808"/>
                </a:solidFill>
                <a:latin typeface="Arial Black"/>
                <a:ea typeface="Arial Black"/>
                <a:cs typeface="Arial Black"/>
              </a:rPr>
              <a:t>Federated learning gave lower forecast error</a:t>
            </a:r>
          </a:p>
        </p:txBody>
      </p:sp>
      <p:sp>
        <p:nvSpPr>
          <p:cNvPr id="2" name="">
            <a:extLst>
              <a:ext uri="{FF2B5EF4-FFF2-40B4-BE49-F238E27FC236}">
                <ns2:creationId id="{ED757111-9DA9-40C1-AA03-06D558D39C94}"/>
              </a:ext>
            </a:extLst>
          </p:cNvPr>
          <p:cNvSpPr>
            <a:spLocks noGrp="1"/>
          </p:cNvSpPr>
          <p:nvPr/>
        </p:nvSpPr>
        <p:spPr>
          <a:xfrm>
            <a:off x="10953750" y="523875"/>
            <a:ext cx="914400" cy="285750"/>
          </a:xfrm>
          <a:prstGeom prst="rect">
            <a:avLst/>
          </a:prstGeom>
          <a:noFill/>
          <a:ln w="0">
            <a:noFill/>
          </a:ln>
        </p:spPr>
        <p:txBody>
          <a:bodyPr lIns="0" tIns="0" rIns="0" bIns="0">
            <a:noAutofit/>
          </a:bodyPr>
          <a:lstStyle/>
          <a:p>
            <a:pPr>
              <a:buNone/>
              <a:defRPr sz="1575" b="1">
                <a:solidFill>
                  <a:srgbClr val="5F5A52"/>
                </a:solidFill>
                <a:latin typeface="Arial"/>
                <a:ea typeface="Arial"/>
                <a:cs typeface="Arial"/>
              </a:defRPr>
            </a:pPr>
            <a:r>
              <a:rPr sz="1575" b="1">
                <a:solidFill>
                  <a:srgbClr val="5F5A52"/>
                </a:solidFill>
                <a:latin typeface="Arial"/>
                <a:ea typeface="Arial"/>
                <a:cs typeface="Arial"/>
              </a:rPr>
              <a:t>06/12</a:t>
            </a:r>
          </a:p>
        </p:txBody>
      </p:sp>
      <p:sp>
        <p:nvSpPr>
          <p:cNvPr id="35" name="Chronological submission 6 CURRENT INDIA / CHRONOLOGICAL EXPER">
            <a:extLst>
              <a:ext uri="{FF2B5EF4-FFF2-40B4-BE49-F238E27FC236}">
                <ns2:creationId id="{275CE161-3E5F-489A-A5C9-ECE947F569CC}"/>
              </a:ext>
            </a:extLst>
          </p:cNvPr>
          <p:cNvSpPr>
            <a:spLocks noGrp="1"/>
          </p:cNvSpPr>
          <p:nvPr/>
        </p:nvSpPr>
        <p:spPr>
          <a:xfrm>
            <a:off x="609600" y="1152525"/>
            <a:ext cx="10991850" cy="304800"/>
          </a:xfrm>
          <a:prstGeom prst="rect">
            <a:avLst/>
          </a:prstGeom>
          <a:noFill/>
          <a:ln w="0">
            <a:noFill/>
          </a:ln>
        </p:spPr>
        <p:txBody>
          <a:bodyPr lIns="0" tIns="0" rIns="0" bIns="0">
            <a:noAutofit/>
          </a:bodyPr>
          <a:lstStyle/>
          <a:p>
            <a:pPr algn="l">
              <a:defRPr sz="1950" b="1">
                <a:solidFill>
                  <a:srgbClr val="174A72"/>
                </a:solidFill>
                <a:latin typeface="Arial"/>
                <a:ea typeface="Arial"/>
                <a:cs typeface="Arial"/>
              </a:defRPr>
            </a:pPr>
            <a:r>
              <a:rPr sz="1950" b="1">
                <a:solidFill>
                  <a:srgbClr val="174A72"/>
                </a:solidFill>
                <a:latin typeface="Arial"/>
                <a:ea typeface="Arial"/>
                <a:cs typeface="Arial"/>
              </a:rPr>
              <a:t>LOWER ERROR IN THIS SIMULATED EXPERIMENT</a:t>
            </a:r>
          </a:p>
        </p:txBody>
      </p:sp>
      <p:sp>
        <p:nvSpPr>
          <p:cNvPr id="36" name="Chronological submission 6 2024 Bengaluru · 100 virtual sites ">
            <a:extLst>
              <a:ext uri="{FF2B5EF4-FFF2-40B4-BE49-F238E27FC236}">
                <ns2:creationId id="{0DC646DC-BA47-410D-B2F0-02073D227EA2}"/>
              </a:ext>
            </a:extLst>
          </p:cNvPr>
          <p:cNvSpPr>
            <a:spLocks noGrp="1"/>
          </p:cNvSpPr>
          <p:nvPr/>
        </p:nvSpPr>
        <p:spPr>
          <a:xfrm>
            <a:off x="609600" y="1562100"/>
            <a:ext cx="10991850" cy="333375"/>
          </a:xfrm>
          <a:prstGeom prst="rect">
            <a:avLst/>
          </a:prstGeom>
          <a:noFill/>
          <a:ln w="0">
            <a:noFill/>
          </a:ln>
        </p:spPr>
        <p:txBody>
          <a:bodyPr lIns="0" tIns="0" rIns="0" bIns="0">
            <a:noAutofit/>
          </a:bodyPr>
          <a:lstStyle/>
          <a:p>
            <a:pPr algn="l">
              <a:defRPr sz="2100" b="1">
                <a:solidFill>
                  <a:srgbClr val="174A72"/>
                </a:solidFill>
                <a:latin typeface="Arial"/>
                <a:ea typeface="Arial"/>
                <a:cs typeface="Arial"/>
              </a:defRPr>
            </a:pPr>
            <a:r>
              <a:rPr sz="2100" b="1">
                <a:solidFill>
                  <a:srgbClr val="174A72"/>
                </a:solidFill>
                <a:latin typeface="Arial"/>
                <a:ea typeface="Arial"/>
                <a:cs typeface="Arial"/>
              </a:rPr>
              <a:t>2024 Bengaluru weather, 100 simulated sites, one-hour forecast</a:t>
            </a:r>
          </a:p>
        </p:txBody>
      </p:sp>
      <p:sp>
        <p:nvSpPr>
          <p:cNvPr id="37" name="Chronological submission 6 5-seed mean daytime RMSE (% of inst">
            <a:extLst>
              <a:ext uri="{FF2B5EF4-FFF2-40B4-BE49-F238E27FC236}">
                <ns2:creationId id="{73CBAD49-6F2A-465D-BFA5-F55CA5E710B9}"/>
              </a:ext>
            </a:extLst>
          </p:cNvPr>
          <p:cNvSpPr>
            <a:spLocks noGrp="1"/>
          </p:cNvSpPr>
          <p:nvPr/>
        </p:nvSpPr>
        <p:spPr>
          <a:xfrm>
            <a:off x="609600" y="2000250"/>
            <a:ext cx="10991850" cy="323850"/>
          </a:xfrm>
          <a:prstGeom prst="rect">
            <a:avLst/>
          </a:prstGeom>
          <a:noFill/>
          <a:ln w="0">
            <a:noFill/>
          </a:ln>
        </p:spPr>
        <p:txBody>
          <a:bodyPr lIns="0" tIns="0" rIns="0" bIns="0" anchor="t">
            <a:noAutofit/>
          </a:bodyPr>
          <a:lstStyle/>
          <a:p>
            <a:pPr algn="l"/>
            <a:r>
              <a:rPr sz="1950" b="0">
                <a:solidFill>
                  <a:srgbClr val="68645E"/>
                </a:solidFill>
                <a:latin typeface="Arial"/>
              </a:rPr>
              <a:t>Daytime forecast error (RMSE), averaged across 5 runs. Shorter bars are better.</a:t>
            </a:r>
            <a:endParaRPr sz="1950"/>
          </a:p>
        </p:txBody>
      </p:sp>
      <p:sp>
        <p:nvSpPr>
          <p:cNvPr id="38" name="Chronological submission 6 Reliability-weighted FedAvg is used">
            <a:extLst>
              <a:ext uri="{FF2B5EF4-FFF2-40B4-BE49-F238E27FC236}">
                <ns2:creationId id="{3F19DCC4-86AF-4A05-8C21-0B1DFF1F22A3}"/>
              </a:ext>
            </a:extLst>
          </p:cNvPr>
          <p:cNvSpPr>
            <a:spLocks noGrp="1"/>
          </p:cNvSpPr>
          <p:nvPr/>
        </p:nvSpPr>
        <p:spPr>
          <a:xfrm>
            <a:off x="609600" y="5334000"/>
            <a:ext cx="10991850" cy="323850"/>
          </a:xfrm>
          <a:prstGeom prst="rect">
            <a:avLst/>
          </a:prstGeom>
          <a:noFill/>
          <a:ln w="0">
            <a:noFill/>
          </a:ln>
        </p:spPr>
        <p:txBody>
          <a:bodyPr lIns="0" tIns="0" rIns="0" bIns="0">
            <a:noAutofit/>
          </a:bodyPr>
          <a:lstStyle/>
          <a:p>
            <a:pPr algn="l">
              <a:defRPr sz="2100" b="1">
                <a:solidFill>
                  <a:srgbClr val="174A72"/>
                </a:solidFill>
                <a:latin typeface="Arial"/>
                <a:ea typeface="Arial"/>
                <a:cs typeface="Arial"/>
              </a:defRPr>
            </a:pPr>
            <a:r>
              <a:rPr sz="2100" b="1">
                <a:solidFill>
                  <a:srgbClr val="174A72"/>
                </a:solidFill>
                <a:latin typeface="Arial"/>
                <a:ea typeface="Arial"/>
                <a:cs typeface="Arial"/>
              </a:rPr>
              <a:t>About 18% lower error than learning at each site alone.</a:t>
            </a:r>
          </a:p>
        </p:txBody>
      </p:sp>
      <p:sp>
        <p:nvSpPr>
          <p:cNvPr id="39" name="Chronological submission 6 Federated forecasts have lower mean">
            <a:extLst>
              <a:ext uri="{FF2B5EF4-FFF2-40B4-BE49-F238E27FC236}">
                <ns2:creationId id="{9C7F8A5F-D3D6-4B13-B7F4-58194E781CFE}"/>
              </a:ext>
            </a:extLst>
          </p:cNvPr>
          <p:cNvSpPr>
            <a:spLocks noGrp="1"/>
          </p:cNvSpPr>
          <p:nvPr/>
        </p:nvSpPr>
        <p:spPr>
          <a:xfrm>
            <a:off x="609600" y="5781675"/>
            <a:ext cx="10991850" cy="647700"/>
          </a:xfrm>
          <a:prstGeom prst="rect">
            <a:avLst/>
          </a:prstGeom>
          <a:noFill/>
          <a:ln w="0">
            <a:noFill/>
          </a:ln>
        </p:spPr>
        <p:txBody>
          <a:bodyPr lIns="0" tIns="0" rIns="0" bIns="0">
            <a:noAutofit/>
          </a:bodyPr>
          <a:lstStyle/>
          <a:p>
            <a:pPr algn="l">
              <a:defRPr sz="1800" b="1">
                <a:solidFill>
                  <a:srgbClr val="080808"/>
                </a:solidFill>
                <a:latin typeface="Arial"/>
                <a:ea typeface="Arial"/>
                <a:cs typeface="Arial"/>
              </a:defRPr>
            </a:pPr>
            <a:r>
              <a:rPr sz="1800" b="1">
                <a:solidFill>
                  <a:srgbClr val="080808"/>
                </a:solidFill>
                <a:latin typeface="Arial"/>
                <a:ea typeface="Arial"/>
                <a:cs typeface="Arial"/>
              </a:rPr>
              <a:t>FedAvg: 6.22% error vs local-only: 7.58%.</a:t>
            </a:r>
          </a:p>
          <a:p>
            <a:pPr algn="l">
              <a:defRPr sz="1800" b="1">
                <a:solidFill>
                  <a:srgbClr val="080808"/>
                </a:solidFill>
                <a:latin typeface="Arial"/>
                <a:ea typeface="Arial"/>
                <a:cs typeface="Arial"/>
              </a:defRPr>
            </a:pPr>
            <a:r>
              <a:rPr sz="1800" b="1">
                <a:solidFill>
                  <a:srgbClr val="080808"/>
                </a:solidFill>
                <a:latin typeface="Arial"/>
                <a:ea typeface="Arial"/>
                <a:cs typeface="Arial"/>
              </a:rPr>
              <a:t>Weighted averaging performed almost equally (6.23%).</a:t>
            </a:r>
          </a:p>
        </p:txBody>
      </p:sp>
      <p:sp>
        <p:nvSpPr>
          <p:cNvPr id="40" name="Chronological submission 6 Training budgets differ; virtual si">
            <a:extLst>
              <a:ext uri="{FF2B5EF4-FFF2-40B4-BE49-F238E27FC236}">
                <ns2:creationId id="{4B7482A1-1222-401C-AE14-9A504AC4DD0C}"/>
              </a:ext>
            </a:extLst>
          </p:cNvPr>
          <p:cNvSpPr>
            <a:spLocks noGrp="1"/>
          </p:cNvSpPr>
          <p:nvPr/>
        </p:nvSpPr>
        <p:spPr>
          <a:xfrm>
            <a:off x="609600" y="6473952"/>
            <a:ext cx="10991850" cy="347472"/>
          </a:xfrm>
          <a:prstGeom prst="rect">
            <a:avLst/>
          </a:prstGeom>
          <a:noFill/>
          <a:ln w="0">
            <a:noFill/>
          </a:ln>
        </p:spPr>
        <p:txBody>
          <a:bodyPr lIns="0" tIns="0" rIns="0" bIns="0">
            <a:noAutofit/>
          </a:bodyPr>
          <a:lstStyle/>
          <a:p>
            <a:pPr algn="l">
              <a:defRPr sz="1200" b="0">
                <a:solidFill>
                  <a:srgbClr val="68645E"/>
                </a:solidFill>
                <a:latin typeface="Arial"/>
                <a:ea typeface="Arial"/>
                <a:cs typeface="Arial"/>
              </a:defRPr>
            </a:pPr>
            <a:r>
              <a:rPr sz="1200" b="0">
                <a:solidFill>
                  <a:srgbClr val="68645E"/>
                </a:solidFill>
                <a:latin typeface="Arial"/>
                <a:ea typeface="Arial"/>
                <a:cs typeface="Arial"/>
              </a:rPr>
              <a:t>RMSE = forecast error as % of solar capacity. Training budgets differ.</a:t>
            </a:r>
          </a:p>
          <a:p>
            <a:pPr algn="l">
              <a:defRPr sz="1200" b="0">
                <a:solidFill>
                  <a:srgbClr val="68645E"/>
                </a:solidFill>
                <a:latin typeface="Arial"/>
                <a:ea typeface="Arial"/>
                <a:cs typeface="Arial"/>
              </a:defRPr>
            </a:pPr>
            <a:r>
              <a:rPr sz="1200" b="0">
                <a:solidFill>
                  <a:srgbClr val="68645E"/>
                </a:solidFill>
                <a:latin typeface="Arial"/>
                <a:ea typeface="Arial"/>
                <a:cs typeface="Arial"/>
              </a:rPr>
              <a:t>Simulated sites and modelled solar; results do not establish field performance.</a:t>
            </a:r>
          </a:p>
        </p:txBody>
      </p:sp>
      <p:sp>
        <p:nvSpPr>
          <p:cNvPr id="100" name="Chart label 100">
            <a:extLst>
              <a:ext uri="{FF2B5EF4-FFF2-40B4-BE49-F238E27FC236}">
                <ns2:creationId id="{0DC646DC-BA47-410D-B2F0-02073D227EA2}"/>
              </a:ext>
            </a:extLst>
          </p:cNvPr>
          <p:cNvSpPr>
            <a:spLocks noGrp="1"/>
          </p:cNvSpPr>
          <p:nvPr/>
        </p:nvSpPr>
        <p:spPr>
          <a:xfrm>
            <a:off x="612648" y="2542032"/>
            <a:ext cx="3429000" cy="365760"/>
          </a:xfrm>
          <a:prstGeom prst="rect">
            <a:avLst/>
          </a:prstGeom>
          <a:noFill/>
          <a:ln w="0">
            <a:noFill/>
          </a:ln>
        </p:spPr>
        <p:txBody>
          <a:bodyPr lIns="0" tIns="0" rIns="0" bIns="0">
            <a:noAutofit/>
          </a:bodyPr>
          <a:lstStyle/>
          <a:p>
            <a:pPr algn="l">
              <a:defRPr sz="1700" b="1">
                <a:solidFill>
                  <a:srgbClr val="194F73"/>
                </a:solidFill>
                <a:latin typeface="Arial"/>
                <a:ea typeface="Arial"/>
                <a:cs typeface="Arial"/>
              </a:defRPr>
            </a:pPr>
            <a:r>
              <a:rPr sz="1700" b="1">
                <a:solidFill>
                  <a:srgbClr val="194F73"/>
                </a:solidFill>
                <a:latin typeface="Arial"/>
                <a:ea typeface="Arial"/>
                <a:cs typeface="Arial"/>
              </a:rPr>
              <a:t>Federated learning (FedAvg)</a:t>
            </a:r>
          </a:p>
        </p:txBody>
      </p:sp>
      <p:sp>
        <p:nvSpPr>
          <p:cNvPr id="110" name="Error bar 6.22%"/>
          <p:cNvSpPr/>
          <p:nvPr/>
        </p:nvSpPr>
        <p:spPr>
          <a:xfrm>
            <a:off x="4233672" y="2578608"/>
            <a:ext cx="3514917" cy="274320"/>
          </a:xfrm>
          <a:prstGeom prst="rect">
            <a:avLst/>
          </a:prstGeom>
          <a:solidFill>
            <a:srgbClr val="194F73"/>
          </a:solidFill>
          <a:ln>
            <a:noFill/>
          </a:ln>
        </p:spPr>
      </p:sp>
      <p:sp>
        <p:nvSpPr>
          <p:cNvPr id="120" name="Chart label 120">
            <a:extLst>
              <a:ext uri="{FF2B5EF4-FFF2-40B4-BE49-F238E27FC236}">
                <ns2:creationId id="{0DC646DC-BA47-410D-B2F0-02073D227EA2}"/>
              </a:ext>
            </a:extLst>
          </p:cNvPr>
          <p:cNvSpPr>
            <a:spLocks noGrp="1"/>
          </p:cNvSpPr>
          <p:nvPr/>
        </p:nvSpPr>
        <p:spPr>
          <a:xfrm>
            <a:off x="7858317" y="2542032"/>
            <a:ext cx="868680" cy="365760"/>
          </a:xfrm>
          <a:prstGeom prst="rect">
            <a:avLst/>
          </a:prstGeom>
          <a:noFill/>
          <a:ln w="0">
            <a:noFill/>
          </a:ln>
        </p:spPr>
        <p:txBody>
          <a:bodyPr lIns="0" tIns="0" rIns="0" bIns="0">
            <a:noAutofit/>
          </a:bodyPr>
          <a:lstStyle/>
          <a:p>
            <a:pPr algn="l">
              <a:defRPr sz="1800" b="1">
                <a:solidFill>
                  <a:srgbClr val="194F73"/>
                </a:solidFill>
                <a:latin typeface="Arial"/>
                <a:ea typeface="Arial"/>
                <a:cs typeface="Arial"/>
              </a:defRPr>
            </a:pPr>
            <a:r>
              <a:rPr sz="1800" b="1">
                <a:solidFill>
                  <a:srgbClr val="194F73"/>
                </a:solidFill>
                <a:latin typeface="Arial"/>
                <a:ea typeface="Arial"/>
                <a:cs typeface="Arial"/>
              </a:rPr>
              <a:t>6.22%</a:t>
            </a:r>
          </a:p>
        </p:txBody>
      </p:sp>
      <p:sp>
        <p:nvSpPr>
          <p:cNvPr id="101" name="Chart label 101">
            <a:extLst>
              <a:ext uri="{FF2B5EF4-FFF2-40B4-BE49-F238E27FC236}">
                <ns2:creationId id="{0DC646DC-BA47-410D-B2F0-02073D227EA2}"/>
              </a:ext>
            </a:extLst>
          </p:cNvPr>
          <p:cNvSpPr>
            <a:spLocks noGrp="1"/>
          </p:cNvSpPr>
          <p:nvPr/>
        </p:nvSpPr>
        <p:spPr>
          <a:xfrm>
            <a:off x="612648" y="3072384"/>
            <a:ext cx="3429000" cy="365760"/>
          </a:xfrm>
          <a:prstGeom prst="rect">
            <a:avLst/>
          </a:prstGeom>
          <a:noFill/>
          <a:ln w="0">
            <a:noFill/>
          </a:ln>
        </p:spPr>
        <p:txBody>
          <a:bodyPr lIns="0" tIns="0" rIns="0" bIns="0">
            <a:noAutofit/>
          </a:bodyPr>
          <a:lstStyle/>
          <a:p>
            <a:pPr algn="l">
              <a:defRPr sz="1700" b="1">
                <a:solidFill>
                  <a:srgbClr val="194F73"/>
                </a:solidFill>
                <a:latin typeface="Arial"/>
                <a:ea typeface="Arial"/>
                <a:cs typeface="Arial"/>
              </a:defRPr>
            </a:pPr>
            <a:r>
              <a:rPr sz="1700" b="1">
                <a:solidFill>
                  <a:srgbClr val="194F73"/>
                </a:solidFill>
                <a:latin typeface="Arial"/>
                <a:ea typeface="Arial"/>
                <a:cs typeface="Arial"/>
              </a:rPr>
              <a:t>Federated learning (weighted)</a:t>
            </a:r>
          </a:p>
        </p:txBody>
      </p:sp>
      <p:sp>
        <p:nvSpPr>
          <p:cNvPr id="111" name="Error bar 6.23%"/>
          <p:cNvSpPr/>
          <p:nvPr/>
        </p:nvSpPr>
        <p:spPr>
          <a:xfrm>
            <a:off x="4233672" y="3108960"/>
            <a:ext cx="3520568" cy="274320"/>
          </a:xfrm>
          <a:prstGeom prst="rect">
            <a:avLst/>
          </a:prstGeom>
          <a:solidFill>
            <a:srgbClr val="194F73"/>
          </a:solidFill>
          <a:ln>
            <a:noFill/>
          </a:ln>
        </p:spPr>
      </p:sp>
      <p:sp>
        <p:nvSpPr>
          <p:cNvPr id="121" name="Chart label 121">
            <a:extLst>
              <a:ext uri="{FF2B5EF4-FFF2-40B4-BE49-F238E27FC236}">
                <ns2:creationId id="{0DC646DC-BA47-410D-B2F0-02073D227EA2}"/>
              </a:ext>
            </a:extLst>
          </p:cNvPr>
          <p:cNvSpPr>
            <a:spLocks noGrp="1"/>
          </p:cNvSpPr>
          <p:nvPr/>
        </p:nvSpPr>
        <p:spPr>
          <a:xfrm>
            <a:off x="7863968" y="3072384"/>
            <a:ext cx="868680" cy="365760"/>
          </a:xfrm>
          <a:prstGeom prst="rect">
            <a:avLst/>
          </a:prstGeom>
          <a:noFill/>
          <a:ln w="0">
            <a:noFill/>
          </a:ln>
        </p:spPr>
        <p:txBody>
          <a:bodyPr lIns="0" tIns="0" rIns="0" bIns="0">
            <a:noAutofit/>
          </a:bodyPr>
          <a:lstStyle/>
          <a:p>
            <a:pPr algn="l">
              <a:defRPr sz="1800" b="1">
                <a:solidFill>
                  <a:srgbClr val="194F73"/>
                </a:solidFill>
                <a:latin typeface="Arial"/>
                <a:ea typeface="Arial"/>
                <a:cs typeface="Arial"/>
              </a:defRPr>
            </a:pPr>
            <a:r>
              <a:rPr sz="1800" b="1">
                <a:solidFill>
                  <a:srgbClr val="194F73"/>
                </a:solidFill>
                <a:latin typeface="Arial"/>
                <a:ea typeface="Arial"/>
                <a:cs typeface="Arial"/>
              </a:rPr>
              <a:t>6.23%</a:t>
            </a:r>
          </a:p>
        </p:txBody>
      </p:sp>
      <p:sp>
        <p:nvSpPr>
          <p:cNvPr id="102" name="Chart label 102">
            <a:extLst>
              <a:ext uri="{FF2B5EF4-FFF2-40B4-BE49-F238E27FC236}">
                <ns2:creationId id="{0DC646DC-BA47-410D-B2F0-02073D227EA2}"/>
              </a:ext>
            </a:extLst>
          </p:cNvPr>
          <p:cNvSpPr>
            <a:spLocks noGrp="1"/>
          </p:cNvSpPr>
          <p:nvPr/>
        </p:nvSpPr>
        <p:spPr>
          <a:xfrm>
            <a:off x="612648" y="3602736"/>
            <a:ext cx="3429000" cy="365760"/>
          </a:xfrm>
          <a:prstGeom prst="rect">
            <a:avLst/>
          </a:prstGeom>
          <a:noFill/>
          <a:ln w="0">
            <a:noFill/>
          </a:ln>
        </p:spPr>
        <p:txBody>
          <a:bodyPr lIns="0" tIns="0" rIns="0" bIns="0">
            <a:noAutofit/>
          </a:bodyPr>
          <a:lstStyle/>
          <a:p>
            <a:pPr algn="l">
              <a:defRPr sz="1700" b="0">
                <a:solidFill>
                  <a:srgbClr val="333333"/>
                </a:solidFill>
                <a:latin typeface="Arial"/>
                <a:ea typeface="Arial"/>
                <a:cs typeface="Arial"/>
              </a:defRPr>
            </a:pPr>
            <a:r>
              <a:rPr sz="1700" b="0">
                <a:solidFill>
                  <a:srgbClr val="333333"/>
                </a:solidFill>
                <a:latin typeface="Arial"/>
                <a:ea typeface="Arial"/>
                <a:cs typeface="Arial"/>
              </a:rPr>
              <a:t>Sunlight-adjusted estimate</a:t>
            </a:r>
          </a:p>
        </p:txBody>
      </p:sp>
      <p:sp>
        <p:nvSpPr>
          <p:cNvPr id="112" name="Error bar 6.97%"/>
          <p:cNvSpPr/>
          <p:nvPr/>
        </p:nvSpPr>
        <p:spPr>
          <a:xfrm>
            <a:off x="4233672" y="3639312"/>
            <a:ext cx="3938741" cy="274320"/>
          </a:xfrm>
          <a:prstGeom prst="rect">
            <a:avLst/>
          </a:prstGeom>
          <a:solidFill>
            <a:srgbClr val="B8B1A5"/>
          </a:solidFill>
          <a:ln>
            <a:noFill/>
          </a:ln>
        </p:spPr>
      </p:sp>
      <p:sp>
        <p:nvSpPr>
          <p:cNvPr id="122" name="Chart label 122">
            <a:extLst>
              <a:ext uri="{FF2B5EF4-FFF2-40B4-BE49-F238E27FC236}">
                <ns2:creationId id="{0DC646DC-BA47-410D-B2F0-02073D227EA2}"/>
              </a:ext>
            </a:extLst>
          </p:cNvPr>
          <p:cNvSpPr>
            <a:spLocks noGrp="1"/>
          </p:cNvSpPr>
          <p:nvPr/>
        </p:nvSpPr>
        <p:spPr>
          <a:xfrm>
            <a:off x="8282141" y="3602736"/>
            <a:ext cx="868680" cy="365760"/>
          </a:xfrm>
          <a:prstGeom prst="rect">
            <a:avLst/>
          </a:prstGeom>
          <a:noFill/>
          <a:ln w="0">
            <a:noFill/>
          </a:ln>
        </p:spPr>
        <p:txBody>
          <a:bodyPr lIns="0" tIns="0" rIns="0" bIns="0">
            <a:noAutofit/>
          </a:bodyPr>
          <a:lstStyle/>
          <a:p>
            <a:pPr algn="l">
              <a:defRPr sz="1800" b="0">
                <a:solidFill>
                  <a:srgbClr val="333333"/>
                </a:solidFill>
                <a:latin typeface="Arial"/>
                <a:ea typeface="Arial"/>
                <a:cs typeface="Arial"/>
              </a:defRPr>
            </a:pPr>
            <a:r>
              <a:rPr sz="1800" b="0">
                <a:solidFill>
                  <a:srgbClr val="333333"/>
                </a:solidFill>
                <a:latin typeface="Arial"/>
                <a:ea typeface="Arial"/>
                <a:cs typeface="Arial"/>
              </a:rPr>
              <a:t>6.97%</a:t>
            </a:r>
          </a:p>
        </p:txBody>
      </p:sp>
      <p:sp>
        <p:nvSpPr>
          <p:cNvPr id="103" name="Chart label 103">
            <a:extLst>
              <a:ext uri="{FF2B5EF4-FFF2-40B4-BE49-F238E27FC236}">
                <ns2:creationId id="{0DC646DC-BA47-410D-B2F0-02073D227EA2}"/>
              </a:ext>
            </a:extLst>
          </p:cNvPr>
          <p:cNvSpPr>
            <a:spLocks noGrp="1"/>
          </p:cNvSpPr>
          <p:nvPr/>
        </p:nvSpPr>
        <p:spPr>
          <a:xfrm>
            <a:off x="612648" y="4133088"/>
            <a:ext cx="3429000" cy="365760"/>
          </a:xfrm>
          <a:prstGeom prst="rect">
            <a:avLst/>
          </a:prstGeom>
          <a:noFill/>
          <a:ln w="0">
            <a:noFill/>
          </a:ln>
        </p:spPr>
        <p:txBody>
          <a:bodyPr lIns="0" tIns="0" rIns="0" bIns="0">
            <a:noAutofit/>
          </a:bodyPr>
          <a:lstStyle/>
          <a:p>
            <a:pPr algn="l">
              <a:defRPr sz="1700" b="0">
                <a:solidFill>
                  <a:srgbClr val="333333"/>
                </a:solidFill>
                <a:latin typeface="Arial"/>
                <a:ea typeface="Arial"/>
                <a:cs typeface="Arial"/>
              </a:defRPr>
            </a:pPr>
            <a:r>
              <a:rPr sz="1700" b="0">
                <a:solidFill>
                  <a:srgbClr val="333333"/>
                </a:solidFill>
                <a:latin typeface="Arial"/>
                <a:ea typeface="Arial"/>
                <a:cs typeface="Arial"/>
              </a:rPr>
              <a:t>Each site learns alone</a:t>
            </a:r>
          </a:p>
        </p:txBody>
      </p:sp>
      <p:sp>
        <p:nvSpPr>
          <p:cNvPr id="113" name="Error bar 7.58%"/>
          <p:cNvSpPr/>
          <p:nvPr/>
        </p:nvSpPr>
        <p:spPr>
          <a:xfrm>
            <a:off x="4233672" y="4169664"/>
            <a:ext cx="4283452" cy="274320"/>
          </a:xfrm>
          <a:prstGeom prst="rect">
            <a:avLst/>
          </a:prstGeom>
          <a:solidFill>
            <a:srgbClr val="B8B1A5"/>
          </a:solidFill>
          <a:ln>
            <a:noFill/>
          </a:ln>
        </p:spPr>
      </p:sp>
      <p:sp>
        <p:nvSpPr>
          <p:cNvPr id="123" name="Chart label 123">
            <a:extLst>
              <a:ext uri="{FF2B5EF4-FFF2-40B4-BE49-F238E27FC236}">
                <ns2:creationId id="{0DC646DC-BA47-410D-B2F0-02073D227EA2}"/>
              </a:ext>
            </a:extLst>
          </p:cNvPr>
          <p:cNvSpPr>
            <a:spLocks noGrp="1"/>
          </p:cNvSpPr>
          <p:nvPr/>
        </p:nvSpPr>
        <p:spPr>
          <a:xfrm>
            <a:off x="8626852" y="4133088"/>
            <a:ext cx="868680" cy="365760"/>
          </a:xfrm>
          <a:prstGeom prst="rect">
            <a:avLst/>
          </a:prstGeom>
          <a:noFill/>
          <a:ln w="0">
            <a:noFill/>
          </a:ln>
        </p:spPr>
        <p:txBody>
          <a:bodyPr lIns="0" tIns="0" rIns="0" bIns="0">
            <a:noAutofit/>
          </a:bodyPr>
          <a:lstStyle/>
          <a:p>
            <a:pPr algn="l">
              <a:defRPr sz="1800" b="0">
                <a:solidFill>
                  <a:srgbClr val="333333"/>
                </a:solidFill>
                <a:latin typeface="Arial"/>
                <a:ea typeface="Arial"/>
                <a:cs typeface="Arial"/>
              </a:defRPr>
            </a:pPr>
            <a:r>
              <a:rPr sz="1800" b="0">
                <a:solidFill>
                  <a:srgbClr val="333333"/>
                </a:solidFill>
                <a:latin typeface="Arial"/>
                <a:ea typeface="Arial"/>
                <a:cs typeface="Arial"/>
              </a:rPr>
              <a:t>7.58%</a:t>
            </a:r>
          </a:p>
        </p:txBody>
      </p:sp>
      <p:sp>
        <p:nvSpPr>
          <p:cNvPr id="104" name="Chart label 104">
            <a:extLst>
              <a:ext uri="{FF2B5EF4-FFF2-40B4-BE49-F238E27FC236}">
                <ns2:creationId id="{0DC646DC-BA47-410D-B2F0-02073D227EA2}"/>
              </a:ext>
            </a:extLst>
          </p:cNvPr>
          <p:cNvSpPr>
            <a:spLocks noGrp="1"/>
          </p:cNvSpPr>
          <p:nvPr/>
        </p:nvSpPr>
        <p:spPr>
          <a:xfrm>
            <a:off x="612648" y="4663440"/>
            <a:ext cx="3429000" cy="365760"/>
          </a:xfrm>
          <a:prstGeom prst="rect">
            <a:avLst/>
          </a:prstGeom>
          <a:noFill/>
          <a:ln w="0">
            <a:noFill/>
          </a:ln>
        </p:spPr>
        <p:txBody>
          <a:bodyPr lIns="0" tIns="0" rIns="0" bIns="0">
            <a:noAutofit/>
          </a:bodyPr>
          <a:lstStyle/>
          <a:p>
            <a:pPr algn="l">
              <a:defRPr sz="1700" b="0">
                <a:solidFill>
                  <a:srgbClr val="333333"/>
                </a:solidFill>
                <a:latin typeface="Arial"/>
                <a:ea typeface="Arial"/>
                <a:cs typeface="Arial"/>
              </a:defRPr>
            </a:pPr>
            <a:r>
              <a:rPr sz="1700" b="0">
                <a:solidFill>
                  <a:srgbClr val="333333"/>
                </a:solidFill>
                <a:latin typeface="Arial"/>
                <a:ea typeface="Arial"/>
                <a:cs typeface="Arial"/>
              </a:rPr>
              <a:t>Current output unchanged</a:t>
            </a:r>
          </a:p>
        </p:txBody>
      </p:sp>
      <p:sp>
        <p:nvSpPr>
          <p:cNvPr id="114" name="Error bar 9.84%"/>
          <p:cNvSpPr/>
          <p:nvPr/>
        </p:nvSpPr>
        <p:spPr>
          <a:xfrm>
            <a:off x="4233672" y="4700016"/>
            <a:ext cx="5560576" cy="274320"/>
          </a:xfrm>
          <a:prstGeom prst="rect">
            <a:avLst/>
          </a:prstGeom>
          <a:solidFill>
            <a:srgbClr val="B8B1A5"/>
          </a:solidFill>
          <a:ln>
            <a:noFill/>
          </a:ln>
        </p:spPr>
      </p:sp>
      <p:sp>
        <p:nvSpPr>
          <p:cNvPr id="124" name="Chart label 124">
            <a:extLst>
              <a:ext uri="{FF2B5EF4-FFF2-40B4-BE49-F238E27FC236}">
                <ns2:creationId id="{0DC646DC-BA47-410D-B2F0-02073D227EA2}"/>
              </a:ext>
            </a:extLst>
          </p:cNvPr>
          <p:cNvSpPr>
            <a:spLocks noGrp="1"/>
          </p:cNvSpPr>
          <p:nvPr/>
        </p:nvSpPr>
        <p:spPr>
          <a:xfrm>
            <a:off x="9903976" y="4663440"/>
            <a:ext cx="868680" cy="365760"/>
          </a:xfrm>
          <a:prstGeom prst="rect">
            <a:avLst/>
          </a:prstGeom>
          <a:noFill/>
          <a:ln w="0">
            <a:noFill/>
          </a:ln>
        </p:spPr>
        <p:txBody>
          <a:bodyPr lIns="0" tIns="0" rIns="0" bIns="0">
            <a:noAutofit/>
          </a:bodyPr>
          <a:lstStyle/>
          <a:p>
            <a:pPr algn="l">
              <a:defRPr sz="1800" b="0">
                <a:solidFill>
                  <a:srgbClr val="333333"/>
                </a:solidFill>
                <a:latin typeface="Arial"/>
                <a:ea typeface="Arial"/>
                <a:cs typeface="Arial"/>
              </a:defRPr>
            </a:pPr>
            <a:r>
              <a:rPr sz="1800" b="0">
                <a:solidFill>
                  <a:srgbClr val="333333"/>
                </a:solidFill>
                <a:latin typeface="Arial"/>
                <a:ea typeface="Arial"/>
                <a:cs typeface="Arial"/>
              </a:rPr>
              <a:t>9.84%</a:t>
            </a:r>
          </a:p>
        </p:txBody>
      </p:sp>
    </p:spTree>
    <p:extLst>
      <p:ext uri="{BB962C8B-B14F-4D97-AF65-F5344CB8AC3E}">
        <ns3:creationId val="1558097032"/>
      </p:ext>
    </p:extLst>
  </p:cSld>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4EFE6"/>
        </a:solidFill>
      </p:bgPr>
    </p:bg>
    <p:spTree>
      <p:nvGrpSpPr>
        <p:cNvPr id="1" name=""/>
        <p:cNvGrpSpPr/>
        <p:nvPr/>
      </p:nvGrpSpPr>
      <p:grpSpPr>
        <a:xfrm/>
      </p:grpSpPr>
      <p:sp>
        <p:nvSpPr>
          <p:cNvPr id="14" name="">
            <a:extLst>
              <a:ext uri="{FF2B5EF4-FFF2-40B4-BE49-F238E27FC236}">
                <ns2:creationId id="{9704024D-71D7-489B-9027-01C2624B5B10}"/>
              </a:ext>
            </a:extLst>
          </p:cNvPr>
          <p:cNvSpPr>
            <a:spLocks noGrp="1"/>
          </p:cNvSpPr>
          <p:nvPr/>
        </p:nvSpPr>
        <p:spPr>
          <a:xfrm>
            <a:off x="609600" y="495300"/>
            <a:ext cx="10096500" cy="1000125"/>
          </a:xfrm>
          <a:prstGeom prst="rect">
            <a:avLst/>
          </a:prstGeom>
          <a:noFill/>
          <a:ln w="0">
            <a:noFill/>
          </a:ln>
        </p:spPr>
        <p:txBody>
          <a:bodyPr lIns="0" tIns="0" rIns="0" bIns="0">
            <a:noAutofit/>
          </a:bodyPr>
          <a:lstStyle/>
          <a:p>
            <a:pPr>
              <a:buNone/>
              <a:defRPr sz="3525" b="1">
                <a:solidFill>
                  <a:srgbClr val="080808"/>
                </a:solidFill>
                <a:latin typeface="Arial Black"/>
                <a:ea typeface="Arial Black"/>
                <a:cs typeface="Arial Black"/>
              </a:defRPr>
            </a:pPr>
            <a:r>
              <a:rPr sz="3525" b="1">
                <a:solidFill>
                  <a:srgbClr val="080808"/>
                </a:solidFill>
                <a:latin typeface="Arial Black"/>
                <a:ea typeface="Arial Black"/>
                <a:cs typeface="Arial Black"/>
              </a:rPr>
              <a:t>Same forecast, smarter reserves</a:t>
            </a:r>
          </a:p>
        </p:txBody>
      </p:sp>
      <p:sp>
        <p:nvSpPr>
          <p:cNvPr id="2" name="">
            <a:extLst>
              <a:ext uri="{FF2B5EF4-FFF2-40B4-BE49-F238E27FC236}">
                <ns2:creationId id="{B681C5F5-1BDA-49E4-B170-2896051EC31E}"/>
              </a:ext>
            </a:extLst>
          </p:cNvPr>
          <p:cNvSpPr>
            <a:spLocks noGrp="1"/>
          </p:cNvSpPr>
          <p:nvPr/>
        </p:nvSpPr>
        <p:spPr>
          <a:xfrm>
            <a:off x="10953750" y="523875"/>
            <a:ext cx="914400" cy="285750"/>
          </a:xfrm>
          <a:prstGeom prst="rect">
            <a:avLst/>
          </a:prstGeom>
          <a:noFill/>
          <a:ln w="0">
            <a:noFill/>
          </a:ln>
        </p:spPr>
        <p:txBody>
          <a:bodyPr lIns="0" tIns="0" rIns="0" bIns="0">
            <a:noAutofit/>
          </a:bodyPr>
          <a:lstStyle/>
          <a:p>
            <a:pPr>
              <a:buNone/>
              <a:defRPr sz="1575" b="1">
                <a:solidFill>
                  <a:srgbClr val="5F5A52"/>
                </a:solidFill>
                <a:latin typeface="Arial"/>
                <a:ea typeface="Arial"/>
                <a:cs typeface="Arial"/>
              </a:defRPr>
            </a:pPr>
            <a:r>
              <a:rPr sz="1575" b="1">
                <a:solidFill>
                  <a:srgbClr val="5F5A52"/>
                </a:solidFill>
                <a:latin typeface="Arial"/>
                <a:ea typeface="Arial"/>
                <a:cs typeface="Arial"/>
              </a:rPr>
              <a:t>07/12</a:t>
            </a:r>
          </a:p>
        </p:txBody>
      </p:sp>
      <p:sp>
        <p:nvSpPr>
          <p:cNvPr id="15" name="Chronological submission 7 CURRENT INDIA / CHRONOLOGICAL SIMUL">
            <a:extLst>
              <a:ext uri="{FF2B5EF4-FFF2-40B4-BE49-F238E27FC236}">
                <ns2:creationId id="{3E599516-9562-4FCF-B985-2D637C5E34F5}"/>
              </a:ext>
            </a:extLst>
          </p:cNvPr>
          <p:cNvSpPr>
            <a:spLocks noGrp="1"/>
          </p:cNvSpPr>
          <p:nvPr/>
        </p:nvSpPr>
        <p:spPr>
          <a:xfrm>
            <a:off x="609600" y="1238250"/>
            <a:ext cx="10991850" cy="323850"/>
          </a:xfrm>
          <a:prstGeom prst="rect">
            <a:avLst/>
          </a:prstGeom>
          <a:noFill/>
          <a:ln w="0">
            <a:noFill/>
          </a:ln>
        </p:spPr>
        <p:txBody>
          <a:bodyPr lIns="0" tIns="0" rIns="0" bIns="0">
            <a:noAutofit/>
          </a:bodyPr>
          <a:lstStyle/>
          <a:p>
            <a:pPr algn="l">
              <a:defRPr sz="2025" b="1">
                <a:solidFill>
                  <a:srgbClr val="174A72"/>
                </a:solidFill>
                <a:latin typeface="Arial"/>
                <a:ea typeface="Arial"/>
                <a:cs typeface="Arial"/>
              </a:defRPr>
            </a:pPr>
            <a:r>
              <a:rPr sz="2025" b="1">
                <a:solidFill>
                  <a:srgbClr val="174A72"/>
                </a:solidFill>
                <a:latin typeface="Arial"/>
                <a:ea typeface="Arial"/>
                <a:cs typeface="Arial"/>
              </a:rPr>
              <a:t>CURRENT INDIA / CHRONOLOGICAL SIMULATION</a:t>
            </a:r>
          </a:p>
        </p:txBody>
      </p:sp>
      <p:sp>
        <p:nvSpPr>
          <p:cNvPr id="16" name="Chronological submission 7 96.89%">
            <a:extLst>
              <a:ext uri="{FF2B5EF4-FFF2-40B4-BE49-F238E27FC236}">
                <ns2:creationId id="{76E171C4-7B4E-43FA-8095-9C9E488EC7B7}"/>
              </a:ext>
            </a:extLst>
          </p:cNvPr>
          <p:cNvSpPr>
            <a:spLocks noGrp="1"/>
          </p:cNvSpPr>
          <p:nvPr/>
        </p:nvSpPr>
        <p:spPr>
          <a:xfrm>
            <a:off x="609600" y="1714500"/>
            <a:ext cx="3048000" cy="895350"/>
          </a:xfrm>
          <a:prstGeom prst="rect">
            <a:avLst/>
          </a:prstGeom>
          <a:noFill/>
          <a:ln w="0">
            <a:noFill/>
          </a:ln>
        </p:spPr>
        <p:txBody>
          <a:bodyPr lIns="0" tIns="0" rIns="0" bIns="0">
            <a:noAutofit/>
          </a:bodyPr>
          <a:lstStyle/>
          <a:p>
            <a:pPr algn="l">
              <a:defRPr sz="6000" b="1">
                <a:solidFill>
                  <a:srgbClr val="68645E"/>
                </a:solidFill>
                <a:latin typeface="Arial"/>
                <a:ea typeface="Arial"/>
                <a:cs typeface="Arial"/>
              </a:defRPr>
            </a:pPr>
            <a:r>
              <a:rPr sz="6000" b="1">
                <a:solidFill>
                  <a:srgbClr val="68645E"/>
                </a:solidFill>
                <a:latin typeface="Arial"/>
                <a:ea typeface="Arial"/>
                <a:cs typeface="Arial"/>
              </a:rPr>
              <a:t>96.89%</a:t>
            </a:r>
          </a:p>
        </p:txBody>
      </p:sp>
      <p:sp>
        <p:nvSpPr>
          <p:cNvPr id="17" name="Chronological submission 7 →">
            <a:extLst>
              <a:ext uri="{FF2B5EF4-FFF2-40B4-BE49-F238E27FC236}">
                <ns2:creationId id="{BF735DC2-82F6-4B3A-9841-510F54CF0AD7}"/>
              </a:ext>
            </a:extLst>
          </p:cNvPr>
          <p:cNvSpPr>
            <a:spLocks noGrp="1"/>
          </p:cNvSpPr>
          <p:nvPr/>
        </p:nvSpPr>
        <p:spPr>
          <a:xfrm>
            <a:off x="3676650" y="1819275"/>
            <a:ext cx="723900" cy="762000"/>
          </a:xfrm>
          <a:prstGeom prst="rect">
            <a:avLst/>
          </a:prstGeom>
          <a:noFill/>
          <a:ln w="0">
            <a:noFill/>
          </a:ln>
        </p:spPr>
        <p:txBody>
          <a:bodyPr lIns="0" tIns="0" rIns="0" bIns="0">
            <a:noAutofit/>
          </a:bodyPr>
          <a:lstStyle/>
          <a:p>
            <a:pPr algn="l">
              <a:defRPr sz="4725" b="1">
                <a:solidFill>
                  <a:srgbClr val="080808"/>
                </a:solidFill>
                <a:latin typeface="Arial"/>
                <a:ea typeface="Arial"/>
                <a:cs typeface="Arial"/>
              </a:defRPr>
            </a:pPr>
            <a:r>
              <a:rPr sz="4725" b="1">
                <a:solidFill>
                  <a:srgbClr val="080808"/>
                </a:solidFill>
                <a:latin typeface="Arial"/>
                <a:ea typeface="Arial"/>
                <a:cs typeface="Arial"/>
              </a:rPr>
              <a:t>→</a:t>
            </a:r>
          </a:p>
        </p:txBody>
      </p:sp>
      <p:sp>
        <p:nvSpPr>
          <p:cNvPr id="18" name="Chronological submission 7 99.39%">
            <a:extLst>
              <a:ext uri="{FF2B5EF4-FFF2-40B4-BE49-F238E27FC236}">
                <ns2:creationId id="{41C73A6B-871D-4854-812C-77858BAE8DF0}"/>
              </a:ext>
            </a:extLst>
          </p:cNvPr>
          <p:cNvSpPr>
            <a:spLocks noGrp="1"/>
          </p:cNvSpPr>
          <p:nvPr/>
        </p:nvSpPr>
        <p:spPr>
          <a:xfrm>
            <a:off x="4486275" y="1714500"/>
            <a:ext cx="3295650" cy="895350"/>
          </a:xfrm>
          <a:prstGeom prst="rect">
            <a:avLst/>
          </a:prstGeom>
          <a:noFill/>
          <a:ln w="0">
            <a:noFill/>
          </a:ln>
        </p:spPr>
        <p:txBody>
          <a:bodyPr lIns="0" tIns="0" rIns="0" bIns="0">
            <a:noAutofit/>
          </a:bodyPr>
          <a:lstStyle/>
          <a:p>
            <a:pPr algn="l">
              <a:defRPr sz="6000" b="1">
                <a:solidFill>
                  <a:srgbClr val="174A72"/>
                </a:solidFill>
                <a:latin typeface="Arial"/>
                <a:ea typeface="Arial"/>
                <a:cs typeface="Arial"/>
              </a:defRPr>
            </a:pPr>
            <a:r>
              <a:rPr sz="6000" b="1">
                <a:solidFill>
                  <a:srgbClr val="174A72"/>
                </a:solidFill>
                <a:latin typeface="Arial"/>
                <a:ea typeface="Arial"/>
                <a:cs typeface="Arial"/>
              </a:rPr>
              <a:t>99.39%</a:t>
            </a:r>
          </a:p>
        </p:txBody>
      </p:sp>
      <p:sp>
        <p:nvSpPr>
          <p:cNvPr id="19" name="Chronological submission 7 +2.50">
            <a:extLst>
              <a:ext uri="{FF2B5EF4-FFF2-40B4-BE49-F238E27FC236}">
                <ns2:creationId id="{E6647ED8-F940-40A9-B6A1-5530809EE0C3}"/>
              </a:ext>
            </a:extLst>
          </p:cNvPr>
          <p:cNvSpPr>
            <a:spLocks noGrp="1"/>
          </p:cNvSpPr>
          <p:nvPr/>
        </p:nvSpPr>
        <p:spPr>
          <a:xfrm>
            <a:off x="8191500" y="1733550"/>
            <a:ext cx="3409950" cy="552450"/>
          </a:xfrm>
          <a:prstGeom prst="rect">
            <a:avLst/>
          </a:prstGeom>
          <a:noFill/>
          <a:ln w="0">
            <a:noFill/>
          </a:ln>
        </p:spPr>
        <p:txBody>
          <a:bodyPr lIns="0" tIns="0" rIns="0" bIns="0">
            <a:noAutofit/>
          </a:bodyPr>
          <a:lstStyle/>
          <a:p>
            <a:pPr algn="l">
              <a:defRPr sz="3450" b="1">
                <a:solidFill>
                  <a:srgbClr val="22745C"/>
                </a:solidFill>
                <a:latin typeface="Arial"/>
                <a:ea typeface="Arial"/>
                <a:cs typeface="Arial"/>
              </a:defRPr>
            </a:pPr>
            <a:r>
              <a:rPr sz="3450" b="1">
                <a:solidFill>
                  <a:srgbClr val="22745C"/>
                </a:solidFill>
                <a:latin typeface="Arial"/>
                <a:ea typeface="Arial"/>
                <a:cs typeface="Arial"/>
              </a:rPr>
              <a:t>+2.50</a:t>
            </a:r>
          </a:p>
        </p:txBody>
      </p:sp>
      <p:sp>
        <p:nvSpPr>
          <p:cNvPr id="20" name="Chronological submission 7 percentage points">
            <a:extLst>
              <a:ext uri="{FF2B5EF4-FFF2-40B4-BE49-F238E27FC236}">
                <ns2:creationId id="{E6B867FC-2D5C-4926-B45F-E496E241F1FA}"/>
              </a:ext>
            </a:extLst>
          </p:cNvPr>
          <p:cNvSpPr>
            <a:spLocks noGrp="1"/>
          </p:cNvSpPr>
          <p:nvPr/>
        </p:nvSpPr>
        <p:spPr>
          <a:xfrm>
            <a:off x="8191500" y="2314575"/>
            <a:ext cx="3409950" cy="342900"/>
          </a:xfrm>
          <a:prstGeom prst="rect">
            <a:avLst/>
          </a:prstGeom>
          <a:noFill/>
          <a:ln w="0">
            <a:noFill/>
          </a:ln>
        </p:spPr>
        <p:txBody>
          <a:bodyPr lIns="0" tIns="0" rIns="0" bIns="0">
            <a:noAutofit/>
          </a:bodyPr>
          <a:lstStyle/>
          <a:p>
            <a:pPr algn="l">
              <a:defRPr sz="2250" b="1">
                <a:solidFill>
                  <a:srgbClr val="22745C"/>
                </a:solidFill>
                <a:latin typeface="Arial"/>
                <a:ea typeface="Arial"/>
                <a:cs typeface="Arial"/>
              </a:defRPr>
            </a:pPr>
            <a:r>
              <a:rPr sz="2250" b="1">
                <a:solidFill>
                  <a:srgbClr val="22745C"/>
                </a:solidFill>
                <a:latin typeface="Arial"/>
                <a:ea typeface="Arial"/>
                <a:cs typeface="Arial"/>
              </a:rPr>
              <a:t>percentage points</a:t>
            </a:r>
          </a:p>
        </p:txBody>
      </p:sp>
      <p:sp>
        <p:nvSpPr>
          <p:cNvPr id="21" name="Chronological submission 7 FULLY SUPPLIED DAYTIME INTERVALS">
            <a:extLst>
              <a:ext uri="{FF2B5EF4-FFF2-40B4-BE49-F238E27FC236}">
                <ns2:creationId id="{512D40B8-A823-4A10-B4B9-433334C1E489}"/>
              </a:ext>
            </a:extLst>
          </p:cNvPr>
          <p:cNvSpPr>
            <a:spLocks noGrp="1"/>
          </p:cNvSpPr>
          <p:nvPr/>
        </p:nvSpPr>
        <p:spPr>
          <a:xfrm>
            <a:off x="609600" y="2628900"/>
            <a:ext cx="10991850" cy="342900"/>
          </a:xfrm>
          <a:prstGeom prst="rect">
            <a:avLst/>
          </a:prstGeom>
          <a:noFill/>
          <a:ln w="0">
            <a:noFill/>
          </a:ln>
        </p:spPr>
        <p:txBody>
          <a:bodyPr lIns="0" tIns="0" rIns="0" bIns="0">
            <a:noAutofit/>
          </a:bodyPr>
          <a:lstStyle/>
          <a:p>
            <a:pPr algn="l">
              <a:defRPr sz="2250" b="1">
                <a:solidFill>
                  <a:srgbClr val="080808"/>
                </a:solidFill>
                <a:latin typeface="Arial"/>
                <a:ea typeface="Arial"/>
                <a:cs typeface="Arial"/>
              </a:defRPr>
            </a:pPr>
            <a:r>
              <a:rPr sz="2250" b="1">
                <a:solidFill>
                  <a:srgbClr val="080808"/>
                </a:solidFill>
                <a:latin typeface="Arial"/>
                <a:ea typeface="Arial"/>
                <a:cs typeface="Arial"/>
              </a:rPr>
              <a:t>FULLY SUPPLIED DAYTIME INTERVALS</a:t>
            </a:r>
          </a:p>
        </p:txBody>
      </p:sp>
      <p:sp>
        <p:nvSpPr>
          <p:cNvPr id="22" name="Chronological submission 7 Approximately 38% less scheduled ba">
            <a:extLst>
              <a:ext uri="{FF2B5EF4-FFF2-40B4-BE49-F238E27FC236}">
                <ns2:creationId id="{33F346E3-3096-40E5-BFCE-5AA5E4AFEEE0}"/>
              </a:ext>
            </a:extLst>
          </p:cNvPr>
          <p:cNvSpPr>
            <a:spLocks noGrp="1"/>
          </p:cNvSpPr>
          <p:nvPr/>
        </p:nvSpPr>
        <p:spPr>
          <a:xfrm>
            <a:off x="609600" y="3009900"/>
            <a:ext cx="10991850" cy="304800"/>
          </a:xfrm>
          <a:prstGeom prst="rect">
            <a:avLst/>
          </a:prstGeom>
          <a:noFill/>
          <a:ln w="0">
            <a:noFill/>
          </a:ln>
        </p:spPr>
        <p:txBody>
          <a:bodyPr lIns="0" tIns="0" rIns="0" bIns="0">
            <a:noAutofit/>
          </a:bodyPr>
          <a:lstStyle/>
          <a:p>
            <a:pPr algn="l">
              <a:defRPr sz="1950" b="1">
                <a:solidFill>
                  <a:srgbClr val="174A72"/>
                </a:solidFill>
                <a:latin typeface="Arial"/>
                <a:ea typeface="Arial"/>
                <a:cs typeface="Arial"/>
              </a:defRPr>
            </a:pPr>
            <a:r>
              <a:rPr sz="1950" b="1">
                <a:solidFill>
                  <a:srgbClr val="174A72"/>
                </a:solidFill>
                <a:latin typeface="Arial"/>
                <a:ea typeface="Arial"/>
                <a:cs typeface="Arial"/>
              </a:rPr>
              <a:t>Approximately 38% less scheduled backup.</a:t>
            </a:r>
          </a:p>
        </p:txBody>
      </p:sp>
      <p:sp>
        <p:nvSpPr>
          <p:cNvPr id="23" name="Chronological submission 7 Same reliability-weighted MLP forec">
            <a:extLst>
              <a:ext uri="{FF2B5EF4-FFF2-40B4-BE49-F238E27FC236}">
                <ns2:creationId id="{C3D45F78-7E6B-4DF1-A814-9068F4C3D296}"/>
              </a:ext>
            </a:extLst>
          </p:cNvPr>
          <p:cNvSpPr>
            <a:spLocks noGrp="1"/>
          </p:cNvSpPr>
          <p:nvPr/>
        </p:nvSpPr>
        <p:spPr>
          <a:xfrm>
            <a:off x="609600" y="5753100"/>
            <a:ext cx="10991850" cy="314325"/>
          </a:xfrm>
          <a:prstGeom prst="rect">
            <a:avLst/>
          </a:prstGeom>
          <a:noFill/>
          <a:ln w="0">
            <a:noFill/>
          </a:ln>
        </p:spPr>
        <p:txBody>
          <a:bodyPr lIns="0" tIns="0" rIns="0" bIns="0">
            <a:noAutofit/>
          </a:bodyPr>
          <a:lstStyle/>
          <a:p>
            <a:pPr algn="l">
              <a:defRPr sz="1800" b="0">
                <a:solidFill>
                  <a:srgbClr val="68645E"/>
                </a:solidFill>
                <a:latin typeface="Arial"/>
                <a:ea typeface="Arial"/>
                <a:cs typeface="Arial"/>
              </a:defRPr>
            </a:pPr>
            <a:r>
              <a:rPr sz="1800" b="0">
                <a:solidFill>
                  <a:srgbClr val="68645E"/>
                </a:solidFill>
                <a:latin typeface="Arial"/>
                <a:ea typeface="Arial"/>
                <a:cs typeface="Arial"/>
              </a:rPr>
              <a:t>Same reliability-weighted MLP forecasts, causal planner and assets; only the reserve rule changes.</a:t>
            </a:r>
          </a:p>
        </p:txBody>
      </p:sp>
      <p:sp>
        <p:nvSpPr>
          <p:cNvPr id="24" name="Chronological submission 7 Five-seed chronological simulation.">
            <a:extLst>
              <a:ext uri="{FF2B5EF4-FFF2-40B4-BE49-F238E27FC236}">
                <ns2:creationId id="{DD9F5058-05E4-4E04-B05D-90ED35719824}"/>
              </a:ext>
            </a:extLst>
          </p:cNvPr>
          <p:cNvSpPr>
            <a:spLocks noGrp="1"/>
          </p:cNvSpPr>
          <p:nvPr/>
        </p:nvSpPr>
        <p:spPr>
          <a:xfrm>
            <a:off x="609600" y="6162675"/>
            <a:ext cx="10991850" cy="590550"/>
          </a:xfrm>
          <a:prstGeom prst="rect">
            <a:avLst/>
          </a:prstGeom>
          <a:noFill/>
          <a:ln w="0">
            <a:noFill/>
          </a:ln>
        </p:spPr>
        <p:txBody>
          <a:bodyPr lIns="0" tIns="0" rIns="0" bIns="0">
            <a:noAutofit/>
          </a:bodyPr>
          <a:lstStyle/>
          <a:p>
            <a:pPr algn="l">
              <a:defRPr sz="1800" b="0">
                <a:solidFill>
                  <a:srgbClr val="68645E"/>
                </a:solidFill>
                <a:latin typeface="Arial"/>
                <a:ea typeface="Arial"/>
                <a:cs typeface="Arial"/>
              </a:defRPr>
            </a:pPr>
            <a:r>
              <a:rPr sz="1800" b="0">
                <a:solidFill>
                  <a:srgbClr val="68645E"/>
                </a:solidFill>
                <a:latin typeface="Arial"/>
                <a:ea typeface="Arial"/>
                <a:cs typeface="Arial"/>
              </a:rPr>
              <a:t>Five-seed chronological simulation. Modelled solar, synthetic demand and assumed backup</a:t>
            </a:r>
          </a:p>
          <a:p>
            <a:pPr algn="l">
              <a:defRPr sz="1800" b="0">
                <a:solidFill>
                  <a:srgbClr val="68645E"/>
                </a:solidFill>
                <a:latin typeface="Arial"/>
                <a:ea typeface="Arial"/>
                <a:cs typeface="Arial"/>
              </a:defRPr>
            </a:pPr>
            <a:r>
              <a:rPr sz="1800" b="0">
                <a:solidFill>
                  <a:srgbClr val="68645E"/>
                </a:solidFill>
                <a:latin typeface="Arial"/>
                <a:ea typeface="Arial"/>
                <a:cs typeface="Arial"/>
              </a:rPr>
              <a:t>—not measured uptime.</a:t>
            </a:r>
          </a:p>
        </p:txBody>
      </p:sp>
      <p:graphicFrame>
        <p:nvGraphicFramePr>
          <p:cNvPr id="25" name=""/>
          <p:cNvGraphicFramePr/>
          <p:nvPr/>
        </p:nvGraphicFramePr>
        <p:xfrm>
          <a:off x="609600" y="3333750"/>
          <a:ext cx="10991850" cy="2247900"/>
        </p:xfrm>
        <a:graphic>
          <a:graphicData uri="http://schemas.openxmlformats.org/drawingml/2006/table">
            <a:tbl>
              <a:tblPr/>
              <a:tblGrid>
                <a:gridCol w="4933950"/>
                <a:gridCol w="3028950"/>
                <a:gridCol w="3028950"/>
              </a:tblGrid>
              <a:tr h="533400">
                <a:tc>
                  <a:txBody>
                    <a:bodyPr/>
                    <a:lstStyle/>
                    <a:p>
                      <a:r>
                        <a:rPr sz="1950" b="1">
                          <a:solidFill>
                            <a:srgbClr val="080808"/>
                          </a:solidFill>
                          <a:latin typeface="Arial"/>
                          <a:ea typeface="Arial"/>
                          <a:cs typeface="Arial"/>
                        </a:rPr>
                        <a:t>Metric</a:t>
                      </a:r>
                    </a:p>
                  </a:txBody>
                  <a:tcPr marL="114300" marR="114300" marT="19050" marB="19050" anchor="ctr">
                    <a:lnL w="5715">
                      <a:noFill/>
                    </a:lnL>
                    <a:lnR w="5715">
                      <a:noFill/>
                    </a:lnR>
                    <a:lnT w="5715">
                      <a:noFill/>
                    </a:lnT>
                    <a:lnB w="5715">
                      <a:solidFill>
                        <a:srgbClr val="D8D2C7"/>
                      </a:solidFill>
                    </a:lnB>
                    <a:solidFill>
                      <a:srgbClr val="EBE7DF"/>
                    </a:solidFill>
                  </a:tcPr>
                </a:tc>
                <a:tc>
                  <a:txBody>
                    <a:bodyPr/>
                    <a:lstStyle/>
                    <a:p>
                      <a:r>
                        <a:rPr sz="1950" b="1">
                          <a:solidFill>
                            <a:srgbClr val="080808"/>
                          </a:solidFill>
                          <a:latin typeface="Arial"/>
                          <a:ea typeface="Arial"/>
                          <a:cs typeface="Arial"/>
                        </a:rPr>
                        <a:t>Fixed 20%</a:t>
                      </a:r>
                    </a:p>
                    <a:p>
                      <a:r>
                        <a:rPr sz="1950" b="1">
                          <a:solidFill>
                            <a:srgbClr val="080808"/>
                          </a:solidFill>
                          <a:latin typeface="Arial"/>
                          <a:ea typeface="Arial"/>
                          <a:cs typeface="Arial"/>
                        </a:rPr>
                        <a:t>reserve</a:t>
                      </a:r>
                    </a:p>
                  </a:txBody>
                  <a:tcPr marL="114300" marR="114300" marT="19050" marB="19050" anchor="ctr">
                    <a:lnL w="5715">
                      <a:noFill/>
                    </a:lnL>
                    <a:lnR w="5715">
                      <a:noFill/>
                    </a:lnR>
                    <a:lnT w="5715">
                      <a:noFill/>
                    </a:lnT>
                    <a:lnB w="5715">
                      <a:solidFill>
                        <a:srgbClr val="D8D2C7"/>
                      </a:solidFill>
                    </a:lnB>
                    <a:solidFill>
                      <a:srgbClr val="EBE7DF"/>
                    </a:solidFill>
                  </a:tcPr>
                </a:tc>
                <a:tc>
                  <a:txBody>
                    <a:bodyPr/>
                    <a:lstStyle/>
                    <a:p>
                      <a:r>
                        <a:rPr sz="1950" b="1">
                          <a:solidFill>
                            <a:srgbClr val="FFFFFF"/>
                          </a:solidFill>
                          <a:latin typeface="Arial"/>
                          <a:ea typeface="Arial"/>
                          <a:cs typeface="Arial"/>
                        </a:rPr>
                        <a:t>GridMesh nominal</a:t>
                      </a:r>
                    </a:p>
                    <a:p>
                      <a:r>
                        <a:rPr sz="1950" b="1">
                          <a:solidFill>
                            <a:srgbClr val="FFFFFF"/>
                          </a:solidFill>
                          <a:latin typeface="Arial"/>
                          <a:ea typeface="Arial"/>
                          <a:cs typeface="Arial"/>
                        </a:rPr>
                        <a:t>reserve</a:t>
                      </a:r>
                    </a:p>
                  </a:txBody>
                  <a:tcPr marL="114300" marR="114300" marT="19050" marB="19050" anchor="ctr">
                    <a:lnL w="5715">
                      <a:noFill/>
                    </a:lnL>
                    <a:lnR w="5715">
                      <a:noFill/>
                    </a:lnR>
                    <a:lnT w="5715">
                      <a:noFill/>
                    </a:lnT>
                    <a:lnB w="5715">
                      <a:solidFill>
                        <a:srgbClr val="D8D2C7"/>
                      </a:solidFill>
                    </a:lnB>
                    <a:solidFill>
                      <a:srgbClr val="174A72"/>
                    </a:solidFill>
                  </a:tcPr>
                </a:tc>
              </a:tr>
              <a:tr h="571500">
                <a:tc>
                  <a:txBody>
                    <a:bodyPr/>
                    <a:lstStyle/>
                    <a:p>
                      <a:r>
                        <a:rPr sz="2400" b="0">
                          <a:solidFill>
                            <a:srgbClr val="080808"/>
                          </a:solidFill>
                          <a:latin typeface="Arial"/>
                          <a:ea typeface="Arial"/>
                          <a:cs typeface="Arial"/>
                        </a:rPr>
                        <a:t>Fully supplied intervals</a:t>
                      </a:r>
                    </a:p>
                  </a:txBody>
                  <a:tcPr marL="114300" marR="114300" marT="19050" marB="19050" anchor="ctr">
                    <a:lnL w="5715">
                      <a:noFill/>
                    </a:lnL>
                    <a:lnR w="5715">
                      <a:noFill/>
                    </a:lnR>
                    <a:lnT w="5715">
                      <a:noFill/>
                    </a:lnT>
                    <a:lnB w="5715">
                      <a:solidFill>
                        <a:srgbClr val="D8D2C7"/>
                      </a:solidFill>
                    </a:lnB>
                    <a:solidFill>
                      <a:srgbClr val="F4EFE6"/>
                    </a:solidFill>
                  </a:tcPr>
                </a:tc>
                <a:tc>
                  <a:txBody>
                    <a:bodyPr/>
                    <a:lstStyle/>
                    <a:p>
                      <a:r>
                        <a:rPr sz="2400" b="0">
                          <a:solidFill>
                            <a:srgbClr val="080808"/>
                          </a:solidFill>
                          <a:latin typeface="Arial"/>
                          <a:ea typeface="Arial"/>
                          <a:cs typeface="Arial"/>
                        </a:rPr>
                        <a:t>96.89%</a:t>
                      </a:r>
                    </a:p>
                  </a:txBody>
                  <a:tcPr marL="114300" marR="114300" marT="19050" marB="19050" anchor="ctr">
                    <a:lnL w="5715">
                      <a:noFill/>
                    </a:lnL>
                    <a:lnR w="5715">
                      <a:noFill/>
                    </a:lnR>
                    <a:lnT w="5715">
                      <a:noFill/>
                    </a:lnT>
                    <a:lnB w="5715">
                      <a:solidFill>
                        <a:srgbClr val="D8D2C7"/>
                      </a:solidFill>
                    </a:lnB>
                    <a:solidFill>
                      <a:srgbClr val="F4EFE6"/>
                    </a:solidFill>
                  </a:tcPr>
                </a:tc>
                <a:tc>
                  <a:txBody>
                    <a:bodyPr/>
                    <a:lstStyle/>
                    <a:p>
                      <a:r>
                        <a:rPr sz="2400" b="1">
                          <a:solidFill>
                            <a:srgbClr val="174A72"/>
                          </a:solidFill>
                          <a:latin typeface="Arial"/>
                          <a:ea typeface="Arial"/>
                          <a:cs typeface="Arial"/>
                        </a:rPr>
                        <a:t>99.39%</a:t>
                      </a:r>
                    </a:p>
                  </a:txBody>
                  <a:tcPr marL="114300" marR="114300" marT="19050" marB="19050" anchor="ctr">
                    <a:lnL w="5715">
                      <a:noFill/>
                    </a:lnL>
                    <a:lnR w="5715">
                      <a:noFill/>
                    </a:lnR>
                    <a:lnT w="5715">
                      <a:noFill/>
                    </a:lnT>
                    <a:lnB w="5715">
                      <a:solidFill>
                        <a:srgbClr val="D8D2C7"/>
                      </a:solidFill>
                    </a:lnB>
                    <a:solidFill>
                      <a:srgbClr val="E4EFF4"/>
                    </a:solidFill>
                  </a:tcPr>
                </a:tc>
              </a:tr>
              <a:tr h="571500">
                <a:tc>
                  <a:txBody>
                    <a:bodyPr/>
                    <a:lstStyle/>
                    <a:p>
                      <a:r>
                        <a:rPr sz="2400" b="0">
                          <a:solidFill>
                            <a:srgbClr val="080808"/>
                          </a:solidFill>
                          <a:latin typeface="Arial"/>
                          <a:ea typeface="Arial"/>
                          <a:cs typeface="Arial"/>
                        </a:rPr>
                        <a:t>Unserved energy</a:t>
                      </a:r>
                    </a:p>
                  </a:txBody>
                  <a:tcPr marL="114300" marR="114300" marT="19050" marB="19050" anchor="ctr">
                    <a:lnL w="5715">
                      <a:noFill/>
                    </a:lnL>
                    <a:lnR w="5715">
                      <a:noFill/>
                    </a:lnR>
                    <a:lnT w="5715">
                      <a:noFill/>
                    </a:lnT>
                    <a:lnB w="5715">
                      <a:solidFill>
                        <a:srgbClr val="D8D2C7"/>
                      </a:solidFill>
                    </a:lnB>
                    <a:solidFill>
                      <a:srgbClr val="F4EFE6"/>
                    </a:solidFill>
                  </a:tcPr>
                </a:tc>
                <a:tc>
                  <a:txBody>
                    <a:bodyPr/>
                    <a:lstStyle/>
                    <a:p>
                      <a:r>
                        <a:rPr sz="2400" b="0">
                          <a:solidFill>
                            <a:srgbClr val="080808"/>
                          </a:solidFill>
                          <a:latin typeface="Arial"/>
                          <a:ea typeface="Arial"/>
                          <a:cs typeface="Arial"/>
                        </a:rPr>
                        <a:t>0.875 MWh</a:t>
                      </a:r>
                    </a:p>
                  </a:txBody>
                  <a:tcPr marL="114300" marR="114300" marT="19050" marB="19050" anchor="ctr">
                    <a:lnL w="5715">
                      <a:noFill/>
                    </a:lnL>
                    <a:lnR w="5715">
                      <a:noFill/>
                    </a:lnR>
                    <a:lnT w="5715">
                      <a:noFill/>
                    </a:lnT>
                    <a:lnB w="5715">
                      <a:solidFill>
                        <a:srgbClr val="D8D2C7"/>
                      </a:solidFill>
                    </a:lnB>
                    <a:solidFill>
                      <a:srgbClr val="F4EFE6"/>
                    </a:solidFill>
                  </a:tcPr>
                </a:tc>
                <a:tc>
                  <a:txBody>
                    <a:bodyPr/>
                    <a:lstStyle/>
                    <a:p>
                      <a:r>
                        <a:rPr sz="2400" b="1">
                          <a:solidFill>
                            <a:srgbClr val="174A72"/>
                          </a:solidFill>
                          <a:latin typeface="Arial"/>
                          <a:ea typeface="Arial"/>
                          <a:cs typeface="Arial"/>
                        </a:rPr>
                        <a:t>0.128 MWh</a:t>
                      </a:r>
                    </a:p>
                  </a:txBody>
                  <a:tcPr marL="114300" marR="114300" marT="19050" marB="19050" anchor="ctr">
                    <a:lnL w="5715">
                      <a:noFill/>
                    </a:lnL>
                    <a:lnR w="5715">
                      <a:noFill/>
                    </a:lnR>
                    <a:lnT w="5715">
                      <a:noFill/>
                    </a:lnT>
                    <a:lnB w="5715">
                      <a:solidFill>
                        <a:srgbClr val="D8D2C7"/>
                      </a:solidFill>
                    </a:lnB>
                    <a:solidFill>
                      <a:srgbClr val="E4EFF4"/>
                    </a:solidFill>
                  </a:tcPr>
                </a:tc>
              </a:tr>
              <a:tr h="571500">
                <a:tc>
                  <a:txBody>
                    <a:bodyPr/>
                    <a:lstStyle/>
                    <a:p>
                      <a:r>
                        <a:rPr sz="2400" b="0">
                          <a:solidFill>
                            <a:srgbClr val="080808"/>
                          </a:solidFill>
                          <a:latin typeface="Arial"/>
                          <a:ea typeface="Arial"/>
                          <a:cs typeface="Arial"/>
                        </a:rPr>
                        <a:t>Scheduled backup</a:t>
                      </a:r>
                    </a:p>
                  </a:txBody>
                  <a:tcPr marL="114300" marR="114300" marT="19050" marB="19050" anchor="ctr">
                    <a:lnL w="5715">
                      <a:noFill/>
                    </a:lnL>
                    <a:lnR w="5715">
                      <a:noFill/>
                    </a:lnR>
                    <a:lnT w="5715">
                      <a:noFill/>
                    </a:lnT>
                    <a:lnB w="5715">
                      <a:solidFill>
                        <a:srgbClr val="D8D2C7"/>
                      </a:solidFill>
                    </a:lnB>
                    <a:solidFill>
                      <a:srgbClr val="F4EFE6"/>
                    </a:solidFill>
                  </a:tcPr>
                </a:tc>
                <a:tc>
                  <a:txBody>
                    <a:bodyPr/>
                    <a:lstStyle/>
                    <a:p>
                      <a:r>
                        <a:rPr sz="2400" b="0">
                          <a:solidFill>
                            <a:srgbClr val="080808"/>
                          </a:solidFill>
                          <a:latin typeface="Arial"/>
                          <a:ea typeface="Arial"/>
                          <a:cs typeface="Arial"/>
                        </a:rPr>
                        <a:t>27.04 MWh</a:t>
                      </a:r>
                    </a:p>
                  </a:txBody>
                  <a:tcPr marL="114300" marR="114300" marT="19050" marB="19050" anchor="ctr">
                    <a:lnL w="5715">
                      <a:noFill/>
                    </a:lnL>
                    <a:lnR w="5715">
                      <a:noFill/>
                    </a:lnR>
                    <a:lnT w="5715">
                      <a:noFill/>
                    </a:lnT>
                    <a:lnB w="5715">
                      <a:solidFill>
                        <a:srgbClr val="D8D2C7"/>
                      </a:solidFill>
                    </a:lnB>
                    <a:solidFill>
                      <a:srgbClr val="F4EFE6"/>
                    </a:solidFill>
                  </a:tcPr>
                </a:tc>
                <a:tc>
                  <a:txBody>
                    <a:bodyPr/>
                    <a:lstStyle/>
                    <a:p>
                      <a:r>
                        <a:rPr sz="2400" b="1">
                          <a:solidFill>
                            <a:srgbClr val="174A72"/>
                          </a:solidFill>
                          <a:latin typeface="Arial"/>
                          <a:ea typeface="Arial"/>
                          <a:cs typeface="Arial"/>
                        </a:rPr>
                        <a:t>16.76 MWh</a:t>
                      </a:r>
                    </a:p>
                  </a:txBody>
                  <a:tcPr marL="114300" marR="114300" marT="19050" marB="19050" anchor="ctr">
                    <a:lnL w="5715">
                      <a:noFill/>
                    </a:lnL>
                    <a:lnR w="5715">
                      <a:noFill/>
                    </a:lnR>
                    <a:lnT w="5715">
                      <a:noFill/>
                    </a:lnT>
                    <a:lnB w="5715">
                      <a:solidFill>
                        <a:srgbClr val="D8D2C7"/>
                      </a:solidFill>
                    </a:lnB>
                    <a:solidFill>
                      <a:srgbClr val="E4EFF4"/>
                    </a:solidFill>
                  </a:tcPr>
                </a:tc>
              </a:tr>
            </a:tbl>
          </a:graphicData>
        </a:graphic>
      </p:graphicFrame>
    </p:spTree>
    <p:extLst>
      <p:ext uri="{BB962C8B-B14F-4D97-AF65-F5344CB8AC3E}">
        <ns3:creationId val="249024436"/>
      </p:ext>
    </p:extLst>
  </p:cSld>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4EFE6"/>
        </a:solidFill>
      </p:bgPr>
    </p:bg>
    <p:spTree>
      <p:nvGrpSpPr>
        <p:cNvPr id="1" name=""/>
        <p:cNvGrpSpPr/>
        <p:nvPr/>
      </p:nvGrpSpPr>
      <p:grpSpPr>
        <a:xfrm/>
      </p:grpSpPr>
      <p:sp>
        <p:nvSpPr>
          <p:cNvPr id="22" name="">
            <a:extLst>
              <a:ext uri="{FF2B5EF4-FFF2-40B4-BE49-F238E27FC236}">
                <ns2:creationId id="{15878A55-3260-4AA2-AFFD-699DA2D3BC9C}"/>
              </a:ext>
            </a:extLst>
          </p:cNvPr>
          <p:cNvSpPr>
            <a:spLocks noGrp="1"/>
          </p:cNvSpPr>
          <p:nvPr/>
        </p:nvSpPr>
        <p:spPr>
          <a:xfrm>
            <a:off x="609600" y="495300"/>
            <a:ext cx="10096500" cy="1000125"/>
          </a:xfrm>
          <a:prstGeom prst="rect">
            <a:avLst/>
          </a:prstGeom>
          <a:noFill/>
          <a:ln w="0">
            <a:noFill/>
          </a:ln>
        </p:spPr>
        <p:txBody>
          <a:bodyPr lIns="0" tIns="0" rIns="0" bIns="0">
            <a:noAutofit/>
          </a:bodyPr>
          <a:lstStyle/>
          <a:p>
            <a:pPr>
              <a:buNone/>
              <a:defRPr sz="3525" b="1">
                <a:solidFill>
                  <a:srgbClr val="080808"/>
                </a:solidFill>
                <a:latin typeface="Arial Black"/>
                <a:ea typeface="Arial Black"/>
                <a:cs typeface="Arial Black"/>
              </a:defRPr>
            </a:pPr>
            <a:r>
              <a:rPr sz="3525" b="1">
                <a:solidFill>
                  <a:srgbClr val="080808"/>
                </a:solidFill>
                <a:latin typeface="Arial Black"/>
                <a:ea typeface="Arial Black"/>
                <a:cs typeface="Arial Black"/>
              </a:rPr>
              <a:t>A reserve that responds to uncertainty</a:t>
            </a:r>
          </a:p>
        </p:txBody>
      </p:sp>
      <p:sp>
        <p:nvSpPr>
          <p:cNvPr id="2" name="">
            <a:extLst>
              <a:ext uri="{FF2B5EF4-FFF2-40B4-BE49-F238E27FC236}">
                <ns2:creationId id="{C5B4159F-1EC0-4BCF-8735-13BFE74AF701}"/>
              </a:ext>
            </a:extLst>
          </p:cNvPr>
          <p:cNvSpPr>
            <a:spLocks noGrp="1"/>
          </p:cNvSpPr>
          <p:nvPr/>
        </p:nvSpPr>
        <p:spPr>
          <a:xfrm>
            <a:off x="10953750" y="523875"/>
            <a:ext cx="914400" cy="285750"/>
          </a:xfrm>
          <a:prstGeom prst="rect">
            <a:avLst/>
          </a:prstGeom>
          <a:noFill/>
          <a:ln w="0">
            <a:noFill/>
          </a:ln>
        </p:spPr>
        <p:txBody>
          <a:bodyPr lIns="0" tIns="0" rIns="0" bIns="0">
            <a:noAutofit/>
          </a:bodyPr>
          <a:lstStyle/>
          <a:p>
            <a:pPr>
              <a:buNone/>
              <a:defRPr sz="1575" b="1">
                <a:solidFill>
                  <a:srgbClr val="5F5A52"/>
                </a:solidFill>
                <a:latin typeface="Arial"/>
                <a:ea typeface="Arial"/>
                <a:cs typeface="Arial"/>
              </a:defRPr>
            </a:pPr>
            <a:r>
              <a:rPr sz="1575" b="1">
                <a:solidFill>
                  <a:srgbClr val="5F5A52"/>
                </a:solidFill>
                <a:latin typeface="Arial"/>
                <a:ea typeface="Arial"/>
                <a:cs typeface="Arial"/>
              </a:rPr>
              <a:t>08/12</a:t>
            </a:r>
          </a:p>
        </p:txBody>
      </p:sp>
      <p:graphicFrame>
        <p:nvGraphicFramePr>
          <p:cNvPr id="26" name=""/>
          <p:cNvGraphicFramePr/>
          <p:nvPr/>
        </p:nvGraphicFramePr>
        <p:xfrm>
          <a:off x="609600" y="1762125"/>
          <a:ext cx="10953750" cy="3095625"/>
        </p:xfrm>
        <a:graphic>
          <a:graphicData uri="http://schemas.openxmlformats.org/drawingml/2006/table">
            <a:tbl>
              <a:tblPr/>
              <a:tblGrid>
                <a:gridCol w="2381250"/>
                <a:gridCol w="3905250"/>
                <a:gridCol w="4667250"/>
              </a:tblGrid>
              <a:tr h="495300">
                <a:tc>
                  <a:txBody>
                    <a:bodyPr/>
                    <a:lstStyle/>
                    <a:p>
                      <a:r>
                        <a:rPr sz="1650" b="1">
                          <a:solidFill>
                            <a:srgbClr val="080808"/>
                          </a:solidFill>
                          <a:latin typeface="Arial"/>
                          <a:ea typeface="Arial"/>
                          <a:cs typeface="Arial"/>
                        </a:rPr>
                        <a:t/>
                      </a:r>
                    </a:p>
                  </a:txBody>
                  <a:tcPr marL="114300" marR="114300" marT="19050" marB="19050" anchor="ctr">
                    <a:lnL w="5715">
                      <a:noFill/>
                    </a:lnL>
                    <a:lnR w="5715">
                      <a:noFill/>
                    </a:lnR>
                    <a:lnT w="5715">
                      <a:noFill/>
                    </a:lnT>
                    <a:lnB w="5715">
                      <a:solidFill>
                        <a:srgbClr val="D8D2C7"/>
                      </a:solidFill>
                    </a:lnB>
                    <a:solidFill>
                      <a:srgbClr val="EBE7DF"/>
                    </a:solidFill>
                  </a:tcPr>
                </a:tc>
                <a:tc>
                  <a:txBody>
                    <a:bodyPr/>
                    <a:lstStyle/>
                    <a:p>
                      <a:r>
                        <a:rPr sz="1650" b="1">
                          <a:solidFill>
                            <a:srgbClr val="080808"/>
                          </a:solidFill>
                          <a:latin typeface="Arial"/>
                          <a:ea typeface="Arial"/>
                          <a:cs typeface="Arial"/>
                        </a:rPr>
                        <a:t>FIXED RESERVE</a:t>
                      </a:r>
                    </a:p>
                  </a:txBody>
                  <a:tcPr marL="114300" marR="114300" marT="19050" marB="19050" anchor="ctr">
                    <a:lnL w="5715">
                      <a:noFill/>
                    </a:lnL>
                    <a:lnR w="5715">
                      <a:noFill/>
                    </a:lnR>
                    <a:lnT w="5715">
                      <a:noFill/>
                    </a:lnT>
                    <a:lnB w="5715">
                      <a:solidFill>
                        <a:srgbClr val="D8D2C7"/>
                      </a:solidFill>
                    </a:lnB>
                    <a:solidFill>
                      <a:srgbClr val="EBE7DF"/>
                    </a:solidFill>
                  </a:tcPr>
                </a:tc>
                <a:tc>
                  <a:txBody>
                    <a:bodyPr/>
                    <a:lstStyle/>
                    <a:p>
                      <a:r>
                        <a:rPr sz="1650" b="1">
                          <a:solidFill>
                            <a:srgbClr val="FFFFFF"/>
                          </a:solidFill>
                          <a:latin typeface="Arial"/>
                          <a:ea typeface="Arial"/>
                          <a:cs typeface="Arial"/>
                        </a:rPr>
                        <a:t>GRIDMESH</a:t>
                      </a:r>
                    </a:p>
                  </a:txBody>
                  <a:tcPr marL="114300" marR="114300" marT="19050" marB="19050" anchor="ctr">
                    <a:lnL w="5715">
                      <a:noFill/>
                    </a:lnL>
                    <a:lnR w="5715">
                      <a:noFill/>
                    </a:lnR>
                    <a:lnT w="5715">
                      <a:noFill/>
                    </a:lnT>
                    <a:lnB w="5715">
                      <a:solidFill>
                        <a:srgbClr val="D8D2C7"/>
                      </a:solidFill>
                    </a:lnB>
                    <a:solidFill>
                      <a:srgbClr val="174A72"/>
                    </a:solidFill>
                  </a:tcPr>
                </a:tc>
              </a:tr>
              <a:tr h="742950">
                <a:tc>
                  <a:txBody>
                    <a:bodyPr/>
                    <a:lstStyle/>
                    <a:p>
                      <a:r>
                        <a:rPr sz="1800" b="0">
                          <a:solidFill>
                            <a:srgbClr val="080808"/>
                          </a:solidFill>
                          <a:latin typeface="Arial"/>
                          <a:ea typeface="Arial"/>
                          <a:cs typeface="Arial"/>
                        </a:rPr>
                        <a:t>Reserve logic</a:t>
                      </a:r>
                    </a:p>
                  </a:txBody>
                  <a:tcPr marL="114300" marR="114300" marT="19050" marB="19050" anchor="ctr">
                    <a:lnL w="5715">
                      <a:noFill/>
                    </a:lnL>
                    <a:lnR w="5715">
                      <a:noFill/>
                    </a:lnR>
                    <a:lnT w="5715">
                      <a:noFill/>
                    </a:lnT>
                    <a:lnB w="5715">
                      <a:solidFill>
                        <a:srgbClr val="D8D2C7"/>
                      </a:solidFill>
                    </a:lnB>
                    <a:solidFill>
                      <a:srgbClr val="F4EFE6"/>
                    </a:solidFill>
                  </a:tcPr>
                </a:tc>
                <a:tc>
                  <a:txBody>
                    <a:bodyPr/>
                    <a:lstStyle/>
                    <a:p>
                      <a:r>
                        <a:rPr sz="1800" b="0">
                          <a:solidFill>
                            <a:srgbClr val="080808"/>
                          </a:solidFill>
                          <a:latin typeface="Arial"/>
                          <a:ea typeface="Arial"/>
                          <a:cs typeface="Arial"/>
                        </a:rPr>
                        <a:t>20% of reference demand</a:t>
                      </a:r>
                    </a:p>
                    <a:p>
                      <a:r>
                        <a:rPr sz="1800" b="0">
                          <a:solidFill>
                            <a:srgbClr val="080808"/>
                          </a:solidFill>
                          <a:latin typeface="Arial"/>
                          <a:ea typeface="Arial"/>
                          <a:cs typeface="Arial"/>
                        </a:rPr>
                        <a:t>at each interval</a:t>
                      </a:r>
                    </a:p>
                  </a:txBody>
                  <a:tcPr marL="114300" marR="114300" marT="19050" marB="19050" anchor="ctr">
                    <a:lnL w="5715">
                      <a:noFill/>
                    </a:lnL>
                    <a:lnR w="5715">
                      <a:noFill/>
                    </a:lnR>
                    <a:lnT w="5715">
                      <a:noFill/>
                    </a:lnT>
                    <a:lnB w="5715">
                      <a:solidFill>
                        <a:srgbClr val="D8D2C7"/>
                      </a:solidFill>
                    </a:lnB>
                    <a:solidFill>
                      <a:srgbClr val="F4EFE6"/>
                    </a:solidFill>
                  </a:tcPr>
                </a:tc>
                <a:tc>
                  <a:txBody>
                    <a:bodyPr/>
                    <a:lstStyle/>
                    <a:p>
                      <a:r>
                        <a:rPr sz="1800" b="1">
                          <a:solidFill>
                            <a:srgbClr val="174A72"/>
                          </a:solidFill>
                          <a:latin typeface="Arial"/>
                          <a:ea typeface="Arial"/>
                          <a:cs typeface="Arial"/>
                        </a:rPr>
                        <a:t>Margin from past</a:t>
                      </a:r>
                    </a:p>
                    <a:p>
                      <a:r>
                        <a:rPr sz="1800" b="1">
                          <a:solidFill>
                            <a:srgbClr val="174A72"/>
                          </a:solidFill>
                          <a:latin typeface="Arial"/>
                          <a:ea typeface="Arial"/>
                          <a:cs typeface="Arial"/>
                        </a:rPr>
                        <a:t>forecast errors</a:t>
                      </a:r>
                    </a:p>
                  </a:txBody>
                  <a:tcPr marL="114300" marR="114300" marT="19050" marB="19050" anchor="ctr">
                    <a:lnL w="5715">
                      <a:noFill/>
                    </a:lnL>
                    <a:lnR w="5715">
                      <a:noFill/>
                    </a:lnR>
                    <a:lnT w="5715">
                      <a:noFill/>
                    </a:lnT>
                    <a:lnB w="5715">
                      <a:solidFill>
                        <a:srgbClr val="D8D2C7"/>
                      </a:solidFill>
                    </a:lnB>
                    <a:solidFill>
                      <a:srgbClr val="E5EEF3"/>
                    </a:solidFill>
                  </a:tcPr>
                </a:tc>
              </a:tr>
              <a:tr h="619125">
                <a:tc>
                  <a:txBody>
                    <a:bodyPr/>
                    <a:lstStyle/>
                    <a:p>
                      <a:r>
                        <a:rPr sz="1800" b="0">
                          <a:solidFill>
                            <a:srgbClr val="080808"/>
                          </a:solidFill>
                          <a:latin typeface="Arial"/>
                          <a:ea typeface="Arial"/>
                          <a:cs typeface="Arial"/>
                        </a:rPr>
                        <a:t>Uncertainty response</a:t>
                      </a:r>
                    </a:p>
                  </a:txBody>
                  <a:tcPr marL="114300" marR="114300" marT="19050" marB="19050" anchor="ctr">
                    <a:lnL w="5715">
                      <a:noFill/>
                    </a:lnL>
                    <a:lnR w="5715">
                      <a:noFill/>
                    </a:lnR>
                    <a:lnT w="5715">
                      <a:noFill/>
                    </a:lnT>
                    <a:lnB w="5715">
                      <a:solidFill>
                        <a:srgbClr val="D8D2C7"/>
                      </a:solidFill>
                    </a:lnB>
                    <a:solidFill>
                      <a:srgbClr val="F4EFE6"/>
                    </a:solidFill>
                  </a:tcPr>
                </a:tc>
                <a:tc>
                  <a:txBody>
                    <a:bodyPr/>
                    <a:lstStyle/>
                    <a:p>
                      <a:r>
                        <a:rPr sz="1800" b="0">
                          <a:solidFill>
                            <a:srgbClr val="080808"/>
                          </a:solidFill>
                          <a:latin typeface="Arial"/>
                          <a:ea typeface="Arial"/>
                          <a:cs typeface="Arial"/>
                        </a:rPr>
                        <a:t>No adjustment to errors</a:t>
                      </a:r>
                    </a:p>
                  </a:txBody>
                  <a:tcPr marL="114300" marR="114300" marT="19050" marB="19050" anchor="ctr">
                    <a:lnL w="5715">
                      <a:noFill/>
                    </a:lnL>
                    <a:lnR w="5715">
                      <a:noFill/>
                    </a:lnR>
                    <a:lnT w="5715">
                      <a:noFill/>
                    </a:lnT>
                    <a:lnB w="5715">
                      <a:solidFill>
                        <a:srgbClr val="D8D2C7"/>
                      </a:solidFill>
                    </a:lnB>
                    <a:solidFill>
                      <a:srgbClr val="F4EFE6"/>
                    </a:solidFill>
                  </a:tcPr>
                </a:tc>
                <a:tc>
                  <a:txBody>
                    <a:bodyPr/>
                    <a:lstStyle/>
                    <a:p>
                      <a:r>
                        <a:rPr sz="1800" b="1">
                          <a:solidFill>
                            <a:srgbClr val="174A72"/>
                          </a:solidFill>
                          <a:latin typeface="Arial"/>
                          <a:ea typeface="Arial"/>
                          <a:cs typeface="Arial"/>
                        </a:rPr>
                        <a:t>Larger spread can increase margin</a:t>
                      </a:r>
                    </a:p>
                  </a:txBody>
                  <a:tcPr marL="114300" marR="114300" marT="19050" marB="19050" anchor="ctr">
                    <a:lnL w="5715">
                      <a:noFill/>
                    </a:lnL>
                    <a:lnR w="5715">
                      <a:noFill/>
                    </a:lnR>
                    <a:lnT w="5715">
                      <a:noFill/>
                    </a:lnT>
                    <a:lnB w="5715">
                      <a:solidFill>
                        <a:srgbClr val="D8D2C7"/>
                      </a:solidFill>
                    </a:lnB>
                    <a:solidFill>
                      <a:srgbClr val="E5EEF3"/>
                    </a:solidFill>
                  </a:tcPr>
                </a:tc>
              </a:tr>
              <a:tr h="619125">
                <a:tc>
                  <a:txBody>
                    <a:bodyPr/>
                    <a:lstStyle/>
                    <a:p>
                      <a:r>
                        <a:rPr sz="1800" b="0">
                          <a:solidFill>
                            <a:srgbClr val="080808"/>
                          </a:solidFill>
                          <a:latin typeface="Arial"/>
                          <a:ea typeface="Arial"/>
                          <a:cs typeface="Arial"/>
                        </a:rPr>
                        <a:t>Confidence response</a:t>
                      </a:r>
                    </a:p>
                  </a:txBody>
                  <a:tcPr marL="114300" marR="114300" marT="19050" marB="19050" anchor="ctr">
                    <a:lnL w="5715">
                      <a:noFill/>
                    </a:lnL>
                    <a:lnR w="5715">
                      <a:noFill/>
                    </a:lnR>
                    <a:lnT w="5715">
                      <a:noFill/>
                    </a:lnT>
                    <a:lnB w="5715">
                      <a:solidFill>
                        <a:srgbClr val="D8D2C7"/>
                      </a:solidFill>
                    </a:lnB>
                    <a:solidFill>
                      <a:srgbClr val="F4EFE6"/>
                    </a:solidFill>
                  </a:tcPr>
                </a:tc>
                <a:tc>
                  <a:txBody>
                    <a:bodyPr/>
                    <a:lstStyle/>
                    <a:p>
                      <a:r>
                        <a:rPr sz="1800" b="0">
                          <a:solidFill>
                            <a:srgbClr val="080808"/>
                          </a:solidFill>
                          <a:latin typeface="Arial"/>
                          <a:ea typeface="Arial"/>
                          <a:cs typeface="Arial"/>
                        </a:rPr>
                        <a:t>Same percentage rule</a:t>
                      </a:r>
                    </a:p>
                  </a:txBody>
                  <a:tcPr marL="114300" marR="114300" marT="19050" marB="19050" anchor="ctr">
                    <a:lnL w="5715">
                      <a:noFill/>
                    </a:lnL>
                    <a:lnR w="5715">
                      <a:noFill/>
                    </a:lnR>
                    <a:lnT w="5715">
                      <a:noFill/>
                    </a:lnT>
                    <a:lnB w="5715">
                      <a:solidFill>
                        <a:srgbClr val="D8D2C7"/>
                      </a:solidFill>
                    </a:lnB>
                    <a:solidFill>
                      <a:srgbClr val="F4EFE6"/>
                    </a:solidFill>
                  </a:tcPr>
                </a:tc>
                <a:tc>
                  <a:txBody>
                    <a:bodyPr/>
                    <a:lstStyle/>
                    <a:p>
                      <a:r>
                        <a:rPr sz="1800" b="1">
                          <a:solidFill>
                            <a:srgbClr val="174A72"/>
                          </a:solidFill>
                          <a:latin typeface="Arial"/>
                          <a:ea typeface="Arial"/>
                          <a:cs typeface="Arial"/>
                        </a:rPr>
                        <a:t>Smaller spread can reduce margin</a:t>
                      </a:r>
                    </a:p>
                  </a:txBody>
                  <a:tcPr marL="114300" marR="114300" marT="19050" marB="19050" anchor="ctr">
                    <a:lnL w="5715">
                      <a:noFill/>
                    </a:lnL>
                    <a:lnR w="5715">
                      <a:noFill/>
                    </a:lnR>
                    <a:lnT w="5715">
                      <a:noFill/>
                    </a:lnT>
                    <a:lnB w="5715">
                      <a:solidFill>
                        <a:srgbClr val="D8D2C7"/>
                      </a:solidFill>
                    </a:lnB>
                    <a:solidFill>
                      <a:srgbClr val="E5EEF3"/>
                    </a:solidFill>
                  </a:tcPr>
                </a:tc>
              </a:tr>
              <a:tr h="619125">
                <a:tc>
                  <a:txBody>
                    <a:bodyPr/>
                    <a:lstStyle/>
                    <a:p>
                      <a:r>
                        <a:rPr sz="1800" b="0">
                          <a:solidFill>
                            <a:srgbClr val="080808"/>
                          </a:solidFill>
                          <a:latin typeface="Arial"/>
                          <a:ea typeface="Arial"/>
                          <a:cs typeface="Arial"/>
                        </a:rPr>
                        <a:t>Constraints</a:t>
                      </a:r>
                    </a:p>
                  </a:txBody>
                  <a:tcPr marL="114300" marR="114300" marT="19050" marB="19050" anchor="ctr">
                    <a:lnL w="5715">
                      <a:noFill/>
                    </a:lnL>
                    <a:lnR w="5715">
                      <a:noFill/>
                    </a:lnR>
                    <a:lnT w="5715">
                      <a:noFill/>
                    </a:lnT>
                    <a:lnB w="5715">
                      <a:solidFill>
                        <a:srgbClr val="D8D2C7"/>
                      </a:solidFill>
                    </a:lnB>
                    <a:solidFill>
                      <a:srgbClr val="F4EFE6"/>
                    </a:solidFill>
                  </a:tcPr>
                </a:tc>
                <a:tc>
                  <a:txBody>
                    <a:bodyPr/>
                    <a:lstStyle/>
                    <a:p>
                      <a:r>
                        <a:rPr sz="1800" b="0">
                          <a:solidFill>
                            <a:srgbClr val="080808"/>
                          </a:solidFill>
                          <a:latin typeface="Arial"/>
                          <a:ea typeface="Arial"/>
                          <a:cs typeface="Arial"/>
                        </a:rPr>
                        <a:t>Same power + daily</a:t>
                      </a:r>
                    </a:p>
                    <a:p>
                      <a:r>
                        <a:rPr sz="1800" b="0">
                          <a:solidFill>
                            <a:srgbClr val="080808"/>
                          </a:solidFill>
                          <a:latin typeface="Arial"/>
                          <a:ea typeface="Arial"/>
                          <a:cs typeface="Arial"/>
                        </a:rPr>
                        <a:t>energy limits</a:t>
                      </a:r>
                    </a:p>
                  </a:txBody>
                  <a:tcPr marL="114300" marR="114300" marT="19050" marB="19050" anchor="ctr">
                    <a:lnL w="5715">
                      <a:noFill/>
                    </a:lnL>
                    <a:lnR w="5715">
                      <a:noFill/>
                    </a:lnR>
                    <a:lnT w="5715">
                      <a:noFill/>
                    </a:lnT>
                    <a:lnB w="5715">
                      <a:solidFill>
                        <a:srgbClr val="D8D2C7"/>
                      </a:solidFill>
                    </a:lnB>
                    <a:solidFill>
                      <a:srgbClr val="F4EFE6"/>
                    </a:solidFill>
                  </a:tcPr>
                </a:tc>
                <a:tc>
                  <a:txBody>
                    <a:bodyPr/>
                    <a:lstStyle/>
                    <a:p>
                      <a:r>
                        <a:rPr sz="1800" b="1">
                          <a:solidFill>
                            <a:srgbClr val="174A72"/>
                          </a:solidFill>
                          <a:latin typeface="Arial"/>
                          <a:ea typeface="Arial"/>
                          <a:cs typeface="Arial"/>
                        </a:rPr>
                        <a:t>Same power + daily</a:t>
                      </a:r>
                    </a:p>
                    <a:p>
                      <a:r>
                        <a:rPr sz="1800" b="1">
                          <a:solidFill>
                            <a:srgbClr val="174A72"/>
                          </a:solidFill>
                          <a:latin typeface="Arial"/>
                          <a:ea typeface="Arial"/>
                          <a:cs typeface="Arial"/>
                        </a:rPr>
                        <a:t>energy limits</a:t>
                      </a:r>
                    </a:p>
                  </a:txBody>
                  <a:tcPr marL="114300" marR="114300" marT="19050" marB="19050" anchor="ctr">
                    <a:lnL w="5715">
                      <a:noFill/>
                    </a:lnL>
                    <a:lnR w="5715">
                      <a:noFill/>
                    </a:lnR>
                    <a:lnT w="5715">
                      <a:noFill/>
                    </a:lnT>
                    <a:lnB w="5715">
                      <a:solidFill>
                        <a:srgbClr val="D8D2C7"/>
                      </a:solidFill>
                    </a:lnB>
                    <a:solidFill>
                      <a:srgbClr val="E5EEF3"/>
                    </a:solidFill>
                  </a:tcPr>
                </a:tc>
              </a:tr>
            </a:tbl>
          </a:graphicData>
        </a:graphic>
      </p:graphicFrame>
      <p:sp>
        <p:nvSpPr>
          <p:cNvPr id="27" name="Chronological submission 8 Reserve responds to forecast uncert">
            <a:extLst>
              <a:ext uri="{FF2B5EF4-FFF2-40B4-BE49-F238E27FC236}">
                <ns2:creationId id="{68B23DB2-B6E7-466E-84C5-6C494865A748}"/>
              </a:ext>
            </a:extLst>
          </p:cNvPr>
          <p:cNvSpPr>
            <a:spLocks noGrp="1"/>
          </p:cNvSpPr>
          <p:nvPr/>
        </p:nvSpPr>
        <p:spPr>
          <a:xfrm>
            <a:off x="609600" y="5133975"/>
            <a:ext cx="10991850" cy="409575"/>
          </a:xfrm>
          <a:prstGeom prst="rect">
            <a:avLst/>
          </a:prstGeom>
          <a:noFill/>
          <a:ln w="0">
            <a:noFill/>
          </a:ln>
        </p:spPr>
        <p:txBody>
          <a:bodyPr lIns="0" tIns="0" rIns="0" bIns="0" anchor="t">
            <a:noAutofit/>
          </a:bodyPr>
          <a:lstStyle/>
          <a:p>
            <a:pPr algn="l"/>
            <a:r>
              <a:rPr sz="2250" b="1">
                <a:solidFill>
                  <a:srgbClr val="174A72"/>
                </a:solidFill>
                <a:latin typeface="Arial"/>
              </a:rPr>
              <a:t>Reserve margin: extra backup for forecast uncertainty.</a:t>
            </a:r>
            <a:endParaRPr sz="2250"/>
          </a:p>
        </p:txBody>
      </p:sp>
      <p:sp>
        <p:nvSpPr>
          <p:cNvPr id="28" name="Chronological submission 8 Margin = max(0, 1.645σ − μ)">
            <a:extLst>
              <a:ext uri="{FF2B5EF4-FFF2-40B4-BE49-F238E27FC236}">
                <ns2:creationId id="{5DE39EF1-900A-424F-82BA-D86DF87600D0}"/>
              </a:ext>
            </a:extLst>
          </p:cNvPr>
          <p:cNvSpPr>
            <a:spLocks noGrp="1"/>
          </p:cNvSpPr>
          <p:nvPr/>
        </p:nvSpPr>
        <p:spPr>
          <a:xfrm>
            <a:off x="609600" y="5638800"/>
            <a:ext cx="10991850" cy="342900"/>
          </a:xfrm>
          <a:prstGeom prst="rect">
            <a:avLst/>
          </a:prstGeom>
          <a:noFill/>
          <a:ln w="0">
            <a:noFill/>
          </a:ln>
        </p:spPr>
        <p:txBody>
          <a:bodyPr lIns="0" tIns="0" rIns="0" bIns="0">
            <a:noAutofit/>
          </a:bodyPr>
          <a:lstStyle/>
          <a:p>
            <a:pPr algn="l">
              <a:defRPr sz="2100" b="0">
                <a:solidFill>
                  <a:srgbClr val="080808"/>
                </a:solidFill>
                <a:latin typeface="Arial"/>
                <a:ea typeface="Arial"/>
                <a:cs typeface="Arial"/>
              </a:defRPr>
            </a:pPr>
            <a:r>
              <a:rPr sz="2100" b="0">
                <a:solidFill>
                  <a:srgbClr val="080808"/>
                </a:solidFill>
                <a:latin typeface="Arial"/>
                <a:ea typeface="Arial"/>
                <a:cs typeface="Arial"/>
              </a:rPr>
              <a:t>Margin = max(0, 1.645σ − μ)</a:t>
            </a:r>
          </a:p>
        </p:txBody>
      </p:sp>
      <p:sp>
        <p:nvSpPr>
          <p:cNvPr id="29" name="Chronological submission 8 μ: mean error. σ: error spread. Err">
            <a:extLst>
              <a:ext uri="{FF2B5EF4-FFF2-40B4-BE49-F238E27FC236}">
                <ns2:creationId id="{191D813F-67BA-4393-BC25-D485D583C0F6}"/>
              </a:ext>
            </a:extLst>
          </p:cNvPr>
          <p:cNvSpPr>
            <a:spLocks noGrp="1"/>
          </p:cNvSpPr>
          <p:nvPr/>
        </p:nvSpPr>
        <p:spPr>
          <a:xfrm>
            <a:off x="609600" y="6038850"/>
            <a:ext cx="10991850" cy="295275"/>
          </a:xfrm>
          <a:prstGeom prst="rect">
            <a:avLst/>
          </a:prstGeom>
          <a:noFill/>
          <a:ln w="0">
            <a:noFill/>
          </a:ln>
        </p:spPr>
        <p:txBody>
          <a:bodyPr lIns="0" tIns="0" rIns="0" bIns="0">
            <a:noAutofit/>
          </a:bodyPr>
          <a:lstStyle/>
          <a:p>
            <a:pPr algn="l">
              <a:defRPr sz="1875" b="0">
                <a:solidFill>
                  <a:srgbClr val="68645E"/>
                </a:solidFill>
                <a:latin typeface="Arial"/>
                <a:ea typeface="Arial"/>
                <a:cs typeface="Arial"/>
              </a:defRPr>
            </a:pPr>
            <a:r>
              <a:rPr sz="1875" b="0">
                <a:solidFill>
                  <a:srgbClr val="68645E"/>
                </a:solidFill>
                <a:latin typeface="Arial"/>
                <a:ea typeface="Arial"/>
                <a:cs typeface="Arial"/>
              </a:rPr>
              <a:t>μ: mean error. σ: error spread. Error = actual solar − forecast.</a:t>
            </a:r>
          </a:p>
        </p:txBody>
      </p:sp>
      <p:sp>
        <p:nvSpPr>
          <p:cNvPr id="30" name="Chronological submission 8 Nominal statistical coverage does n">
            <a:extLst>
              <a:ext uri="{FF2B5EF4-FFF2-40B4-BE49-F238E27FC236}">
                <ns2:creationId id="{E897BDBD-E7E6-4437-955B-84D113298937}"/>
              </a:ext>
            </a:extLst>
          </p:cNvPr>
          <p:cNvSpPr>
            <a:spLocks noGrp="1"/>
          </p:cNvSpPr>
          <p:nvPr/>
        </p:nvSpPr>
        <p:spPr>
          <a:xfrm>
            <a:off x="609600" y="6457950"/>
            <a:ext cx="10991850" cy="285750"/>
          </a:xfrm>
          <a:prstGeom prst="rect">
            <a:avLst/>
          </a:prstGeom>
          <a:noFill/>
          <a:ln w="0">
            <a:noFill/>
          </a:ln>
        </p:spPr>
        <p:txBody>
          <a:bodyPr lIns="0" tIns="0" rIns="0" bIns="0">
            <a:noAutofit/>
          </a:bodyPr>
          <a:lstStyle/>
          <a:p>
            <a:pPr algn="l">
              <a:defRPr sz="1875" b="0">
                <a:solidFill>
                  <a:srgbClr val="68645E"/>
                </a:solidFill>
                <a:latin typeface="Arial"/>
                <a:ea typeface="Arial"/>
                <a:cs typeface="Arial"/>
              </a:defRPr>
            </a:pPr>
            <a:r>
              <a:rPr sz="1875" b="0">
                <a:solidFill>
                  <a:srgbClr val="68645E"/>
                </a:solidFill>
                <a:latin typeface="Arial"/>
                <a:ea typeface="Arial"/>
                <a:cs typeface="Arial"/>
              </a:rPr>
              <a:t>Nominal statistical coverage does not guarantee achieved supply availability.</a:t>
            </a:r>
          </a:p>
        </p:txBody>
      </p:sp>
    </p:spTree>
    <p:extLst>
      <p:ext uri="{BB962C8B-B14F-4D97-AF65-F5344CB8AC3E}">
        <ns3:creationId val="966982614"/>
      </p:ext>
    </p:extLst>
  </p:cSld>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4EFE6"/>
        </a:solidFill>
      </p:bgPr>
    </p:bg>
    <p:spTree>
      <p:nvGrpSpPr>
        <p:cNvPr id="1" name=""/>
        <p:cNvGrpSpPr/>
        <p:nvPr/>
      </p:nvGrpSpPr>
      <p:grpSpPr>
        <a:xfrm/>
      </p:grpSpPr>
      <p:sp>
        <p:nvSpPr>
          <p:cNvPr id="2" name="">
            <a:extLst>
              <a:ext uri="{FF2B5EF4-FFF2-40B4-BE49-F238E27FC236}">
                <ns2:creationId id="{18391946-46F8-4A54-8C40-72F1890DE60F}"/>
              </a:ext>
            </a:extLst>
          </p:cNvPr>
          <p:cNvSpPr>
            <a:spLocks noGrp="1"/>
          </p:cNvSpPr>
          <p:nvPr/>
        </p:nvSpPr>
        <p:spPr>
          <a:xfrm>
            <a:off x="10953750" y="523875"/>
            <a:ext cx="914400" cy="285750"/>
          </a:xfrm>
          <a:prstGeom prst="rect">
            <a:avLst/>
          </a:prstGeom>
          <a:noFill/>
          <a:ln w="0">
            <a:noFill/>
          </a:ln>
        </p:spPr>
        <p:txBody>
          <a:bodyPr lIns="0" tIns="0" rIns="0" bIns="0">
            <a:noAutofit/>
          </a:bodyPr>
          <a:lstStyle/>
          <a:p>
            <a:pPr>
              <a:buNone/>
              <a:defRPr sz="1575" b="1">
                <a:solidFill>
                  <a:srgbClr val="5F5A52"/>
                </a:solidFill>
                <a:latin typeface="Arial"/>
                <a:ea typeface="Arial"/>
                <a:cs typeface="Arial"/>
              </a:defRPr>
            </a:pPr>
            <a:r>
              <a:rPr sz="1575" b="1">
                <a:solidFill>
                  <a:srgbClr val="5F5A52"/>
                </a:solidFill>
                <a:latin typeface="Arial"/>
                <a:ea typeface="Arial"/>
                <a:cs typeface="Arial"/>
              </a:rPr>
              <a:t>09/12</a:t>
            </a:r>
          </a:p>
        </p:txBody>
      </p:sp>
      <p:sp>
        <p:nvSpPr>
          <p:cNvPr id="101" name="Text 101">
            <a:extLst>
              <a:ext uri="{FF2B5EF4-FFF2-40B4-BE49-F238E27FC236}">
                <ns2:creationId id="{4D1CB468-B504-480D-BEEE-DB289D94DC12}"/>
              </a:ext>
            </a:extLst>
          </p:cNvPr>
          <p:cNvSpPr>
            <a:spLocks noGrp="1"/>
          </p:cNvSpPr>
          <p:nvPr/>
        </p:nvSpPr>
        <p:spPr>
          <a:xfrm>
            <a:off x="612648" y="438912"/>
            <a:ext cx="10195560" cy="685800"/>
          </a:xfrm>
          <a:prstGeom prst="rect">
            <a:avLst/>
          </a:prstGeom>
          <a:noFill/>
          <a:ln w="0">
            <a:noFill/>
          </a:ln>
        </p:spPr>
        <p:txBody>
          <a:bodyPr lIns="0" tIns="0" rIns="0" bIns="0">
            <a:noAutofit/>
          </a:bodyPr>
          <a:lstStyle/>
          <a:p>
            <a:pPr algn="l">
              <a:defRPr sz="2900" b="1">
                <a:solidFill>
                  <a:srgbClr val="222222"/>
                </a:solidFill>
                <a:latin typeface="Arial"/>
                <a:ea typeface="Arial"/>
                <a:cs typeface="Arial"/>
              </a:defRPr>
            </a:pPr>
            <a:r>
              <a:rPr sz="2900" b="1">
                <a:solidFill>
                  <a:srgbClr val="222222"/>
                </a:solidFill>
                <a:latin typeface="Arial"/>
                <a:ea typeface="Arial"/>
                <a:cs typeface="Arial"/>
              </a:rPr>
              <a:t>Robust aggregation and communication-efficient FL</a:t>
            </a:r>
          </a:p>
        </p:txBody>
      </p:sp>
      <p:sp>
        <p:nvSpPr>
          <p:cNvPr id="102" name="Text 102">
            <a:extLst>
              <a:ext uri="{FF2B5EF4-FFF2-40B4-BE49-F238E27FC236}">
                <ns2:creationId id="{4D1CB468-B504-480D-BEEE-DB289D94DC12}"/>
              </a:ext>
            </a:extLst>
          </p:cNvPr>
          <p:cNvSpPr>
            <a:spLocks noGrp="1"/>
          </p:cNvSpPr>
          <p:nvPr/>
        </p:nvSpPr>
        <p:spPr>
          <a:xfrm>
            <a:off x="612648" y="1133856"/>
            <a:ext cx="10972800" cy="365760"/>
          </a:xfrm>
          <a:prstGeom prst="rect">
            <a:avLst/>
          </a:prstGeom>
          <a:noFill/>
          <a:ln w="0">
            <a:noFill/>
          </a:ln>
        </p:spPr>
        <p:txBody>
          <a:bodyPr lIns="0" tIns="0" rIns="0" bIns="0">
            <a:noAutofit/>
          </a:bodyPr>
          <a:lstStyle/>
          <a:p>
            <a:pPr algn="l">
              <a:defRPr sz="1700" b="0">
                <a:solidFill>
                  <a:srgbClr val="666666"/>
                </a:solidFill>
                <a:latin typeface="Arial"/>
                <a:ea typeface="Arial"/>
                <a:cs typeface="Arial"/>
              </a:defRPr>
            </a:pPr>
            <a:r>
              <a:rPr sz="1700" b="0">
                <a:solidFill>
                  <a:srgbClr val="666666"/>
                </a:solidFill>
                <a:latin typeface="Arial"/>
                <a:ea typeface="Arial"/>
                <a:cs typeface="Arial"/>
              </a:rPr>
              <a:t>Reliability-aware parameter averaging and selective client uploads</a:t>
            </a:r>
          </a:p>
        </p:txBody>
      </p:sp>
      <p:sp>
        <p:nvSpPr>
          <p:cNvPr id="103" name="Text 103">
            <a:extLst>
              <a:ext uri="{FF2B5EF4-FFF2-40B4-BE49-F238E27FC236}">
                <ns2:creationId id="{4D1CB468-B504-480D-BEEE-DB289D94DC12}"/>
              </a:ext>
            </a:extLst>
          </p:cNvPr>
          <p:cNvSpPr>
            <a:spLocks noGrp="1"/>
          </p:cNvSpPr>
          <p:nvPr/>
        </p:nvSpPr>
        <p:spPr>
          <a:xfrm>
            <a:off x="612648" y="1810512"/>
            <a:ext cx="5166360" cy="365760"/>
          </a:xfrm>
          <a:prstGeom prst="rect">
            <a:avLst/>
          </a:prstGeom>
          <a:noFill/>
          <a:ln w="0">
            <a:noFill/>
          </a:ln>
        </p:spPr>
        <p:txBody>
          <a:bodyPr lIns="0" tIns="0" rIns="0" bIns="0">
            <a:noAutofit/>
          </a:bodyPr>
          <a:lstStyle/>
          <a:p>
            <a:pPr algn="l">
              <a:defRPr sz="1700" b="1">
                <a:solidFill>
                  <a:srgbClr val="194F73"/>
                </a:solidFill>
                <a:latin typeface="Arial"/>
                <a:ea typeface="Arial"/>
                <a:cs typeface="Arial"/>
              </a:defRPr>
            </a:pPr>
            <a:r>
              <a:rPr sz="1700" b="1">
                <a:solidFill>
                  <a:srgbClr val="194F73"/>
                </a:solidFill>
                <a:latin typeface="Arial"/>
                <a:ea typeface="Arial"/>
                <a:cs typeface="Arial"/>
              </a:rPr>
              <a:t>1. RELIABILITY-AWARE AGGREGATION</a:t>
            </a:r>
          </a:p>
        </p:txBody>
      </p:sp>
      <p:sp>
        <p:nvSpPr>
          <p:cNvPr id="104" name="Text 104">
            <a:extLst>
              <a:ext uri="{FF2B5EF4-FFF2-40B4-BE49-F238E27FC236}">
                <ns2:creationId id="{4D1CB468-B504-480D-BEEE-DB289D94DC12}"/>
              </a:ext>
            </a:extLst>
          </p:cNvPr>
          <p:cNvSpPr>
            <a:spLocks noGrp="1"/>
          </p:cNvSpPr>
          <p:nvPr/>
        </p:nvSpPr>
        <p:spPr>
          <a:xfrm>
            <a:off x="612648" y="2267712"/>
            <a:ext cx="5120640" cy="548640"/>
          </a:xfrm>
          <a:prstGeom prst="rect">
            <a:avLst/>
          </a:prstGeom>
          <a:noFill/>
          <a:ln w="0">
            <a:noFill/>
          </a:ln>
        </p:spPr>
        <p:txBody>
          <a:bodyPr lIns="0" tIns="0" rIns="0" bIns="0">
            <a:noAutofit/>
          </a:bodyPr>
          <a:lstStyle/>
          <a:p>
            <a:pPr algn="l">
              <a:defRPr sz="1600" b="0">
                <a:solidFill>
                  <a:srgbClr val="222222"/>
                </a:solidFill>
                <a:latin typeface="Arial"/>
                <a:ea typeface="Arial"/>
                <a:cs typeface="Arial"/>
              </a:defRPr>
            </a:pPr>
            <a:r>
              <a:rPr sz="1600" b="0">
                <a:solidFill>
                  <a:srgbClr val="222222"/>
                </a:solidFill>
                <a:latin typeface="Arial"/>
                <a:ea typeface="Arial"/>
                <a:cs typeface="Arial"/>
              </a:rPr>
              <a:t>Stale or degraded client updates can distort the global model.</a:t>
            </a:r>
          </a:p>
        </p:txBody>
      </p:sp>
      <p:sp>
        <p:nvSpPr>
          <p:cNvPr id="105" name="Editable diagram 105"/>
          <p:cNvSpPr/>
          <p:nvPr/>
        </p:nvSpPr>
        <p:spPr>
          <a:xfrm>
            <a:off x="612648" y="2962656"/>
            <a:ext cx="1499616" cy="804672"/>
          </a:xfrm>
          <a:prstGeom prst="rect">
            <a:avLst/>
          </a:prstGeom>
          <a:solidFill>
            <a:srgbClr val="F4EFE6"/>
          </a:solidFill>
          <a:ln w="12700">
            <a:solidFill>
              <a:srgbClr val="194F73"/>
            </a:solidFill>
          </a:ln>
        </p:spPr>
      </p:sp>
      <p:sp>
        <p:nvSpPr>
          <p:cNvPr id="106" name="Text 106">
            <a:extLst>
              <a:ext uri="{FF2B5EF4-FFF2-40B4-BE49-F238E27FC236}">
                <ns2:creationId id="{4D1CB468-B504-480D-BEEE-DB289D94DC12}"/>
              </a:ext>
            </a:extLst>
          </p:cNvPr>
          <p:cNvSpPr>
            <a:spLocks noGrp="1"/>
          </p:cNvSpPr>
          <p:nvPr/>
        </p:nvSpPr>
        <p:spPr>
          <a:xfrm>
            <a:off x="722376" y="3090672"/>
            <a:ext cx="1280160" cy="557784"/>
          </a:xfrm>
          <a:prstGeom prst="rect">
            <a:avLst/>
          </a:prstGeom>
          <a:noFill/>
          <a:ln w="0">
            <a:noFill/>
          </a:ln>
        </p:spPr>
        <p:txBody>
          <a:bodyPr lIns="0" tIns="0" rIns="0" bIns="0">
            <a:noAutofit/>
          </a:bodyPr>
          <a:lstStyle/>
          <a:p>
            <a:pPr algn="l">
              <a:defRPr sz="1500" b="1">
                <a:solidFill>
                  <a:srgbClr val="194F73"/>
                </a:solidFill>
                <a:latin typeface="Arial"/>
                <a:ea typeface="Arial"/>
                <a:cs typeface="Arial"/>
              </a:defRPr>
            </a:pPr>
            <a:r>
              <a:rPr sz="1500" b="1">
                <a:solidFill>
                  <a:srgbClr val="194F73"/>
                </a:solidFill>
                <a:latin typeface="Arial"/>
                <a:ea typeface="Arial"/>
                <a:cs typeface="Arial"/>
              </a:rPr>
              <a:t>Local model</a:t>
            </a:r>
          </a:p>
          <a:p>
            <a:pPr algn="l">
              <a:defRPr sz="1500" b="1">
                <a:solidFill>
                  <a:srgbClr val="194F73"/>
                </a:solidFill>
                <a:latin typeface="Arial"/>
                <a:ea typeface="Arial"/>
                <a:cs typeface="Arial"/>
              </a:defRPr>
            </a:pPr>
            <a:r>
              <a:rPr sz="1500" b="1">
                <a:solidFill>
                  <a:srgbClr val="194F73"/>
                </a:solidFill>
                <a:latin typeface="Arial"/>
                <a:ea typeface="Arial"/>
                <a:cs typeface="Arial"/>
              </a:rPr>
              <a:t>parameters</a:t>
            </a:r>
          </a:p>
        </p:txBody>
      </p:sp>
      <p:sp>
        <p:nvSpPr>
          <p:cNvPr id="107" name="Editable diagram 107"/>
          <p:cNvSpPr/>
          <p:nvPr/>
        </p:nvSpPr>
        <p:spPr>
          <a:xfrm>
            <a:off x="2523744" y="2962656"/>
            <a:ext cx="1499616" cy="804672"/>
          </a:xfrm>
          <a:prstGeom prst="rect">
            <a:avLst/>
          </a:prstGeom>
          <a:solidFill>
            <a:srgbClr val="F4EFE6"/>
          </a:solidFill>
          <a:ln w="12700">
            <a:solidFill>
              <a:srgbClr val="194F73"/>
            </a:solidFill>
          </a:ln>
        </p:spPr>
      </p:sp>
      <p:sp>
        <p:nvSpPr>
          <p:cNvPr id="108" name="Text 108">
            <a:extLst>
              <a:ext uri="{FF2B5EF4-FFF2-40B4-BE49-F238E27FC236}">
                <ns2:creationId id="{4D1CB468-B504-480D-BEEE-DB289D94DC12}"/>
              </a:ext>
            </a:extLst>
          </p:cNvPr>
          <p:cNvSpPr>
            <a:spLocks noGrp="1"/>
          </p:cNvSpPr>
          <p:nvPr/>
        </p:nvSpPr>
        <p:spPr>
          <a:xfrm>
            <a:off x="2633472" y="3090672"/>
            <a:ext cx="1280160" cy="557784"/>
          </a:xfrm>
          <a:prstGeom prst="rect">
            <a:avLst/>
          </a:prstGeom>
          <a:noFill/>
          <a:ln w="0">
            <a:noFill/>
          </a:ln>
        </p:spPr>
        <p:txBody>
          <a:bodyPr lIns="0" tIns="0" rIns="0" bIns="0">
            <a:noAutofit/>
          </a:bodyPr>
          <a:lstStyle/>
          <a:p>
            <a:pPr algn="l">
              <a:defRPr sz="1500" b="1">
                <a:solidFill>
                  <a:srgbClr val="194F73"/>
                </a:solidFill>
                <a:latin typeface="Arial"/>
                <a:ea typeface="Arial"/>
                <a:cs typeface="Arial"/>
              </a:defRPr>
            </a:pPr>
            <a:r>
              <a:rPr sz="1500" b="1">
                <a:solidFill>
                  <a:srgbClr val="194F73"/>
                </a:solidFill>
                <a:latin typeface="Arial"/>
                <a:ea typeface="Arial"/>
                <a:cs typeface="Arial"/>
              </a:rPr>
              <a:t>Screen +</a:t>
            </a:r>
          </a:p>
          <a:p>
            <a:pPr algn="l">
              <a:defRPr sz="1500" b="1">
                <a:solidFill>
                  <a:srgbClr val="194F73"/>
                </a:solidFill>
                <a:latin typeface="Arial"/>
                <a:ea typeface="Arial"/>
                <a:cs typeface="Arial"/>
              </a:defRPr>
            </a:pPr>
            <a:r>
              <a:rPr sz="1500" b="1">
                <a:solidFill>
                  <a:srgbClr val="194F73"/>
                </a:solidFill>
                <a:latin typeface="Arial"/>
                <a:ea typeface="Arial"/>
                <a:cs typeface="Arial"/>
              </a:rPr>
              <a:t>weight</a:t>
            </a:r>
          </a:p>
        </p:txBody>
      </p:sp>
      <p:sp>
        <p:nvSpPr>
          <p:cNvPr id="109" name="Editable diagram 109"/>
          <p:cNvSpPr/>
          <p:nvPr/>
        </p:nvSpPr>
        <p:spPr>
          <a:xfrm>
            <a:off x="4434840" y="2962656"/>
            <a:ext cx="1499616" cy="804672"/>
          </a:xfrm>
          <a:prstGeom prst="rect">
            <a:avLst/>
          </a:prstGeom>
          <a:solidFill>
            <a:srgbClr val="F4EFE6"/>
          </a:solidFill>
          <a:ln w="12700">
            <a:solidFill>
              <a:srgbClr val="194F73"/>
            </a:solidFill>
          </a:ln>
        </p:spPr>
      </p:sp>
      <p:sp>
        <p:nvSpPr>
          <p:cNvPr id="110" name="Text 110">
            <a:extLst>
              <a:ext uri="{FF2B5EF4-FFF2-40B4-BE49-F238E27FC236}">
                <ns2:creationId id="{4D1CB468-B504-480D-BEEE-DB289D94DC12}"/>
              </a:ext>
            </a:extLst>
          </p:cNvPr>
          <p:cNvSpPr>
            <a:spLocks noGrp="1"/>
          </p:cNvSpPr>
          <p:nvPr/>
        </p:nvSpPr>
        <p:spPr>
          <a:xfrm>
            <a:off x="4544568" y="3090672"/>
            <a:ext cx="1280160" cy="557784"/>
          </a:xfrm>
          <a:prstGeom prst="rect">
            <a:avLst/>
          </a:prstGeom>
          <a:noFill/>
          <a:ln w="0">
            <a:noFill/>
          </a:ln>
        </p:spPr>
        <p:txBody>
          <a:bodyPr lIns="0" tIns="0" rIns="0" bIns="0">
            <a:noAutofit/>
          </a:bodyPr>
          <a:lstStyle/>
          <a:p>
            <a:pPr algn="l">
              <a:defRPr sz="1500" b="1">
                <a:solidFill>
                  <a:srgbClr val="194F73"/>
                </a:solidFill>
                <a:latin typeface="Arial"/>
                <a:ea typeface="Arial"/>
                <a:cs typeface="Arial"/>
              </a:defRPr>
            </a:pPr>
            <a:r>
              <a:rPr sz="1500" b="1">
                <a:solidFill>
                  <a:srgbClr val="194F73"/>
                </a:solidFill>
                <a:latin typeface="Arial"/>
                <a:ea typeface="Arial"/>
                <a:cs typeface="Arial"/>
              </a:rPr>
              <a:t>Aggregate +</a:t>
            </a:r>
          </a:p>
          <a:p>
            <a:pPr algn="l">
              <a:defRPr sz="1500" b="1">
                <a:solidFill>
                  <a:srgbClr val="194F73"/>
                </a:solidFill>
                <a:latin typeface="Arial"/>
                <a:ea typeface="Arial"/>
                <a:cs typeface="Arial"/>
              </a:defRPr>
            </a:pPr>
            <a:r>
              <a:rPr sz="1500" b="1">
                <a:solidFill>
                  <a:srgbClr val="194F73"/>
                </a:solidFill>
                <a:latin typeface="Arial"/>
                <a:ea typeface="Arial"/>
                <a:cs typeface="Arial"/>
              </a:rPr>
              <a:t>validate</a:t>
            </a:r>
          </a:p>
        </p:txBody>
      </p:sp>
      <p:cxnSp>
        <p:nvCxnSpPr>
          <p:cNvPr id="111" name="Process connector"/>
          <p:cNvCxnSpPr/>
          <p:nvPr/>
        </p:nvCxnSpPr>
        <p:spPr>
          <a:xfrm>
            <a:off x="2148840" y="3364992"/>
            <a:ext cx="329184" cy="0"/>
          </a:xfrm>
          <a:prstGeom prst="line">
            <a:avLst/>
          </a:prstGeom>
          <a:ln w="19050">
            <a:solidFill>
              <a:srgbClr val="194F73"/>
            </a:solidFill>
            <a:tailEnd type="triangle"/>
          </a:ln>
        </p:spPr>
      </p:cxnSp>
      <p:cxnSp>
        <p:nvCxnSpPr>
          <p:cNvPr id="112" name="Process connector"/>
          <p:cNvCxnSpPr/>
          <p:nvPr/>
        </p:nvCxnSpPr>
        <p:spPr>
          <a:xfrm>
            <a:off x="4059936" y="3364992"/>
            <a:ext cx="329184" cy="0"/>
          </a:xfrm>
          <a:prstGeom prst="line">
            <a:avLst/>
          </a:prstGeom>
          <a:ln w="19050">
            <a:solidFill>
              <a:srgbClr val="194F73"/>
            </a:solidFill>
            <a:tailEnd type="triangle"/>
          </a:ln>
        </p:spPr>
      </p:cxnSp>
      <p:sp>
        <p:nvSpPr>
          <p:cNvPr id="113" name="Text 113">
            <a:extLst>
              <a:ext uri="{FF2B5EF4-FFF2-40B4-BE49-F238E27FC236}">
                <ns2:creationId id="{4D1CB468-B504-480D-BEEE-DB289D94DC12}"/>
              </a:ext>
            </a:extLst>
          </p:cNvPr>
          <p:cNvSpPr>
            <a:spLocks noGrp="1"/>
          </p:cNvSpPr>
          <p:nvPr/>
        </p:nvSpPr>
        <p:spPr>
          <a:xfrm>
            <a:off x="612648" y="4014216"/>
            <a:ext cx="5257800" cy="484632"/>
          </a:xfrm>
          <a:prstGeom prst="rect">
            <a:avLst/>
          </a:prstGeom>
          <a:noFill/>
          <a:ln w="0">
            <a:noFill/>
          </a:ln>
        </p:spPr>
        <p:txBody>
          <a:bodyPr lIns="0" tIns="0" rIns="0" bIns="0">
            <a:noAutofit/>
          </a:bodyPr>
          <a:lstStyle/>
          <a:p>
            <a:pPr algn="l">
              <a:defRPr sz="1600" b="1">
                <a:solidFill>
                  <a:srgbClr val="194F73"/>
                </a:solidFill>
                <a:latin typeface="Arial"/>
                <a:ea typeface="Arial"/>
                <a:cs typeface="Arial"/>
              </a:defRPr>
            </a:pPr>
            <a:r>
              <a:rPr sz="1600" b="1">
                <a:solidFill>
                  <a:srgbClr val="194F73"/>
                </a:solidFill>
                <a:latin typeface="Arial"/>
                <a:ea typeface="Arial"/>
                <a:cs typeface="Arial"/>
              </a:rPr>
              <a:t>Validation failure triggers model rollback / fallback.</a:t>
            </a:r>
          </a:p>
        </p:txBody>
      </p:sp>
      <p:sp>
        <p:nvSpPr>
          <p:cNvPr id="114" name="Text 114">
            <a:extLst>
              <a:ext uri="{FF2B5EF4-FFF2-40B4-BE49-F238E27FC236}">
                <ns2:creationId id="{4D1CB468-B504-480D-BEEE-DB289D94DC12}"/>
              </a:ext>
            </a:extLst>
          </p:cNvPr>
          <p:cNvSpPr>
            <a:spLocks noGrp="1"/>
          </p:cNvSpPr>
          <p:nvPr/>
        </p:nvSpPr>
        <p:spPr>
          <a:xfrm>
            <a:off x="612648" y="4718304"/>
            <a:ext cx="5212080" cy="731520"/>
          </a:xfrm>
          <a:prstGeom prst="rect">
            <a:avLst/>
          </a:prstGeom>
          <a:noFill/>
          <a:ln w="0">
            <a:noFill/>
          </a:ln>
        </p:spPr>
        <p:txBody>
          <a:bodyPr lIns="0" tIns="0" rIns="0" bIns="0">
            <a:noAutofit/>
          </a:bodyPr>
          <a:lstStyle/>
          <a:p>
            <a:pPr algn="l">
              <a:defRPr sz="2000" b="1">
                <a:solidFill>
                  <a:srgbClr val="222222"/>
                </a:solidFill>
                <a:latin typeface="Arial"/>
                <a:ea typeface="Arial"/>
                <a:cs typeface="Arial"/>
              </a:defRPr>
            </a:pPr>
            <a:r>
              <a:rPr sz="2000" b="1">
                <a:solidFill>
                  <a:srgbClr val="222222"/>
                </a:solidFill>
                <a:latin typeface="Arial"/>
                <a:ea typeface="Arial"/>
                <a:cs typeface="Arial"/>
              </a:rPr>
              <a:t>NO CONSISTENT RMSE ADVANTAGE</a:t>
            </a:r>
          </a:p>
        </p:txBody>
      </p:sp>
      <p:sp>
        <p:nvSpPr>
          <p:cNvPr id="115" name="Text 115">
            <a:extLst>
              <a:ext uri="{FF2B5EF4-FFF2-40B4-BE49-F238E27FC236}">
                <ns2:creationId id="{4D1CB468-B504-480D-BEEE-DB289D94DC12}"/>
              </a:ext>
            </a:extLst>
          </p:cNvPr>
          <p:cNvSpPr>
            <a:spLocks noGrp="1"/>
          </p:cNvSpPr>
          <p:nvPr/>
        </p:nvSpPr>
        <p:spPr>
          <a:xfrm>
            <a:off x="612648" y="5541264"/>
            <a:ext cx="5257800" cy="594360"/>
          </a:xfrm>
          <a:prstGeom prst="rect">
            <a:avLst/>
          </a:prstGeom>
          <a:noFill/>
          <a:ln w="0">
            <a:noFill/>
          </a:ln>
        </p:spPr>
        <p:txBody>
          <a:bodyPr lIns="0" tIns="0" rIns="0" bIns="0">
            <a:noAutofit/>
          </a:bodyPr>
          <a:lstStyle/>
          <a:p>
            <a:pPr algn="l">
              <a:defRPr sz="1500" b="0">
                <a:solidFill>
                  <a:srgbClr val="666666"/>
                </a:solidFill>
                <a:latin typeface="Arial"/>
                <a:ea typeface="Arial"/>
                <a:cs typeface="Arial"/>
              </a:defRPr>
            </a:pPr>
            <a:r>
              <a:rPr sz="1500" b="0">
                <a:solidFill>
                  <a:srgbClr val="666666"/>
                </a:solidFill>
                <a:latin typeface="Arial"/>
                <a:ea typeface="Arial"/>
                <a:cs typeface="Arial"/>
              </a:rPr>
              <a:t>Stress tests: stale clients and 50% client dropout.</a:t>
            </a:r>
          </a:p>
          <a:p>
            <a:pPr algn="l">
              <a:defRPr sz="1500" b="0">
                <a:solidFill>
                  <a:srgbClr val="666666"/>
                </a:solidFill>
                <a:latin typeface="Arial"/>
                <a:ea typeface="Arial"/>
                <a:cs typeface="Arial"/>
              </a:defRPr>
            </a:pPr>
            <a:r>
              <a:rPr sz="1500" b="0">
                <a:solidFill>
                  <a:srgbClr val="666666"/>
                </a:solidFill>
                <a:latin typeface="Arial"/>
                <a:ea typeface="Arial"/>
                <a:cs typeface="Arial"/>
              </a:rPr>
              <a:t>Reliability weighting remains experimental.</a:t>
            </a:r>
          </a:p>
        </p:txBody>
      </p:sp>
      <p:sp>
        <p:nvSpPr>
          <p:cNvPr id="116" name="Text 116">
            <a:extLst>
              <a:ext uri="{FF2B5EF4-FFF2-40B4-BE49-F238E27FC236}">
                <ns2:creationId id="{4D1CB468-B504-480D-BEEE-DB289D94DC12}"/>
              </a:ext>
            </a:extLst>
          </p:cNvPr>
          <p:cNvSpPr>
            <a:spLocks noGrp="1"/>
          </p:cNvSpPr>
          <p:nvPr/>
        </p:nvSpPr>
        <p:spPr>
          <a:xfrm>
            <a:off x="612648" y="6245352"/>
            <a:ext cx="5212080" cy="274320"/>
          </a:xfrm>
          <a:prstGeom prst="rect">
            <a:avLst/>
          </a:prstGeom>
          <a:noFill/>
          <a:ln w="0">
            <a:noFill/>
          </a:ln>
        </p:spPr>
        <p:txBody>
          <a:bodyPr lIns="0" tIns="0" rIns="0" bIns="0">
            <a:noAutofit/>
          </a:bodyPr>
          <a:lstStyle/>
          <a:p>
            <a:pPr algn="l">
              <a:defRPr sz="1300" b="0">
                <a:solidFill>
                  <a:srgbClr val="666666"/>
                </a:solidFill>
                <a:latin typeface="Arial"/>
                <a:ea typeface="Arial"/>
                <a:cs typeface="Arial"/>
              </a:defRPr>
            </a:pPr>
            <a:r>
              <a:rPr sz="1300" b="0">
                <a:solidFill>
                  <a:srgbClr val="666666"/>
                </a:solidFill>
                <a:latin typeface="Arial"/>
                <a:ea typeface="Arial"/>
                <a:cs typeface="Arial"/>
              </a:rPr>
              <a:t>100 virtual clients, 3 paired random seeds.</a:t>
            </a:r>
          </a:p>
        </p:txBody>
      </p:sp>
      <p:sp>
        <p:nvSpPr>
          <p:cNvPr id="117" name="Text 117">
            <a:extLst>
              <a:ext uri="{FF2B5EF4-FFF2-40B4-BE49-F238E27FC236}">
                <ns2:creationId id="{4D1CB468-B504-480D-BEEE-DB289D94DC12}"/>
              </a:ext>
            </a:extLst>
          </p:cNvPr>
          <p:cNvSpPr>
            <a:spLocks noGrp="1"/>
          </p:cNvSpPr>
          <p:nvPr/>
        </p:nvSpPr>
        <p:spPr>
          <a:xfrm>
            <a:off x="6473952" y="1810512"/>
            <a:ext cx="5120640" cy="365760"/>
          </a:xfrm>
          <a:prstGeom prst="rect">
            <a:avLst/>
          </a:prstGeom>
          <a:noFill/>
          <a:ln w="0">
            <a:noFill/>
          </a:ln>
        </p:spPr>
        <p:txBody>
          <a:bodyPr lIns="0" tIns="0" rIns="0" bIns="0">
            <a:noAutofit/>
          </a:bodyPr>
          <a:lstStyle/>
          <a:p>
            <a:pPr algn="l">
              <a:defRPr sz="1700" b="1">
                <a:solidFill>
                  <a:srgbClr val="194F73"/>
                </a:solidFill>
                <a:latin typeface="Arial"/>
                <a:ea typeface="Arial"/>
                <a:cs typeface="Arial"/>
              </a:defRPr>
            </a:pPr>
            <a:r>
              <a:rPr sz="1700" b="1">
                <a:solidFill>
                  <a:srgbClr val="194F73"/>
                </a:solidFill>
                <a:latin typeface="Arial"/>
                <a:ea typeface="Arial"/>
                <a:cs typeface="Arial"/>
              </a:rPr>
              <a:t>2. SELECTIVE MODEL TRANSMISSION</a:t>
            </a:r>
          </a:p>
        </p:txBody>
      </p:sp>
      <p:sp>
        <p:nvSpPr>
          <p:cNvPr id="118" name="Text 118">
            <a:extLst>
              <a:ext uri="{FF2B5EF4-FFF2-40B4-BE49-F238E27FC236}">
                <ns2:creationId id="{4D1CB468-B504-480D-BEEE-DB289D94DC12}"/>
              </a:ext>
            </a:extLst>
          </p:cNvPr>
          <p:cNvSpPr>
            <a:spLocks noGrp="1"/>
          </p:cNvSpPr>
          <p:nvPr/>
        </p:nvSpPr>
        <p:spPr>
          <a:xfrm>
            <a:off x="6473952" y="2267712"/>
            <a:ext cx="5074920" cy="548640"/>
          </a:xfrm>
          <a:prstGeom prst="rect">
            <a:avLst/>
          </a:prstGeom>
          <a:noFill/>
          <a:ln w="0">
            <a:noFill/>
          </a:ln>
        </p:spPr>
        <p:txBody>
          <a:bodyPr lIns="0" tIns="0" rIns="0" bIns="0">
            <a:noAutofit/>
          </a:bodyPr>
          <a:lstStyle/>
          <a:p>
            <a:pPr algn="l">
              <a:defRPr sz="1600" b="0">
                <a:solidFill>
                  <a:srgbClr val="222222"/>
                </a:solidFill>
                <a:latin typeface="Arial"/>
                <a:ea typeface="Arial"/>
                <a:cs typeface="Arial"/>
              </a:defRPr>
            </a:pPr>
            <a:r>
              <a:rPr sz="1600" b="0">
                <a:solidFill>
                  <a:srgbClr val="222222"/>
                </a:solidFill>
                <a:latin typeface="Arial"/>
                <a:ea typeface="Arial"/>
                <a:cs typeface="Arial"/>
              </a:rPr>
              <a:t>Prioritise changed clients; stable clients skip large model uploads.</a:t>
            </a:r>
          </a:p>
        </p:txBody>
      </p:sp>
      <p:sp>
        <p:nvSpPr>
          <p:cNvPr id="119" name="Text 119">
            <a:extLst>
              <a:ext uri="{FF2B5EF4-FFF2-40B4-BE49-F238E27FC236}">
                <ns2:creationId id="{4D1CB468-B504-480D-BEEE-DB289D94DC12}"/>
              </a:ext>
            </a:extLst>
          </p:cNvPr>
          <p:cNvSpPr>
            <a:spLocks noGrp="1"/>
          </p:cNvSpPr>
          <p:nvPr/>
        </p:nvSpPr>
        <p:spPr>
          <a:xfrm>
            <a:off x="6473952" y="2889504"/>
            <a:ext cx="5074920" cy="274320"/>
          </a:xfrm>
          <a:prstGeom prst="rect">
            <a:avLst/>
          </a:prstGeom>
          <a:noFill/>
          <a:ln w="0">
            <a:noFill/>
          </a:ln>
        </p:spPr>
        <p:txBody>
          <a:bodyPr lIns="0" tIns="0" rIns="0" bIns="0">
            <a:noAutofit/>
          </a:bodyPr>
          <a:lstStyle/>
          <a:p>
            <a:pPr algn="l">
              <a:defRPr sz="1300" b="0">
                <a:solidFill>
                  <a:srgbClr val="666666"/>
                </a:solidFill>
                <a:latin typeface="Arial"/>
                <a:ea typeface="Arial"/>
                <a:cs typeface="Arial"/>
              </a:defRPr>
            </a:pPr>
            <a:r>
              <a:rPr sz="1300" b="0">
                <a:solidFill>
                  <a:srgbClr val="666666"/>
                </a:solidFill>
                <a:latin typeface="Arial"/>
                <a:ea typeface="Arial"/>
                <a:cs typeface="Arial"/>
              </a:rPr>
              <a:t>Normalised protocol bytes: basic FedAvg = 100%</a:t>
            </a:r>
          </a:p>
        </p:txBody>
      </p:sp>
      <p:sp>
        <p:nvSpPr>
          <p:cNvPr id="120" name="Text 120">
            <a:extLst>
              <a:ext uri="{FF2B5EF4-FFF2-40B4-BE49-F238E27FC236}">
                <ns2:creationId id="{4D1CB468-B504-480D-BEEE-DB289D94DC12}"/>
              </a:ext>
            </a:extLst>
          </p:cNvPr>
          <p:cNvSpPr>
            <a:spLocks noGrp="1"/>
          </p:cNvSpPr>
          <p:nvPr/>
        </p:nvSpPr>
        <p:spPr>
          <a:xfrm>
            <a:off x="6473952" y="3346704"/>
            <a:ext cx="3383280" cy="301752"/>
          </a:xfrm>
          <a:prstGeom prst="rect">
            <a:avLst/>
          </a:prstGeom>
          <a:noFill/>
          <a:ln w="0">
            <a:noFill/>
          </a:ln>
        </p:spPr>
        <p:txBody>
          <a:bodyPr lIns="0" tIns="0" rIns="0" bIns="0">
            <a:noAutofit/>
          </a:bodyPr>
          <a:lstStyle/>
          <a:p>
            <a:pPr algn="l">
              <a:defRPr sz="1600" b="0">
                <a:solidFill>
                  <a:srgbClr val="222222"/>
                </a:solidFill>
                <a:latin typeface="Arial"/>
                <a:ea typeface="Arial"/>
                <a:cs typeface="Arial"/>
              </a:defRPr>
            </a:pPr>
            <a:r>
              <a:rPr sz="1600" b="0">
                <a:solidFill>
                  <a:srgbClr val="222222"/>
                </a:solidFill>
                <a:latin typeface="Arial"/>
                <a:ea typeface="Arial"/>
                <a:cs typeface="Arial"/>
              </a:rPr>
              <a:t>Basic FedAvg</a:t>
            </a:r>
          </a:p>
        </p:txBody>
      </p:sp>
      <p:sp>
        <p:nvSpPr>
          <p:cNvPr id="121" name="Editable diagram 121"/>
          <p:cNvSpPr/>
          <p:nvPr/>
        </p:nvSpPr>
        <p:spPr>
          <a:xfrm>
            <a:off x="6473952" y="3712464"/>
            <a:ext cx="4142232" cy="274320"/>
          </a:xfrm>
          <a:prstGeom prst="rect">
            <a:avLst/>
          </a:prstGeom>
          <a:solidFill>
            <a:srgbClr val="B8B1A5"/>
          </a:solidFill>
          <a:ln w="12700">
            <a:noFill/>
          </a:ln>
        </p:spPr>
      </p:sp>
      <p:sp>
        <p:nvSpPr>
          <p:cNvPr id="122" name="Text 122">
            <a:extLst>
              <a:ext uri="{FF2B5EF4-FFF2-40B4-BE49-F238E27FC236}">
                <ns2:creationId id="{4D1CB468-B504-480D-BEEE-DB289D94DC12}"/>
              </a:ext>
            </a:extLst>
          </p:cNvPr>
          <p:cNvSpPr>
            <a:spLocks noGrp="1"/>
          </p:cNvSpPr>
          <p:nvPr/>
        </p:nvSpPr>
        <p:spPr>
          <a:xfrm>
            <a:off x="10744200" y="3685032"/>
            <a:ext cx="841248" cy="338328"/>
          </a:xfrm>
          <a:prstGeom prst="rect">
            <a:avLst/>
          </a:prstGeom>
          <a:noFill/>
          <a:ln w="0">
            <a:noFill/>
          </a:ln>
        </p:spPr>
        <p:txBody>
          <a:bodyPr lIns="0" tIns="0" rIns="0" bIns="0">
            <a:noAutofit/>
          </a:bodyPr>
          <a:lstStyle/>
          <a:p>
            <a:pPr algn="l">
              <a:defRPr sz="1600" b="1">
                <a:solidFill>
                  <a:srgbClr val="222222"/>
                </a:solidFill>
                <a:latin typeface="Arial"/>
                <a:ea typeface="Arial"/>
                <a:cs typeface="Arial"/>
              </a:defRPr>
            </a:pPr>
            <a:r>
              <a:rPr sz="1600" b="1">
                <a:solidFill>
                  <a:srgbClr val="222222"/>
                </a:solidFill>
                <a:latin typeface="Arial"/>
                <a:ea typeface="Arial"/>
                <a:cs typeface="Arial"/>
              </a:rPr>
              <a:t>100%</a:t>
            </a:r>
          </a:p>
        </p:txBody>
      </p:sp>
      <p:sp>
        <p:nvSpPr>
          <p:cNvPr id="123" name="Text 123">
            <a:extLst>
              <a:ext uri="{FF2B5EF4-FFF2-40B4-BE49-F238E27FC236}">
                <ns2:creationId id="{4D1CB468-B504-480D-BEEE-DB289D94DC12}"/>
              </a:ext>
            </a:extLst>
          </p:cNvPr>
          <p:cNvSpPr>
            <a:spLocks noGrp="1"/>
          </p:cNvSpPr>
          <p:nvPr/>
        </p:nvSpPr>
        <p:spPr>
          <a:xfrm>
            <a:off x="6473952" y="4215384"/>
            <a:ext cx="3474720" cy="301752"/>
          </a:xfrm>
          <a:prstGeom prst="rect">
            <a:avLst/>
          </a:prstGeom>
          <a:noFill/>
          <a:ln w="0">
            <a:noFill/>
          </a:ln>
        </p:spPr>
        <p:txBody>
          <a:bodyPr lIns="0" tIns="0" rIns="0" bIns="0">
            <a:noAutofit/>
          </a:bodyPr>
          <a:lstStyle/>
          <a:p>
            <a:pPr algn="l">
              <a:defRPr sz="1600" b="1">
                <a:solidFill>
                  <a:srgbClr val="194F73"/>
                </a:solidFill>
                <a:latin typeface="Arial"/>
                <a:ea typeface="Arial"/>
                <a:cs typeface="Arial"/>
              </a:defRPr>
            </a:pPr>
            <a:r>
              <a:rPr sz="1600" b="1">
                <a:solidFill>
                  <a:srgbClr val="194F73"/>
                </a:solidFill>
                <a:latin typeface="Arial"/>
                <a:ea typeface="Arial"/>
                <a:cs typeface="Arial"/>
              </a:rPr>
              <a:t>Selective FL</a:t>
            </a:r>
          </a:p>
        </p:txBody>
      </p:sp>
      <p:sp>
        <p:nvSpPr>
          <p:cNvPr id="124" name="Editable diagram 124"/>
          <p:cNvSpPr/>
          <p:nvPr/>
        </p:nvSpPr>
        <p:spPr>
          <a:xfrm>
            <a:off x="6473952" y="4581144"/>
            <a:ext cx="2255445" cy="274320"/>
          </a:xfrm>
          <a:prstGeom prst="rect">
            <a:avLst/>
          </a:prstGeom>
          <a:solidFill>
            <a:srgbClr val="194F73"/>
          </a:solidFill>
          <a:ln w="12700">
            <a:noFill/>
          </a:ln>
        </p:spPr>
      </p:sp>
      <p:sp>
        <p:nvSpPr>
          <p:cNvPr id="125" name="Text 125">
            <a:extLst>
              <a:ext uri="{FF2B5EF4-FFF2-40B4-BE49-F238E27FC236}">
                <ns2:creationId id="{4D1CB468-B504-480D-BEEE-DB289D94DC12}"/>
              </a:ext>
            </a:extLst>
          </p:cNvPr>
          <p:cNvSpPr>
            <a:spLocks noGrp="1"/>
          </p:cNvSpPr>
          <p:nvPr/>
        </p:nvSpPr>
        <p:spPr>
          <a:xfrm>
            <a:off x="8860536" y="4553712"/>
            <a:ext cx="1097280" cy="338328"/>
          </a:xfrm>
          <a:prstGeom prst="rect">
            <a:avLst/>
          </a:prstGeom>
          <a:noFill/>
          <a:ln w="0">
            <a:noFill/>
          </a:ln>
        </p:spPr>
        <p:txBody>
          <a:bodyPr lIns="0" tIns="0" rIns="0" bIns="0">
            <a:noAutofit/>
          </a:bodyPr>
          <a:lstStyle/>
          <a:p>
            <a:pPr algn="l">
              <a:defRPr sz="1600" b="1">
                <a:solidFill>
                  <a:srgbClr val="194F73"/>
                </a:solidFill>
                <a:latin typeface="Arial"/>
                <a:ea typeface="Arial"/>
                <a:cs typeface="Arial"/>
              </a:defRPr>
            </a:pPr>
            <a:r>
              <a:rPr sz="1600" b="1">
                <a:solidFill>
                  <a:srgbClr val="194F73"/>
                </a:solidFill>
                <a:latin typeface="Arial"/>
                <a:ea typeface="Arial"/>
                <a:cs typeface="Arial"/>
              </a:rPr>
              <a:t>54.45%</a:t>
            </a:r>
          </a:p>
        </p:txBody>
      </p:sp>
      <p:sp>
        <p:nvSpPr>
          <p:cNvPr id="126" name="Text 126">
            <a:extLst>
              <a:ext uri="{FF2B5EF4-FFF2-40B4-BE49-F238E27FC236}">
                <ns2:creationId id="{4D1CB468-B504-480D-BEEE-DB289D94DC12}"/>
              </a:ext>
            </a:extLst>
          </p:cNvPr>
          <p:cNvSpPr>
            <a:spLocks noGrp="1"/>
          </p:cNvSpPr>
          <p:nvPr/>
        </p:nvSpPr>
        <p:spPr>
          <a:xfrm>
            <a:off x="6473952" y="5166360"/>
            <a:ext cx="5166360" cy="438912"/>
          </a:xfrm>
          <a:prstGeom prst="rect">
            <a:avLst/>
          </a:prstGeom>
          <a:noFill/>
          <a:ln w="0">
            <a:noFill/>
          </a:ln>
        </p:spPr>
        <p:txBody>
          <a:bodyPr lIns="0" tIns="0" rIns="0" bIns="0">
            <a:noAutofit/>
          </a:bodyPr>
          <a:lstStyle/>
          <a:p>
            <a:pPr algn="l">
              <a:defRPr sz="2300" b="1">
                <a:solidFill>
                  <a:srgbClr val="22745F"/>
                </a:solidFill>
                <a:latin typeface="Arial"/>
                <a:ea typeface="Arial"/>
                <a:cs typeface="Arial"/>
              </a:defRPr>
            </a:pPr>
            <a:r>
              <a:rPr sz="2300" b="1">
                <a:solidFill>
                  <a:srgbClr val="22745F"/>
                </a:solidFill>
                <a:latin typeface="Arial"/>
                <a:ea typeface="Arial"/>
                <a:cs typeface="Arial"/>
              </a:rPr>
              <a:t>45.55% fewer protocol bytes</a:t>
            </a:r>
          </a:p>
        </p:txBody>
      </p:sp>
      <p:sp>
        <p:nvSpPr>
          <p:cNvPr id="127" name="Text 127">
            <a:extLst>
              <a:ext uri="{FF2B5EF4-FFF2-40B4-BE49-F238E27FC236}">
                <ns2:creationId id="{4D1CB468-B504-480D-BEEE-DB289D94DC12}"/>
              </a:ext>
            </a:extLst>
          </p:cNvPr>
          <p:cNvSpPr>
            <a:spLocks noGrp="1"/>
          </p:cNvSpPr>
          <p:nvPr/>
        </p:nvSpPr>
        <p:spPr>
          <a:xfrm>
            <a:off x="6473952" y="5687568"/>
            <a:ext cx="5120640" cy="566928"/>
          </a:xfrm>
          <a:prstGeom prst="rect">
            <a:avLst/>
          </a:prstGeom>
          <a:noFill/>
          <a:ln w="0">
            <a:noFill/>
          </a:ln>
        </p:spPr>
        <p:txBody>
          <a:bodyPr lIns="0" tIns="0" rIns="0" bIns="0">
            <a:noAutofit/>
          </a:bodyPr>
          <a:lstStyle/>
          <a:p>
            <a:pPr algn="l">
              <a:defRPr sz="1500" b="0">
                <a:solidFill>
                  <a:srgbClr val="A06415"/>
                </a:solidFill>
                <a:latin typeface="Arial"/>
                <a:ea typeface="Arial"/>
                <a:cs typeface="Arial"/>
              </a:defRPr>
            </a:pPr>
            <a:r>
              <a:rPr sz="1500" b="0">
                <a:solidFill>
                  <a:srgbClr val="A06415"/>
                </a:solidFill>
                <a:latin typeface="Arial"/>
                <a:ea typeface="Arial"/>
                <a:cs typeface="Arial"/>
              </a:rPr>
              <a:t>Accuracy trade-off: +2.72% relative test RMSE</a:t>
            </a:r>
          </a:p>
          <a:p>
            <a:pPr algn="l">
              <a:defRPr sz="1500" b="0">
                <a:solidFill>
                  <a:srgbClr val="A06415"/>
                </a:solidFill>
                <a:latin typeface="Arial"/>
                <a:ea typeface="Arial"/>
                <a:cs typeface="Arial"/>
              </a:defRPr>
            </a:pPr>
            <a:r>
              <a:rPr sz="1500" b="0">
                <a:solidFill>
                  <a:srgbClr val="A06415"/>
                </a:solidFill>
                <a:latin typeface="Arial"/>
                <a:ea typeface="Arial"/>
                <a:cs typeface="Arial"/>
              </a:rPr>
              <a:t>versus basic FedAvg.</a:t>
            </a:r>
          </a:p>
        </p:txBody>
      </p:sp>
      <p:sp>
        <p:nvSpPr>
          <p:cNvPr id="128" name="Text 128">
            <a:extLst>
              <a:ext uri="{FF2B5EF4-FFF2-40B4-BE49-F238E27FC236}">
                <ns2:creationId id="{4D1CB468-B504-480D-BEEE-DB289D94DC12}"/>
              </a:ext>
            </a:extLst>
          </p:cNvPr>
          <p:cNvSpPr>
            <a:spLocks noGrp="1"/>
          </p:cNvSpPr>
          <p:nvPr/>
        </p:nvSpPr>
        <p:spPr>
          <a:xfrm>
            <a:off x="612648" y="6583680"/>
            <a:ext cx="10972800" cy="228600"/>
          </a:xfrm>
          <a:prstGeom prst="rect">
            <a:avLst/>
          </a:prstGeom>
          <a:noFill/>
          <a:ln w="0">
            <a:noFill/>
          </a:ln>
        </p:spPr>
        <p:txBody>
          <a:bodyPr lIns="0" tIns="0" rIns="0" bIns="0">
            <a:noAutofit/>
          </a:bodyPr>
          <a:lstStyle/>
          <a:p>
            <a:pPr algn="l">
              <a:defRPr sz="1050" b="0">
                <a:solidFill>
                  <a:srgbClr val="666666"/>
                </a:solidFill>
                <a:latin typeface="Arial"/>
                <a:ea typeface="Arial"/>
                <a:cs typeface="Arial"/>
              </a:defRPr>
            </a:pPr>
            <a:r>
              <a:rPr sz="1050" b="0">
                <a:solidFill>
                  <a:srgbClr val="666666"/>
                </a:solidFill>
                <a:latin typeface="Arial"/>
                <a:ea typeface="Arial"/>
                <a:cs typeface="Arial"/>
              </a:rPr>
              <a:t>Single-process simulation. Protocol bytes are modelled, not measured network traffic. Forecast robustness does not establish supply availability.</a:t>
            </a:r>
          </a:p>
        </p:txBody>
      </p:sp>
    </p:spTree>
    <p:extLst>
      <p:ext uri="{BB962C8B-B14F-4D97-AF65-F5344CB8AC3E}">
        <ns3:creationId val="1783689401"/>
      </p:ext>
    </p:extLst>
  </p:cSld>
</p:sld>
</file>

<file path=ppt/slides/slide1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4EFE6"/>
        </a:solidFill>
      </p:bgPr>
    </p:bg>
    <p:spTree>
      <p:nvGrpSpPr>
        <p:cNvPr id="1" name=""/>
        <p:cNvGrpSpPr/>
        <p:nvPr/>
      </p:nvGrpSpPr>
      <p:grpSpPr>
        <a:xfrm/>
      </p:grpSpPr>
      <p:sp>
        <p:nvSpPr>
          <p:cNvPr id="22" name="">
            <a:extLst>
              <a:ext uri="{FF2B5EF4-FFF2-40B4-BE49-F238E27FC236}">
                <ns2:creationId id="{5D8BB792-3CB9-498A-864F-8D7449FE5DE4}"/>
              </a:ext>
            </a:extLst>
          </p:cNvPr>
          <p:cNvSpPr>
            <a:spLocks noGrp="1"/>
          </p:cNvSpPr>
          <p:nvPr/>
        </p:nvSpPr>
        <p:spPr>
          <a:xfrm>
            <a:off x="609600" y="495300"/>
            <a:ext cx="10096500" cy="714375"/>
          </a:xfrm>
          <a:prstGeom prst="rect">
            <a:avLst/>
          </a:prstGeom>
          <a:noFill/>
          <a:ln w="0">
            <a:noFill/>
          </a:ln>
        </p:spPr>
        <p:txBody>
          <a:bodyPr lIns="0" tIns="0" rIns="0" bIns="0" anchor="t">
            <a:noAutofit/>
          </a:bodyPr>
          <a:lstStyle/>
          <a:p>
            <a:pPr algn="l"/>
            <a:r>
              <a:rPr sz="3600" b="1">
                <a:solidFill>
                  <a:srgbClr val="080808"/>
                </a:solidFill>
                <a:latin typeface="Arial Black"/>
              </a:rPr>
              <a:t>Prototype implementation roadmap</a:t>
            </a:r>
            <a:endParaRPr sz="3600"/>
          </a:p>
        </p:txBody>
      </p:sp>
      <p:sp>
        <p:nvSpPr>
          <p:cNvPr id="2" name="">
            <a:extLst>
              <a:ext uri="{FF2B5EF4-FFF2-40B4-BE49-F238E27FC236}">
                <ns2:creationId id="{D6F0A1C7-F106-4D4D-A2A3-A5A22AEA3F6E}"/>
              </a:ext>
            </a:extLst>
          </p:cNvPr>
          <p:cNvSpPr>
            <a:spLocks noGrp="1"/>
          </p:cNvSpPr>
          <p:nvPr/>
        </p:nvSpPr>
        <p:spPr>
          <a:xfrm>
            <a:off x="10953750" y="523875"/>
            <a:ext cx="914400" cy="285750"/>
          </a:xfrm>
          <a:prstGeom prst="rect">
            <a:avLst/>
          </a:prstGeom>
          <a:noFill/>
          <a:ln w="0">
            <a:noFill/>
          </a:ln>
        </p:spPr>
        <p:txBody>
          <a:bodyPr lIns="0" tIns="0" rIns="0" bIns="0">
            <a:noAutofit/>
          </a:bodyPr>
          <a:lstStyle/>
          <a:p>
            <a:pPr>
              <a:buNone/>
              <a:defRPr sz="1575" b="1">
                <a:solidFill>
                  <a:srgbClr val="5F5A52"/>
                </a:solidFill>
                <a:latin typeface="Arial"/>
                <a:ea typeface="Arial"/>
                <a:cs typeface="Arial"/>
              </a:defRPr>
            </a:pPr>
            <a:r>
              <a:rPr sz="1575" b="1">
                <a:solidFill>
                  <a:srgbClr val="5F5A52"/>
                </a:solidFill>
                <a:latin typeface="Arial"/>
                <a:ea typeface="Arial"/>
                <a:cs typeface="Arial"/>
              </a:rPr>
              <a:t>10/12</a:t>
            </a:r>
          </a:p>
        </p:txBody>
      </p:sp>
      <p:sp>
        <p:nvSpPr>
          <p:cNvPr id="23" name="Prototype Roadmap IMPLEMENTED IN THE SIMULATION-BASED PROT">
            <a:extLst>
              <a:ext uri="{FF2B5EF4-FFF2-40B4-BE49-F238E27FC236}">
                <ns2:creationId id="{535311CA-3BF0-4714-8D9B-0FFB722693DE}"/>
              </a:ext>
            </a:extLst>
          </p:cNvPr>
          <p:cNvSpPr>
            <a:spLocks noGrp="1"/>
          </p:cNvSpPr>
          <p:nvPr/>
        </p:nvSpPr>
        <p:spPr>
          <a:xfrm>
            <a:off x="609600" y="1285875"/>
            <a:ext cx="10991850" cy="342900"/>
          </a:xfrm>
          <a:prstGeom prst="rect">
            <a:avLst/>
          </a:prstGeom>
          <a:noFill/>
          <a:ln w="0">
            <a:noFill/>
          </a:ln>
        </p:spPr>
        <p:txBody>
          <a:bodyPr lIns="0" tIns="0" rIns="0" bIns="0">
            <a:noAutofit/>
          </a:bodyPr>
          <a:lstStyle/>
          <a:p>
            <a:pPr>
              <a:defRPr sz="2100" b="1">
                <a:solidFill>
                  <a:srgbClr val="174A72"/>
                </a:solidFill>
                <a:latin typeface="Arial"/>
                <a:ea typeface="Arial"/>
                <a:cs typeface="Arial"/>
              </a:defRPr>
            </a:pPr>
            <a:r>
              <a:rPr sz="2100" b="1">
                <a:solidFill>
                  <a:srgbClr val="174A72"/>
                </a:solidFill>
                <a:latin typeface="Arial"/>
                <a:ea typeface="Arial"/>
                <a:cs typeface="Arial"/>
              </a:rPr>
              <a:t>IMPLEMENTED IN THE SIMULATION-BASED PROTOTYPE</a:t>
            </a:r>
          </a:p>
        </p:txBody>
      </p:sp>
      <p:sp>
        <p:nvSpPr>
          <p:cNvPr id="24" name="Prototype Roadmap stage 0">
            <a:extLst>
              <a:ext uri="{FF2B5EF4-FFF2-40B4-BE49-F238E27FC236}">
                <ns2:creationId id="{6200489B-0ED7-45C9-BB49-3D8D4B26A239}"/>
              </a:ext>
            </a:extLst>
          </p:cNvPr>
          <p:cNvSpPr>
            <a:spLocks noGrp="1"/>
          </p:cNvSpPr>
          <p:nvPr/>
        </p:nvSpPr>
        <p:spPr>
          <a:xfrm>
            <a:off x="495300" y="1990725"/>
            <a:ext cx="2476500" cy="1885950"/>
          </a:xfrm>
          <a:prstGeom prst="rect">
            <a:avLst/>
          </a:prstGeom>
          <a:noFill/>
          <a:ln w="9525">
            <a:solidFill>
              <a:srgbClr val="174A72"/>
            </a:solidFill>
          </a:ln>
        </p:spPr>
      </p:sp>
      <p:sp>
        <p:nvSpPr>
          <p:cNvPr id="25" name="Prototype Roadmap 01  DATA">
            <a:extLst>
              <a:ext uri="{FF2B5EF4-FFF2-40B4-BE49-F238E27FC236}">
                <ns2:creationId id="{F85B7D4E-D7AC-44B3-85FE-75138AB180D1}"/>
              </a:ext>
            </a:extLst>
          </p:cNvPr>
          <p:cNvSpPr>
            <a:spLocks noGrp="1"/>
          </p:cNvSpPr>
          <p:nvPr/>
        </p:nvSpPr>
        <p:spPr>
          <a:xfrm>
            <a:off x="609600" y="2181225"/>
            <a:ext cx="2247900" cy="342900"/>
          </a:xfrm>
          <a:prstGeom prst="rect">
            <a:avLst/>
          </a:prstGeom>
          <a:noFill/>
          <a:ln w="0">
            <a:noFill/>
          </a:ln>
        </p:spPr>
        <p:txBody>
          <a:bodyPr lIns="0" tIns="0" rIns="0" bIns="0">
            <a:noAutofit/>
          </a:bodyPr>
          <a:lstStyle/>
          <a:p>
            <a:pPr>
              <a:defRPr sz="2025" b="1">
                <a:solidFill>
                  <a:srgbClr val="174A72"/>
                </a:solidFill>
                <a:latin typeface="Arial"/>
                <a:ea typeface="Arial"/>
                <a:cs typeface="Arial"/>
              </a:defRPr>
            </a:pPr>
            <a:r>
              <a:rPr sz="2025" b="1">
                <a:solidFill>
                  <a:srgbClr val="174A72"/>
                </a:solidFill>
                <a:latin typeface="Arial"/>
                <a:ea typeface="Arial"/>
                <a:cs typeface="Arial"/>
              </a:rPr>
              <a:t>01  DATA</a:t>
            </a:r>
          </a:p>
        </p:txBody>
      </p:sp>
      <p:sp>
        <p:nvSpPr>
          <p:cNvPr id="26" name="Prototype Roadmap Bengaluru weather&#10;100 virtual sites&#10;Chro">
            <a:extLst>
              <a:ext uri="{FF2B5EF4-FFF2-40B4-BE49-F238E27FC236}">
                <ns2:creationId id="{332F1296-CCEB-41ED-B13A-CFF1CFC9A4EF}"/>
              </a:ext>
            </a:extLst>
          </p:cNvPr>
          <p:cNvSpPr>
            <a:spLocks noGrp="1"/>
          </p:cNvSpPr>
          <p:nvPr/>
        </p:nvSpPr>
        <p:spPr>
          <a:xfrm>
            <a:off x="609600" y="2743200"/>
            <a:ext cx="2247900" cy="1009650"/>
          </a:xfrm>
          <a:prstGeom prst="rect">
            <a:avLst/>
          </a:prstGeom>
          <a:noFill/>
          <a:ln w="0">
            <a:noFill/>
          </a:ln>
        </p:spPr>
        <p:txBody>
          <a:bodyPr lIns="0" tIns="0" rIns="0" bIns="0">
            <a:noAutofit/>
          </a:bodyPr>
          <a:lstStyle/>
          <a:p>
            <a:pPr>
              <a:defRPr sz="1800" b="0">
                <a:solidFill>
                  <a:srgbClr val="080808"/>
                </a:solidFill>
                <a:latin typeface="Arial"/>
                <a:ea typeface="Arial"/>
                <a:cs typeface="Arial"/>
              </a:defRPr>
            </a:pPr>
            <a:r>
              <a:rPr sz="1800" b="0">
                <a:solidFill>
                  <a:srgbClr val="080808"/>
                </a:solidFill>
                <a:latin typeface="Arial"/>
                <a:ea typeface="Arial"/>
                <a:cs typeface="Arial"/>
              </a:rPr>
              <a:t>Bengaluru weather</a:t>
            </a:r>
          </a:p>
          <a:p>
            <a:pPr>
              <a:defRPr sz="1800" b="0">
                <a:solidFill>
                  <a:srgbClr val="080808"/>
                </a:solidFill>
                <a:latin typeface="Arial"/>
                <a:ea typeface="Arial"/>
                <a:cs typeface="Arial"/>
              </a:defRPr>
            </a:pPr>
            <a:r>
              <a:rPr sz="1800" b="0">
                <a:solidFill>
                  <a:srgbClr val="080808"/>
                </a:solidFill>
                <a:latin typeface="Arial"/>
                <a:ea typeface="Arial"/>
                <a:cs typeface="Arial"/>
              </a:rPr>
              <a:t>100 virtual sites</a:t>
            </a:r>
          </a:p>
          <a:p>
            <a:pPr>
              <a:defRPr sz="1800" b="0">
                <a:solidFill>
                  <a:srgbClr val="080808"/>
                </a:solidFill>
                <a:latin typeface="Arial"/>
                <a:ea typeface="Arial"/>
                <a:cs typeface="Arial"/>
              </a:defRPr>
            </a:pPr>
            <a:r>
              <a:rPr sz="1800" b="0">
                <a:solidFill>
                  <a:srgbClr val="080808"/>
                </a:solidFill>
                <a:latin typeface="Arial"/>
                <a:ea typeface="Arial"/>
                <a:cs typeface="Arial"/>
              </a:rPr>
              <a:t>Chronological split</a:t>
            </a:r>
          </a:p>
        </p:txBody>
      </p:sp>
      <p:sp>
        <p:nvSpPr>
          <p:cNvPr id="27" name="Prototype Roadmap →">
            <a:extLst>
              <a:ext uri="{FF2B5EF4-FFF2-40B4-BE49-F238E27FC236}">
                <ns2:creationId id="{7DD01EA6-CEA3-4755-9A48-1DBE5C12B3CA}"/>
              </a:ext>
            </a:extLst>
          </p:cNvPr>
          <p:cNvSpPr>
            <a:spLocks noGrp="1"/>
          </p:cNvSpPr>
          <p:nvPr/>
        </p:nvSpPr>
        <p:spPr>
          <a:xfrm>
            <a:off x="3028950" y="2714625"/>
            <a:ext cx="323850" cy="428625"/>
          </a:xfrm>
          <a:prstGeom prst="rect">
            <a:avLst/>
          </a:prstGeom>
          <a:noFill/>
          <a:ln w="0">
            <a:noFill/>
          </a:ln>
        </p:spPr>
        <p:txBody>
          <a:bodyPr lIns="0" tIns="0" rIns="0" bIns="0">
            <a:noAutofit/>
          </a:bodyPr>
          <a:lstStyle/>
          <a:p>
            <a:pPr>
              <a:defRPr sz="2850" b="0">
                <a:solidFill>
                  <a:srgbClr val="174A72"/>
                </a:solidFill>
                <a:latin typeface="Arial"/>
                <a:ea typeface="Arial"/>
                <a:cs typeface="Arial"/>
              </a:defRPr>
            </a:pPr>
            <a:r>
              <a:rPr sz="2850" b="0">
                <a:solidFill>
                  <a:srgbClr val="174A72"/>
                </a:solidFill>
                <a:latin typeface="Arial"/>
                <a:ea typeface="Arial"/>
                <a:cs typeface="Arial"/>
              </a:rPr>
              <a:t>→</a:t>
            </a:r>
          </a:p>
        </p:txBody>
      </p:sp>
      <p:sp>
        <p:nvSpPr>
          <p:cNvPr id="28" name="Prototype Roadmap stage 1">
            <a:extLst>
              <a:ext uri="{FF2B5EF4-FFF2-40B4-BE49-F238E27FC236}">
                <ns2:creationId id="{F75B4190-2A8B-49A6-83D9-E6F28A49BA7B}"/>
              </a:ext>
            </a:extLst>
          </p:cNvPr>
          <p:cNvSpPr>
            <a:spLocks noGrp="1"/>
          </p:cNvSpPr>
          <p:nvPr/>
        </p:nvSpPr>
        <p:spPr>
          <a:xfrm>
            <a:off x="3409950" y="1990725"/>
            <a:ext cx="2476500" cy="1885950"/>
          </a:xfrm>
          <a:prstGeom prst="rect">
            <a:avLst/>
          </a:prstGeom>
          <a:noFill/>
          <a:ln w="9525">
            <a:solidFill>
              <a:srgbClr val="174A72"/>
            </a:solidFill>
          </a:ln>
        </p:spPr>
      </p:sp>
      <p:sp>
        <p:nvSpPr>
          <p:cNvPr id="29" name="Prototype Roadmap 02  FORECAST">
            <a:extLst>
              <a:ext uri="{FF2B5EF4-FFF2-40B4-BE49-F238E27FC236}">
                <ns2:creationId id="{4D89D04F-4CBD-408F-89A9-69008192C6CF}"/>
              </a:ext>
            </a:extLst>
          </p:cNvPr>
          <p:cNvSpPr>
            <a:spLocks noGrp="1"/>
          </p:cNvSpPr>
          <p:nvPr/>
        </p:nvSpPr>
        <p:spPr>
          <a:xfrm>
            <a:off x="3524250" y="2181225"/>
            <a:ext cx="2247900" cy="342900"/>
          </a:xfrm>
          <a:prstGeom prst="rect">
            <a:avLst/>
          </a:prstGeom>
          <a:noFill/>
          <a:ln w="0">
            <a:noFill/>
          </a:ln>
        </p:spPr>
        <p:txBody>
          <a:bodyPr lIns="0" tIns="0" rIns="0" bIns="0">
            <a:noAutofit/>
          </a:bodyPr>
          <a:lstStyle/>
          <a:p>
            <a:pPr>
              <a:defRPr sz="2025" b="1">
                <a:solidFill>
                  <a:srgbClr val="174A72"/>
                </a:solidFill>
                <a:latin typeface="Arial"/>
                <a:ea typeface="Arial"/>
                <a:cs typeface="Arial"/>
              </a:defRPr>
            </a:pPr>
            <a:r>
              <a:rPr sz="2025" b="1">
                <a:solidFill>
                  <a:srgbClr val="174A72"/>
                </a:solidFill>
                <a:latin typeface="Arial"/>
                <a:ea typeface="Arial"/>
                <a:cs typeface="Arial"/>
              </a:rPr>
              <a:t>02  FORECAST</a:t>
            </a:r>
          </a:p>
        </p:txBody>
      </p:sp>
      <p:sp>
        <p:nvSpPr>
          <p:cNvPr id="30" name="Prototype Roadmap Local training&#10;Shared model updates&#10;Sola">
            <a:extLst>
              <a:ext uri="{FF2B5EF4-FFF2-40B4-BE49-F238E27FC236}">
                <ns2:creationId id="{C10BF55F-3B74-44EA-BF24-E5479DD28E64}"/>
              </a:ext>
            </a:extLst>
          </p:cNvPr>
          <p:cNvSpPr>
            <a:spLocks noGrp="1"/>
          </p:cNvSpPr>
          <p:nvPr/>
        </p:nvSpPr>
        <p:spPr>
          <a:xfrm>
            <a:off x="3524250" y="2743200"/>
            <a:ext cx="2247900" cy="1009650"/>
          </a:xfrm>
          <a:prstGeom prst="rect">
            <a:avLst/>
          </a:prstGeom>
          <a:noFill/>
          <a:ln w="0">
            <a:noFill/>
          </a:ln>
        </p:spPr>
        <p:txBody>
          <a:bodyPr lIns="0" tIns="0" rIns="0" bIns="0">
            <a:noAutofit/>
          </a:bodyPr>
          <a:lstStyle/>
          <a:p>
            <a:pPr>
              <a:defRPr sz="1800" b="0">
                <a:solidFill>
                  <a:srgbClr val="080808"/>
                </a:solidFill>
                <a:latin typeface="Arial"/>
                <a:ea typeface="Arial"/>
                <a:cs typeface="Arial"/>
              </a:defRPr>
            </a:pPr>
            <a:r>
              <a:rPr sz="1800" b="0">
                <a:solidFill>
                  <a:srgbClr val="080808"/>
                </a:solidFill>
                <a:latin typeface="Arial"/>
                <a:ea typeface="Arial"/>
                <a:cs typeface="Arial"/>
              </a:rPr>
              <a:t>Local training</a:t>
            </a:r>
          </a:p>
          <a:p>
            <a:pPr>
              <a:defRPr sz="1800" b="0">
                <a:solidFill>
                  <a:srgbClr val="080808"/>
                </a:solidFill>
                <a:latin typeface="Arial"/>
                <a:ea typeface="Arial"/>
                <a:cs typeface="Arial"/>
              </a:defRPr>
            </a:pPr>
            <a:r>
              <a:rPr sz="1800" b="0">
                <a:solidFill>
                  <a:srgbClr val="080808"/>
                </a:solidFill>
                <a:latin typeface="Arial"/>
                <a:ea typeface="Arial"/>
                <a:cs typeface="Arial"/>
              </a:rPr>
              <a:t>Shared model updates</a:t>
            </a:r>
          </a:p>
          <a:p>
            <a:pPr>
              <a:defRPr sz="1800" b="0">
                <a:solidFill>
                  <a:srgbClr val="080808"/>
                </a:solidFill>
                <a:latin typeface="Arial"/>
                <a:ea typeface="Arial"/>
                <a:cs typeface="Arial"/>
              </a:defRPr>
            </a:pPr>
            <a:r>
              <a:rPr sz="1800" b="0">
                <a:solidFill>
                  <a:srgbClr val="080808"/>
                </a:solidFill>
                <a:latin typeface="Arial"/>
                <a:ea typeface="Arial"/>
                <a:cs typeface="Arial"/>
              </a:rPr>
              <a:t>Solar output +60 min</a:t>
            </a:r>
          </a:p>
        </p:txBody>
      </p:sp>
      <p:sp>
        <p:nvSpPr>
          <p:cNvPr id="31" name="Prototype Roadmap →">
            <a:extLst>
              <a:ext uri="{FF2B5EF4-FFF2-40B4-BE49-F238E27FC236}">
                <ns2:creationId id="{DFB5CD75-D647-4F6E-A44B-B0D63828CC4D}"/>
              </a:ext>
            </a:extLst>
          </p:cNvPr>
          <p:cNvSpPr>
            <a:spLocks noGrp="1"/>
          </p:cNvSpPr>
          <p:nvPr/>
        </p:nvSpPr>
        <p:spPr>
          <a:xfrm>
            <a:off x="5943600" y="2714625"/>
            <a:ext cx="323850" cy="428625"/>
          </a:xfrm>
          <a:prstGeom prst="rect">
            <a:avLst/>
          </a:prstGeom>
          <a:noFill/>
          <a:ln w="0">
            <a:noFill/>
          </a:ln>
        </p:spPr>
        <p:txBody>
          <a:bodyPr lIns="0" tIns="0" rIns="0" bIns="0">
            <a:noAutofit/>
          </a:bodyPr>
          <a:lstStyle/>
          <a:p>
            <a:pPr>
              <a:defRPr sz="2850" b="0">
                <a:solidFill>
                  <a:srgbClr val="174A72"/>
                </a:solidFill>
                <a:latin typeface="Arial"/>
                <a:ea typeface="Arial"/>
                <a:cs typeface="Arial"/>
              </a:defRPr>
            </a:pPr>
            <a:r>
              <a:rPr sz="2850" b="0">
                <a:solidFill>
                  <a:srgbClr val="174A72"/>
                </a:solidFill>
                <a:latin typeface="Arial"/>
                <a:ea typeface="Arial"/>
                <a:cs typeface="Arial"/>
              </a:rPr>
              <a:t>→</a:t>
            </a:r>
          </a:p>
        </p:txBody>
      </p:sp>
      <p:sp>
        <p:nvSpPr>
          <p:cNvPr id="32" name="Prototype Roadmap stage 2">
            <a:extLst>
              <a:ext uri="{FF2B5EF4-FFF2-40B4-BE49-F238E27FC236}">
                <ns2:creationId id="{5BDAB22B-0C32-491D-B8D9-1CFA8369DA41}"/>
              </a:ext>
            </a:extLst>
          </p:cNvPr>
          <p:cNvSpPr>
            <a:spLocks noGrp="1"/>
          </p:cNvSpPr>
          <p:nvPr/>
        </p:nvSpPr>
        <p:spPr>
          <a:xfrm>
            <a:off x="6324600" y="1990725"/>
            <a:ext cx="2476500" cy="1885950"/>
          </a:xfrm>
          <a:prstGeom prst="rect">
            <a:avLst/>
          </a:prstGeom>
          <a:noFill/>
          <a:ln w="9525">
            <a:solidFill>
              <a:srgbClr val="174A72"/>
            </a:solidFill>
          </a:ln>
        </p:spPr>
      </p:sp>
      <p:sp>
        <p:nvSpPr>
          <p:cNvPr id="33" name="Prototype Roadmap 03  RESERVE">
            <a:extLst>
              <a:ext uri="{FF2B5EF4-FFF2-40B4-BE49-F238E27FC236}">
                <ns2:creationId id="{30160F85-0C2F-4CB8-8B86-A8DF705FC78C}"/>
              </a:ext>
            </a:extLst>
          </p:cNvPr>
          <p:cNvSpPr>
            <a:spLocks noGrp="1"/>
          </p:cNvSpPr>
          <p:nvPr/>
        </p:nvSpPr>
        <p:spPr>
          <a:xfrm>
            <a:off x="6438900" y="2181225"/>
            <a:ext cx="2247900" cy="342900"/>
          </a:xfrm>
          <a:prstGeom prst="rect">
            <a:avLst/>
          </a:prstGeom>
          <a:noFill/>
          <a:ln w="0">
            <a:noFill/>
          </a:ln>
        </p:spPr>
        <p:txBody>
          <a:bodyPr lIns="0" tIns="0" rIns="0" bIns="0">
            <a:noAutofit/>
          </a:bodyPr>
          <a:lstStyle/>
          <a:p>
            <a:pPr>
              <a:defRPr sz="2025" b="1">
                <a:solidFill>
                  <a:srgbClr val="174A72"/>
                </a:solidFill>
                <a:latin typeface="Arial"/>
                <a:ea typeface="Arial"/>
                <a:cs typeface="Arial"/>
              </a:defRPr>
            </a:pPr>
            <a:r>
              <a:rPr sz="2025" b="1">
                <a:solidFill>
                  <a:srgbClr val="174A72"/>
                </a:solidFill>
                <a:latin typeface="Arial"/>
                <a:ea typeface="Arial"/>
                <a:cs typeface="Arial"/>
              </a:rPr>
              <a:t>03  RESERVE</a:t>
            </a:r>
          </a:p>
        </p:txBody>
      </p:sp>
      <p:sp>
        <p:nvSpPr>
          <p:cNvPr id="34" name="Prototype Roadmap Past-error uncertainty&#10;Demand + grid gap">
            <a:extLst>
              <a:ext uri="{FF2B5EF4-FFF2-40B4-BE49-F238E27FC236}">
                <ns2:creationId id="{F73A7B0A-0FD1-4DA1-808A-7E880CEE0CC8}"/>
              </a:ext>
            </a:extLst>
          </p:cNvPr>
          <p:cNvSpPr>
            <a:spLocks noGrp="1"/>
          </p:cNvSpPr>
          <p:nvPr/>
        </p:nvSpPr>
        <p:spPr>
          <a:xfrm>
            <a:off x="6438900" y="2743200"/>
            <a:ext cx="2247900" cy="1009650"/>
          </a:xfrm>
          <a:prstGeom prst="rect">
            <a:avLst/>
          </a:prstGeom>
          <a:noFill/>
          <a:ln w="0">
            <a:noFill/>
          </a:ln>
        </p:spPr>
        <p:txBody>
          <a:bodyPr lIns="0" tIns="0" rIns="0" bIns="0">
            <a:noAutofit/>
          </a:bodyPr>
          <a:lstStyle/>
          <a:p>
            <a:pPr>
              <a:defRPr sz="1800" b="0">
                <a:solidFill>
                  <a:srgbClr val="080808"/>
                </a:solidFill>
                <a:latin typeface="Arial"/>
                <a:ea typeface="Arial"/>
                <a:cs typeface="Arial"/>
              </a:defRPr>
            </a:pPr>
            <a:r>
              <a:rPr sz="1800" b="0">
                <a:solidFill>
                  <a:srgbClr val="080808"/>
                </a:solidFill>
                <a:latin typeface="Arial"/>
                <a:ea typeface="Arial"/>
                <a:cs typeface="Arial"/>
              </a:rPr>
              <a:t>Past-error uncertainty</a:t>
            </a:r>
          </a:p>
          <a:p>
            <a:pPr>
              <a:defRPr sz="1800" b="0">
                <a:solidFill>
                  <a:srgbClr val="080808"/>
                </a:solidFill>
                <a:latin typeface="Arial"/>
                <a:ea typeface="Arial"/>
                <a:cs typeface="Arial"/>
              </a:defRPr>
            </a:pPr>
            <a:r>
              <a:rPr sz="1800" b="0">
                <a:solidFill>
                  <a:srgbClr val="080808"/>
                </a:solidFill>
                <a:latin typeface="Arial"/>
                <a:ea typeface="Arial"/>
                <a:cs typeface="Arial"/>
              </a:rPr>
              <a:t>Demand + grid gap</a:t>
            </a:r>
          </a:p>
          <a:p>
            <a:pPr>
              <a:defRPr sz="1800" b="0">
                <a:solidFill>
                  <a:srgbClr val="080808"/>
                </a:solidFill>
                <a:latin typeface="Arial"/>
                <a:ea typeface="Arial"/>
                <a:cs typeface="Arial"/>
              </a:defRPr>
            </a:pPr>
            <a:r>
              <a:rPr sz="1800" b="0">
                <a:solidFill>
                  <a:srgbClr val="080808"/>
                </a:solidFill>
                <a:latin typeface="Arial"/>
                <a:ea typeface="Arial"/>
                <a:cs typeface="Arial"/>
              </a:rPr>
              <a:t>Power + energy limits</a:t>
            </a:r>
          </a:p>
        </p:txBody>
      </p:sp>
      <p:sp>
        <p:nvSpPr>
          <p:cNvPr id="35" name="Prototype Roadmap →">
            <a:extLst>
              <a:ext uri="{FF2B5EF4-FFF2-40B4-BE49-F238E27FC236}">
                <ns2:creationId id="{3DC46AC5-62C4-42F7-80AF-88DA814605F6}"/>
              </a:ext>
            </a:extLst>
          </p:cNvPr>
          <p:cNvSpPr>
            <a:spLocks noGrp="1"/>
          </p:cNvSpPr>
          <p:nvPr/>
        </p:nvSpPr>
        <p:spPr>
          <a:xfrm>
            <a:off x="8858250" y="2714625"/>
            <a:ext cx="323850" cy="428625"/>
          </a:xfrm>
          <a:prstGeom prst="rect">
            <a:avLst/>
          </a:prstGeom>
          <a:noFill/>
          <a:ln w="0">
            <a:noFill/>
          </a:ln>
        </p:spPr>
        <p:txBody>
          <a:bodyPr lIns="0" tIns="0" rIns="0" bIns="0">
            <a:noAutofit/>
          </a:bodyPr>
          <a:lstStyle/>
          <a:p>
            <a:pPr>
              <a:defRPr sz="2850" b="0">
                <a:solidFill>
                  <a:srgbClr val="174A72"/>
                </a:solidFill>
                <a:latin typeface="Arial"/>
                <a:ea typeface="Arial"/>
                <a:cs typeface="Arial"/>
              </a:defRPr>
            </a:pPr>
            <a:r>
              <a:rPr sz="2850" b="0">
                <a:solidFill>
                  <a:srgbClr val="174A72"/>
                </a:solidFill>
                <a:latin typeface="Arial"/>
                <a:ea typeface="Arial"/>
                <a:cs typeface="Arial"/>
              </a:rPr>
              <a:t>→</a:t>
            </a:r>
          </a:p>
        </p:txBody>
      </p:sp>
      <p:sp>
        <p:nvSpPr>
          <p:cNvPr id="36" name="Prototype Roadmap stage 3">
            <a:extLst>
              <a:ext uri="{FF2B5EF4-FFF2-40B4-BE49-F238E27FC236}">
                <ns2:creationId id="{D3EFA797-A959-43C8-84CA-219E1F700A5B}"/>
              </a:ext>
            </a:extLst>
          </p:cNvPr>
          <p:cNvSpPr>
            <a:spLocks noGrp="1"/>
          </p:cNvSpPr>
          <p:nvPr/>
        </p:nvSpPr>
        <p:spPr>
          <a:xfrm>
            <a:off x="9239250" y="1990725"/>
            <a:ext cx="2476500" cy="1885950"/>
          </a:xfrm>
          <a:prstGeom prst="rect">
            <a:avLst/>
          </a:prstGeom>
          <a:noFill/>
          <a:ln w="9525">
            <a:solidFill>
              <a:srgbClr val="174A72"/>
            </a:solidFill>
          </a:ln>
        </p:spPr>
      </p:sp>
      <p:sp>
        <p:nvSpPr>
          <p:cNvPr id="37" name="Prototype Roadmap 04  TEST + UI">
            <a:extLst>
              <a:ext uri="{FF2B5EF4-FFF2-40B4-BE49-F238E27FC236}">
                <ns2:creationId id="{372F64F1-7146-4781-A126-4B7E77239700}"/>
              </a:ext>
            </a:extLst>
          </p:cNvPr>
          <p:cNvSpPr>
            <a:spLocks noGrp="1"/>
          </p:cNvSpPr>
          <p:nvPr/>
        </p:nvSpPr>
        <p:spPr>
          <a:xfrm>
            <a:off x="9353550" y="2181225"/>
            <a:ext cx="2247900" cy="342900"/>
          </a:xfrm>
          <a:prstGeom prst="rect">
            <a:avLst/>
          </a:prstGeom>
          <a:noFill/>
          <a:ln w="0">
            <a:noFill/>
          </a:ln>
        </p:spPr>
        <p:txBody>
          <a:bodyPr lIns="0" tIns="0" rIns="0" bIns="0">
            <a:noAutofit/>
          </a:bodyPr>
          <a:lstStyle/>
          <a:p>
            <a:pPr>
              <a:defRPr sz="2025" b="1">
                <a:solidFill>
                  <a:srgbClr val="174A72"/>
                </a:solidFill>
                <a:latin typeface="Arial"/>
                <a:ea typeface="Arial"/>
                <a:cs typeface="Arial"/>
              </a:defRPr>
            </a:pPr>
            <a:r>
              <a:rPr sz="2025" b="1">
                <a:solidFill>
                  <a:srgbClr val="174A72"/>
                </a:solidFill>
                <a:latin typeface="Arial"/>
                <a:ea typeface="Arial"/>
                <a:cs typeface="Arial"/>
              </a:rPr>
              <a:t>04  TEST + UI</a:t>
            </a:r>
          </a:p>
        </p:txBody>
      </p:sp>
      <p:sp>
        <p:nvSpPr>
          <p:cNvPr id="38" name="Prototype Roadmap Advisory dashboard&#10;Fault / shortage test">
            <a:extLst>
              <a:ext uri="{FF2B5EF4-FFF2-40B4-BE49-F238E27FC236}">
                <ns2:creationId id="{76513513-9781-4B0D-A0D7-89423DB6547A}"/>
              </a:ext>
            </a:extLst>
          </p:cNvPr>
          <p:cNvSpPr>
            <a:spLocks noGrp="1"/>
          </p:cNvSpPr>
          <p:nvPr/>
        </p:nvSpPr>
        <p:spPr>
          <a:xfrm>
            <a:off x="9353550" y="2743200"/>
            <a:ext cx="2247900" cy="1009650"/>
          </a:xfrm>
          <a:prstGeom prst="rect">
            <a:avLst/>
          </a:prstGeom>
          <a:noFill/>
          <a:ln w="0">
            <a:noFill/>
          </a:ln>
        </p:spPr>
        <p:txBody>
          <a:bodyPr lIns="0" tIns="0" rIns="0" bIns="0">
            <a:noAutofit/>
          </a:bodyPr>
          <a:lstStyle/>
          <a:p>
            <a:pPr>
              <a:defRPr sz="1800" b="0">
                <a:solidFill>
                  <a:srgbClr val="080808"/>
                </a:solidFill>
                <a:latin typeface="Arial"/>
                <a:ea typeface="Arial"/>
                <a:cs typeface="Arial"/>
              </a:defRPr>
            </a:pPr>
            <a:r>
              <a:rPr sz="1800" b="0">
                <a:solidFill>
                  <a:srgbClr val="080808"/>
                </a:solidFill>
                <a:latin typeface="Arial"/>
                <a:ea typeface="Arial"/>
                <a:cs typeface="Arial"/>
              </a:rPr>
              <a:t>Advisory dashboard</a:t>
            </a:r>
          </a:p>
          <a:p>
            <a:pPr>
              <a:defRPr sz="1800" b="0">
                <a:solidFill>
                  <a:srgbClr val="080808"/>
                </a:solidFill>
                <a:latin typeface="Arial"/>
                <a:ea typeface="Arial"/>
                <a:cs typeface="Arial"/>
              </a:defRPr>
            </a:pPr>
            <a:r>
              <a:rPr sz="1800" b="0">
                <a:solidFill>
                  <a:srgbClr val="080808"/>
                </a:solidFill>
                <a:latin typeface="Arial"/>
                <a:ea typeface="Arial"/>
                <a:cs typeface="Arial"/>
              </a:rPr>
              <a:t>Fault / shortage tests</a:t>
            </a:r>
          </a:p>
          <a:p>
            <a:pPr>
              <a:defRPr sz="1800" b="0">
                <a:solidFill>
                  <a:srgbClr val="080808"/>
                </a:solidFill>
                <a:latin typeface="Arial"/>
                <a:ea typeface="Arial"/>
                <a:cs typeface="Arial"/>
              </a:defRPr>
            </a:pPr>
            <a:r>
              <a:rPr sz="1800" b="0">
                <a:solidFill>
                  <a:srgbClr val="080808"/>
                </a:solidFill>
                <a:latin typeface="Arial"/>
                <a:ea typeface="Arial"/>
                <a:cs typeface="Arial"/>
              </a:rPr>
              <a:t>Fixed-reserve comparison</a:t>
            </a:r>
          </a:p>
        </p:txBody>
      </p:sp>
      <p:sp>
        <p:nvSpPr>
          <p:cNvPr id="39" name="Prototype Roadmap Built: forecasts, constrained backup adv">
            <a:extLst>
              <a:ext uri="{FF2B5EF4-FFF2-40B4-BE49-F238E27FC236}">
                <ns2:creationId id="{A290E22E-FA19-4F8F-9587-A6A24FC785F9}"/>
              </a:ext>
            </a:extLst>
          </p:cNvPr>
          <p:cNvSpPr>
            <a:spLocks noGrp="1"/>
          </p:cNvSpPr>
          <p:nvPr/>
        </p:nvSpPr>
        <p:spPr>
          <a:xfrm>
            <a:off x="609600" y="4181475"/>
            <a:ext cx="10991850" cy="361950"/>
          </a:xfrm>
          <a:prstGeom prst="rect">
            <a:avLst/>
          </a:prstGeom>
          <a:noFill/>
          <a:ln w="0">
            <a:noFill/>
          </a:ln>
        </p:spPr>
        <p:txBody>
          <a:bodyPr lIns="0" tIns="0" rIns="0" bIns="0">
            <a:noAutofit/>
          </a:bodyPr>
          <a:lstStyle/>
          <a:p>
            <a:pPr>
              <a:defRPr sz="2100" b="1">
                <a:solidFill>
                  <a:srgbClr val="174A72"/>
                </a:solidFill>
                <a:latin typeface="Arial"/>
                <a:ea typeface="Arial"/>
                <a:cs typeface="Arial"/>
              </a:defRPr>
            </a:pPr>
            <a:r>
              <a:rPr sz="2100" b="1">
                <a:solidFill>
                  <a:srgbClr val="174A72"/>
                </a:solidFill>
                <a:latin typeface="Arial"/>
                <a:ea typeface="Arial"/>
                <a:cs typeface="Arial"/>
              </a:rPr>
              <a:t>Built: forecasts, constrained backup advice and an operator dashboard.</a:t>
            </a:r>
          </a:p>
        </p:txBody>
      </p:sp>
      <p:sp>
        <p:nvSpPr>
          <p:cNvPr id="40" name="Prototype Roadmap NEXT: FIELD VALIDATION">
            <a:extLst>
              <a:ext uri="{FF2B5EF4-FFF2-40B4-BE49-F238E27FC236}">
                <ns2:creationId id="{95EB20BE-8ADB-4C20-82A1-12D42E85E1B4}"/>
              </a:ext>
            </a:extLst>
          </p:cNvPr>
          <p:cNvSpPr>
            <a:spLocks noGrp="1"/>
          </p:cNvSpPr>
          <p:nvPr/>
        </p:nvSpPr>
        <p:spPr>
          <a:xfrm>
            <a:off x="609600" y="4791075"/>
            <a:ext cx="10991850" cy="304800"/>
          </a:xfrm>
          <a:prstGeom prst="rect">
            <a:avLst/>
          </a:prstGeom>
          <a:noFill/>
          <a:ln w="0">
            <a:noFill/>
          </a:ln>
        </p:spPr>
        <p:txBody>
          <a:bodyPr lIns="0" tIns="0" rIns="0" bIns="0">
            <a:noAutofit/>
          </a:bodyPr>
          <a:lstStyle/>
          <a:p>
            <a:pPr>
              <a:defRPr sz="1875" b="1">
                <a:solidFill>
                  <a:srgbClr val="68645E"/>
                </a:solidFill>
                <a:latin typeface="Arial"/>
                <a:ea typeface="Arial"/>
                <a:cs typeface="Arial"/>
              </a:defRPr>
            </a:pPr>
            <a:r>
              <a:rPr sz="1875" b="1">
                <a:solidFill>
                  <a:srgbClr val="68645E"/>
                </a:solidFill>
                <a:latin typeface="Arial"/>
                <a:ea typeface="Arial"/>
                <a:cs typeface="Arial"/>
              </a:rPr>
              <a:t>NEXT: FIELD VALIDATION</a:t>
            </a:r>
          </a:p>
        </p:txBody>
      </p:sp>
      <p:sp>
        <p:nvSpPr>
          <p:cNvPr id="41" name="Prototype Roadmap Measured local data → confirm assets + c">
            <a:extLst>
              <a:ext uri="{FF2B5EF4-FFF2-40B4-BE49-F238E27FC236}">
                <ns2:creationId id="{A2B6993A-464E-4D3A-86E5-DE10173E9208}"/>
              </a:ext>
            </a:extLst>
          </p:cNvPr>
          <p:cNvSpPr>
            <a:spLocks noGrp="1"/>
          </p:cNvSpPr>
          <p:nvPr/>
        </p:nvSpPr>
        <p:spPr>
          <a:xfrm>
            <a:off x="609600" y="5200650"/>
            <a:ext cx="10991850" cy="361950"/>
          </a:xfrm>
          <a:prstGeom prst="rect">
            <a:avLst/>
          </a:prstGeom>
          <a:noFill/>
          <a:ln w="0">
            <a:noFill/>
          </a:ln>
        </p:spPr>
        <p:txBody>
          <a:bodyPr lIns="0" tIns="0" rIns="0" bIns="0">
            <a:noAutofit/>
          </a:bodyPr>
          <a:lstStyle/>
          <a:p>
            <a:pPr>
              <a:defRPr sz="2025" b="0">
                <a:solidFill>
                  <a:srgbClr val="080808"/>
                </a:solidFill>
                <a:latin typeface="Arial"/>
                <a:ea typeface="Arial"/>
                <a:cs typeface="Arial"/>
              </a:defRPr>
            </a:pPr>
            <a:r>
              <a:rPr sz="2025" b="0">
                <a:solidFill>
                  <a:srgbClr val="080808"/>
                </a:solidFill>
                <a:latin typeface="Arial"/>
                <a:ea typeface="Arial"/>
                <a:cs typeface="Arial"/>
              </a:rPr>
              <a:t>Measured local data → confirm assets + costs → operator shadow pilot</a:t>
            </a:r>
          </a:p>
        </p:txBody>
      </p:sp>
      <p:sp>
        <p:nvSpPr>
          <p:cNvPr id="42" name="Prototype Roadmap PROPOSED COMPLEMENT TO SCHNEIDER">
            <a:extLst>
              <a:ext uri="{FF2B5EF4-FFF2-40B4-BE49-F238E27FC236}">
                <ns2:creationId id="{9D175CA0-282F-410C-94B5-40A416F2708B}"/>
              </a:ext>
            </a:extLst>
          </p:cNvPr>
          <p:cNvSpPr>
            <a:spLocks noGrp="1"/>
          </p:cNvSpPr>
          <p:nvPr/>
        </p:nvSpPr>
        <p:spPr>
          <a:xfrm>
            <a:off x="609600" y="5791200"/>
            <a:ext cx="10991850" cy="304800"/>
          </a:xfrm>
          <a:prstGeom prst="rect">
            <a:avLst/>
          </a:prstGeom>
          <a:noFill/>
          <a:ln w="0">
            <a:noFill/>
          </a:ln>
        </p:spPr>
        <p:txBody>
          <a:bodyPr lIns="0" tIns="0" rIns="0" bIns="0">
            <a:noAutofit/>
          </a:bodyPr>
          <a:lstStyle/>
          <a:p>
            <a:pPr>
              <a:defRPr sz="1875" b="1">
                <a:solidFill>
                  <a:srgbClr val="174A72"/>
                </a:solidFill>
                <a:latin typeface="Arial"/>
                <a:ea typeface="Arial"/>
                <a:cs typeface="Arial"/>
              </a:defRPr>
            </a:pPr>
            <a:r>
              <a:rPr sz="1875" b="1">
                <a:solidFill>
                  <a:srgbClr val="174A72"/>
                </a:solidFill>
                <a:latin typeface="Arial"/>
                <a:ea typeface="Arial"/>
                <a:cs typeface="Arial"/>
              </a:rPr>
              <a:t>PROPOSED COMPLEMENT TO SCHNEIDER</a:t>
            </a:r>
          </a:p>
        </p:txBody>
      </p:sp>
      <p:sp>
        <p:nvSpPr>
          <p:cNvPr id="43" name="Prototype Roadmap Local forecasts + reserve advice for exi">
            <a:extLst>
              <a:ext uri="{FF2B5EF4-FFF2-40B4-BE49-F238E27FC236}">
                <ns2:creationId id="{8CBDBC57-EBF4-4B26-B304-A8E60BDEEE79}"/>
              </a:ext>
            </a:extLst>
          </p:cNvPr>
          <p:cNvSpPr>
            <a:spLocks noGrp="1"/>
          </p:cNvSpPr>
          <p:nvPr/>
        </p:nvSpPr>
        <p:spPr>
          <a:xfrm>
            <a:off x="609600" y="6181725"/>
            <a:ext cx="10991850" cy="295275"/>
          </a:xfrm>
          <a:prstGeom prst="rect">
            <a:avLst/>
          </a:prstGeom>
          <a:noFill/>
          <a:ln w="0">
            <a:noFill/>
          </a:ln>
        </p:spPr>
        <p:txBody>
          <a:bodyPr lIns="0" tIns="0" rIns="0" bIns="0">
            <a:noAutofit/>
          </a:bodyPr>
          <a:lstStyle/>
          <a:p>
            <a:pPr>
              <a:defRPr sz="1875" b="0">
                <a:solidFill>
                  <a:srgbClr val="68645E"/>
                </a:solidFill>
                <a:latin typeface="Arial"/>
                <a:ea typeface="Arial"/>
                <a:cs typeface="Arial"/>
              </a:defRPr>
            </a:pPr>
            <a:r>
              <a:rPr sz="1875" b="0">
                <a:solidFill>
                  <a:srgbClr val="68645E"/>
                </a:solidFill>
                <a:latin typeface="Arial"/>
                <a:ea typeface="Arial"/>
                <a:cs typeface="Arial"/>
              </a:rPr>
              <a:t>Local forecasts + reserve advice for existing operator / DISCOM workflows.</a:t>
            </a:r>
          </a:p>
        </p:txBody>
      </p:sp>
      <p:sp>
        <p:nvSpPr>
          <p:cNvPr id="44" name="Prototype Roadmap Simulation and advice only. No live cont">
            <a:extLst>
              <a:ext uri="{FF2B5EF4-FFF2-40B4-BE49-F238E27FC236}">
                <ns2:creationId id="{271F5E48-DCB7-4F63-A7CB-58A594E0F996}"/>
              </a:ext>
            </a:extLst>
          </p:cNvPr>
          <p:cNvSpPr>
            <a:spLocks noGrp="1"/>
          </p:cNvSpPr>
          <p:nvPr/>
        </p:nvSpPr>
        <p:spPr>
          <a:xfrm>
            <a:off x="609600" y="6572250"/>
            <a:ext cx="10991850" cy="238125"/>
          </a:xfrm>
          <a:prstGeom prst="rect">
            <a:avLst/>
          </a:prstGeom>
          <a:noFill/>
          <a:ln w="0">
            <a:noFill/>
          </a:ln>
        </p:spPr>
        <p:txBody>
          <a:bodyPr lIns="0" tIns="0" rIns="0" bIns="0">
            <a:noAutofit/>
          </a:bodyPr>
          <a:lstStyle/>
          <a:p>
            <a:pPr>
              <a:defRPr sz="1500" b="0">
                <a:solidFill>
                  <a:srgbClr val="68645E"/>
                </a:solidFill>
                <a:latin typeface="Arial"/>
                <a:ea typeface="Arial"/>
                <a:cs typeface="Arial"/>
              </a:defRPr>
            </a:pPr>
            <a:r>
              <a:rPr sz="1500" b="0">
                <a:solidFill>
                  <a:srgbClr val="68645E"/>
                </a:solidFill>
                <a:latin typeface="Arial"/>
                <a:ea typeface="Arial"/>
                <a:cs typeface="Arial"/>
              </a:rPr>
              <a:t>Simulation and advice only. No live control, implemented integration or field deployment.</a:t>
            </a:r>
          </a:p>
        </p:txBody>
      </p:sp>
    </p:spTree>
    <p:extLst>
      <p:ext uri="{BB962C8B-B14F-4D97-AF65-F5344CB8AC3E}">
        <ns3:creationId val="210284990"/>
      </p:ext>
    </p:extLst>
  </p:cSld>
</p:sld>
</file>

<file path=ppt/slides/slide1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4EFE6"/>
        </a:solidFill>
      </p:bgPr>
    </p:bg>
    <p:spTree>
      <p:nvGrpSpPr>
        <p:cNvPr id="1" name=""/>
        <p:cNvGrpSpPr/>
        <p:nvPr/>
      </p:nvGrpSpPr>
      <p:grpSpPr>
        <a:xfrm/>
      </p:grpSpPr>
      <p:sp>
        <p:nvSpPr>
          <p:cNvPr id="25" name="">
            <a:extLst>
              <a:ext uri="{FF2B5EF4-FFF2-40B4-BE49-F238E27FC236}">
                <ns2:creationId id="{2E254C31-B604-4019-A16C-EF6A6EA83107}"/>
              </a:ext>
            </a:extLst>
          </p:cNvPr>
          <p:cNvSpPr>
            <a:spLocks noGrp="1"/>
          </p:cNvSpPr>
          <p:nvPr/>
        </p:nvSpPr>
        <p:spPr>
          <a:xfrm>
            <a:off x="609600" y="495300"/>
            <a:ext cx="10096500" cy="1000125"/>
          </a:xfrm>
          <a:prstGeom prst="rect">
            <a:avLst/>
          </a:prstGeom>
          <a:noFill/>
          <a:ln w="0">
            <a:noFill/>
          </a:ln>
        </p:spPr>
        <p:txBody>
          <a:bodyPr lIns="0" tIns="0" rIns="0" bIns="0">
            <a:noAutofit/>
          </a:bodyPr>
          <a:lstStyle/>
          <a:p>
            <a:pPr>
              <a:buNone/>
              <a:defRPr sz="3525" b="1">
                <a:solidFill>
                  <a:srgbClr val="080808"/>
                </a:solidFill>
                <a:latin typeface="Arial Black"/>
                <a:ea typeface="Arial Black"/>
                <a:cs typeface="Arial Black"/>
              </a:defRPr>
            </a:pPr>
            <a:r>
              <a:rPr sz="3525" b="1">
                <a:solidFill>
                  <a:srgbClr val="080808"/>
                </a:solidFill>
                <a:latin typeface="Arial Black"/>
                <a:ea typeface="Arial Black"/>
                <a:cs typeface="Arial Black"/>
              </a:rPr>
              <a:t>Can a neighbourhood afford it?</a:t>
            </a:r>
          </a:p>
        </p:txBody>
      </p:sp>
      <p:sp>
        <p:nvSpPr>
          <p:cNvPr id="2" name="">
            <a:extLst>
              <a:ext uri="{FF2B5EF4-FFF2-40B4-BE49-F238E27FC236}">
                <ns2:creationId id="{29454A45-2C4E-4E98-8E25-32ABE1F79848}"/>
              </a:ext>
            </a:extLst>
          </p:cNvPr>
          <p:cNvSpPr>
            <a:spLocks noGrp="1"/>
          </p:cNvSpPr>
          <p:nvPr/>
        </p:nvSpPr>
        <p:spPr>
          <a:xfrm>
            <a:off x="10953750" y="523875"/>
            <a:ext cx="914400" cy="285750"/>
          </a:xfrm>
          <a:prstGeom prst="rect">
            <a:avLst/>
          </a:prstGeom>
          <a:noFill/>
          <a:ln w="0">
            <a:noFill/>
          </a:ln>
        </p:spPr>
        <p:txBody>
          <a:bodyPr lIns="0" tIns="0" rIns="0" bIns="0">
            <a:noAutofit/>
          </a:bodyPr>
          <a:lstStyle/>
          <a:p>
            <a:pPr>
              <a:buNone/>
              <a:defRPr sz="1575" b="1">
                <a:solidFill>
                  <a:srgbClr val="5F5A52"/>
                </a:solidFill>
                <a:latin typeface="Arial"/>
                <a:ea typeface="Arial"/>
                <a:cs typeface="Arial"/>
              </a:defRPr>
            </a:pPr>
            <a:r>
              <a:rPr sz="1575" b="1">
                <a:solidFill>
                  <a:srgbClr val="5F5A52"/>
                </a:solidFill>
                <a:latin typeface="Arial"/>
                <a:ea typeface="Arial"/>
                <a:cs typeface="Arial"/>
              </a:rPr>
              <a:t>11/12</a:t>
            </a:r>
          </a:p>
        </p:txBody>
      </p:sp>
      <p:sp>
        <p:nvSpPr>
          <p:cNvPr id="32" name="Chronological submission 11 PROPOSED OWNERSHIP + O&amp;M">
            <a:extLst>
              <a:ext uri="{FF2B5EF4-FFF2-40B4-BE49-F238E27FC236}">
                <ns2:creationId id="{357546EA-8FC3-4E9F-A942-2DC75B825436}"/>
              </a:ext>
            </a:extLst>
          </p:cNvPr>
          <p:cNvSpPr>
            <a:spLocks noGrp="1"/>
          </p:cNvSpPr>
          <p:nvPr/>
        </p:nvSpPr>
        <p:spPr>
          <a:xfrm>
            <a:off x="6248400" y="1457325"/>
            <a:ext cx="5353050" cy="314325"/>
          </a:xfrm>
          <a:prstGeom prst="rect">
            <a:avLst/>
          </a:prstGeom>
          <a:noFill/>
          <a:ln w="0">
            <a:noFill/>
          </a:ln>
        </p:spPr>
        <p:txBody>
          <a:bodyPr lIns="0" tIns="0" rIns="0" bIns="0">
            <a:noAutofit/>
          </a:bodyPr>
          <a:lstStyle/>
          <a:p>
            <a:pPr algn="l">
              <a:defRPr sz="1950" b="1">
                <a:solidFill>
                  <a:srgbClr val="174A72"/>
                </a:solidFill>
                <a:latin typeface="Arial"/>
                <a:ea typeface="Arial"/>
                <a:cs typeface="Arial"/>
              </a:defRPr>
            </a:pPr>
            <a:r>
              <a:rPr sz="1950" b="1">
                <a:solidFill>
                  <a:srgbClr val="174A72"/>
                </a:solidFill>
                <a:latin typeface="Arial"/>
                <a:ea typeface="Arial"/>
                <a:cs typeface="Arial"/>
              </a:rPr>
              <a:t>PROPOSED OWNERSHIP + O&amp;M</a:t>
            </a:r>
          </a:p>
        </p:txBody>
      </p:sp>
      <p:graphicFrame>
        <p:nvGraphicFramePr>
          <p:cNvPr id="36" name=""/>
          <p:cNvGraphicFramePr/>
          <p:nvPr/>
        </p:nvGraphicFramePr>
        <p:xfrm>
          <a:off x="6248400" y="1981200"/>
          <a:ext cx="5353050" cy="3343275"/>
        </p:xfrm>
        <a:graphic>
          <a:graphicData uri="http://schemas.openxmlformats.org/drawingml/2006/table">
            <a:tbl>
              <a:tblPr/>
              <a:tblGrid>
                <a:gridCol w="2686050"/>
                <a:gridCol w="2667000"/>
              </a:tblGrid>
              <a:tr h="419100">
                <a:tc>
                  <a:txBody>
                    <a:bodyPr/>
                    <a:lstStyle/>
                    <a:p>
                      <a:r>
                        <a:rPr sz="1950" b="1">
                          <a:solidFill>
                            <a:srgbClr val="080808"/>
                          </a:solidFill>
                          <a:latin typeface="Arial"/>
                          <a:ea typeface="Arial"/>
                          <a:cs typeface="Arial"/>
                        </a:rPr>
                        <a:t>Stakeholder</a:t>
                      </a:r>
                    </a:p>
                  </a:txBody>
                  <a:tcPr marL="114300" marR="114300" marT="19050" marB="19050" anchor="ctr">
                    <a:lnL w="5715">
                      <a:noFill/>
                    </a:lnL>
                    <a:lnR w="5715">
                      <a:noFill/>
                    </a:lnR>
                    <a:lnT w="5715">
                      <a:noFill/>
                    </a:lnT>
                    <a:lnB w="5715">
                      <a:solidFill>
                        <a:srgbClr val="D8D2C7"/>
                      </a:solidFill>
                    </a:lnB>
                    <a:solidFill>
                      <a:srgbClr val="EBE7DF"/>
                    </a:solidFill>
                  </a:tcPr>
                </a:tc>
                <a:tc>
                  <a:txBody>
                    <a:bodyPr/>
                    <a:lstStyle/>
                    <a:p>
                      <a:r>
                        <a:rPr sz="1950" b="1">
                          <a:solidFill>
                            <a:srgbClr val="080808"/>
                          </a:solidFill>
                          <a:latin typeface="Arial"/>
                          <a:ea typeface="Arial"/>
                          <a:cs typeface="Arial"/>
                        </a:rPr>
                        <a:t>Role</a:t>
                      </a:r>
                    </a:p>
                  </a:txBody>
                  <a:tcPr marL="114300" marR="114300" marT="19050" marB="19050" anchor="ctr">
                    <a:lnL w="5715">
                      <a:noFill/>
                    </a:lnL>
                    <a:lnR w="5715">
                      <a:noFill/>
                    </a:lnR>
                    <a:lnT w="5715">
                      <a:noFill/>
                    </a:lnT>
                    <a:lnB w="5715">
                      <a:solidFill>
                        <a:srgbClr val="D8D2C7"/>
                      </a:solidFill>
                    </a:lnB>
                    <a:solidFill>
                      <a:srgbClr val="EBE7DF"/>
                    </a:solidFill>
                  </a:tcPr>
                </a:tc>
              </a:tr>
              <a:tr h="647700">
                <a:tc>
                  <a:txBody>
                    <a:bodyPr/>
                    <a:lstStyle/>
                    <a:p>
                      <a:r>
                        <a:rPr sz="1875" b="0">
                          <a:solidFill>
                            <a:srgbClr val="080808"/>
                          </a:solidFill>
                          <a:latin typeface="Arial"/>
                          <a:ea typeface="Arial"/>
                          <a:cs typeface="Arial"/>
                        </a:rPr>
                        <a:t>Community cooperative</a:t>
                      </a:r>
                    </a:p>
                    <a:p>
                      <a:r>
                        <a:rPr sz="1875" b="0">
                          <a:solidFill>
                            <a:srgbClr val="080808"/>
                          </a:solidFill>
                          <a:latin typeface="Arial"/>
                          <a:ea typeface="Arial"/>
                          <a:cs typeface="Arial"/>
                        </a:rPr>
                        <a:t>/ local energy company</a:t>
                      </a:r>
                    </a:p>
                  </a:txBody>
                  <a:tcPr marL="114300" marR="114300" marT="19050" marB="19050" anchor="ctr">
                    <a:lnL w="5715">
                      <a:noFill/>
                    </a:lnL>
                    <a:lnR w="5715">
                      <a:noFill/>
                    </a:lnR>
                    <a:lnT w="5715">
                      <a:noFill/>
                    </a:lnT>
                    <a:lnB w="5715">
                      <a:solidFill>
                        <a:srgbClr val="D8D2C7"/>
                      </a:solidFill>
                    </a:lnB>
                    <a:solidFill>
                      <a:srgbClr val="F4EFE6"/>
                    </a:solidFill>
                  </a:tcPr>
                </a:tc>
                <a:tc>
                  <a:txBody>
                    <a:bodyPr/>
                    <a:lstStyle/>
                    <a:p>
                      <a:r>
                        <a:rPr sz="1875" b="0">
                          <a:solidFill>
                            <a:srgbClr val="080808"/>
                          </a:solidFill>
                          <a:latin typeface="Arial"/>
                          <a:ea typeface="Arial"/>
                          <a:cs typeface="Arial"/>
                        </a:rPr>
                        <a:t>Owns the service</a:t>
                      </a:r>
                    </a:p>
                  </a:txBody>
                  <a:tcPr marL="114300" marR="114300" marT="19050" marB="19050" anchor="ctr">
                    <a:lnL w="5715">
                      <a:noFill/>
                    </a:lnL>
                    <a:lnR w="5715">
                      <a:noFill/>
                    </a:lnR>
                    <a:lnT w="5715">
                      <a:noFill/>
                    </a:lnT>
                    <a:lnB w="5715">
                      <a:solidFill>
                        <a:srgbClr val="D8D2C7"/>
                      </a:solidFill>
                    </a:lnB>
                    <a:solidFill>
                      <a:srgbClr val="F4EFE6"/>
                    </a:solidFill>
                  </a:tcPr>
                </a:tc>
              </a:tr>
              <a:tr h="619125">
                <a:tc>
                  <a:txBody>
                    <a:bodyPr/>
                    <a:lstStyle/>
                    <a:p>
                      <a:r>
                        <a:rPr sz="1875" b="0">
                          <a:solidFill>
                            <a:srgbClr val="080808"/>
                          </a:solidFill>
                          <a:latin typeface="Arial"/>
                          <a:ea typeface="Arial"/>
                          <a:cs typeface="Arial"/>
                        </a:rPr>
                        <a:t>Local operator</a:t>
                      </a:r>
                    </a:p>
                  </a:txBody>
                  <a:tcPr marL="114300" marR="114300" marT="19050" marB="19050" anchor="ctr">
                    <a:lnL w="5715">
                      <a:noFill/>
                    </a:lnL>
                    <a:lnR w="5715">
                      <a:noFill/>
                    </a:lnR>
                    <a:lnT w="5715">
                      <a:noFill/>
                    </a:lnT>
                    <a:lnB w="5715">
                      <a:solidFill>
                        <a:srgbClr val="D8D2C7"/>
                      </a:solidFill>
                    </a:lnB>
                    <a:solidFill>
                      <a:srgbClr val="F4EFE6"/>
                    </a:solidFill>
                  </a:tcPr>
                </a:tc>
                <a:tc>
                  <a:txBody>
                    <a:bodyPr/>
                    <a:lstStyle/>
                    <a:p>
                      <a:r>
                        <a:rPr sz="1875" b="0">
                          <a:solidFill>
                            <a:srgbClr val="080808"/>
                          </a:solidFill>
                          <a:latin typeface="Arial"/>
                          <a:ea typeface="Arial"/>
                          <a:cs typeface="Arial"/>
                        </a:rPr>
                        <a:t>Reviews forecasts and</a:t>
                      </a:r>
                    </a:p>
                    <a:p>
                      <a:r>
                        <a:rPr sz="1875" b="0">
                          <a:solidFill>
                            <a:srgbClr val="080808"/>
                          </a:solidFill>
                          <a:latin typeface="Arial"/>
                          <a:ea typeface="Arial"/>
                          <a:cs typeface="Arial"/>
                        </a:rPr>
                        <a:t>reserve advice</a:t>
                      </a:r>
                    </a:p>
                  </a:txBody>
                  <a:tcPr marL="114300" marR="114300" marT="19050" marB="19050" anchor="ctr">
                    <a:lnL w="5715">
                      <a:noFill/>
                    </a:lnL>
                    <a:lnR w="5715">
                      <a:noFill/>
                    </a:lnR>
                    <a:lnT w="5715">
                      <a:noFill/>
                    </a:lnT>
                    <a:lnB w="5715">
                      <a:solidFill>
                        <a:srgbClr val="D8D2C7"/>
                      </a:solidFill>
                    </a:lnB>
                    <a:solidFill>
                      <a:srgbClr val="F4EFE6"/>
                    </a:solidFill>
                  </a:tcPr>
                </a:tc>
              </a:tr>
              <a:tr h="514350">
                <a:tc>
                  <a:txBody>
                    <a:bodyPr/>
                    <a:lstStyle/>
                    <a:p>
                      <a:r>
                        <a:rPr sz="1875" b="0">
                          <a:solidFill>
                            <a:srgbClr val="080808"/>
                          </a:solidFill>
                          <a:latin typeface="Arial"/>
                          <a:ea typeface="Arial"/>
                          <a:cs typeface="Arial"/>
                        </a:rPr>
                        <a:t>Technician</a:t>
                      </a:r>
                    </a:p>
                  </a:txBody>
                  <a:tcPr marL="114300" marR="114300" marT="19050" marB="19050" anchor="ctr">
                    <a:lnL w="5715">
                      <a:noFill/>
                    </a:lnL>
                    <a:lnR w="5715">
                      <a:noFill/>
                    </a:lnR>
                    <a:lnT w="5715">
                      <a:noFill/>
                    </a:lnT>
                    <a:lnB w="5715">
                      <a:solidFill>
                        <a:srgbClr val="D8D2C7"/>
                      </a:solidFill>
                    </a:lnB>
                    <a:solidFill>
                      <a:srgbClr val="F4EFE6"/>
                    </a:solidFill>
                  </a:tcPr>
                </a:tc>
                <a:tc>
                  <a:txBody>
                    <a:bodyPr/>
                    <a:lstStyle/>
                    <a:p>
                      <a:r>
                        <a:rPr sz="1875" b="0">
                          <a:solidFill>
                            <a:srgbClr val="080808"/>
                          </a:solidFill>
                          <a:latin typeface="Arial"/>
                          <a:ea typeface="Arial"/>
                          <a:cs typeface="Arial"/>
                        </a:rPr>
                        <a:t>Maintains sensors</a:t>
                      </a:r>
                    </a:p>
                  </a:txBody>
                  <a:tcPr marL="114300" marR="114300" marT="19050" marB="19050" anchor="ctr">
                    <a:lnL w="5715">
                      <a:noFill/>
                    </a:lnL>
                    <a:lnR w="5715">
                      <a:noFill/>
                    </a:lnR>
                    <a:lnT w="5715">
                      <a:noFill/>
                    </a:lnT>
                    <a:lnB w="5715">
                      <a:solidFill>
                        <a:srgbClr val="D8D2C7"/>
                      </a:solidFill>
                    </a:lnB>
                    <a:solidFill>
                      <a:srgbClr val="F4EFE6"/>
                    </a:solidFill>
                  </a:tcPr>
                </a:tc>
              </a:tr>
              <a:tr h="571500">
                <a:tc>
                  <a:txBody>
                    <a:bodyPr/>
                    <a:lstStyle/>
                    <a:p>
                      <a:r>
                        <a:rPr sz="1875" b="0">
                          <a:solidFill>
                            <a:srgbClr val="080808"/>
                          </a:solidFill>
                          <a:latin typeface="Arial"/>
                          <a:ea typeface="Arial"/>
                          <a:cs typeface="Arial"/>
                        </a:rPr>
                        <a:t>Software partner</a:t>
                      </a:r>
                    </a:p>
                  </a:txBody>
                  <a:tcPr marL="114300" marR="114300" marT="19050" marB="19050" anchor="ctr">
                    <a:lnL w="5715">
                      <a:noFill/>
                    </a:lnL>
                    <a:lnR w="5715">
                      <a:noFill/>
                    </a:lnR>
                    <a:lnT w="5715">
                      <a:noFill/>
                    </a:lnT>
                    <a:lnB w="5715">
                      <a:solidFill>
                        <a:srgbClr val="D8D2C7"/>
                      </a:solidFill>
                    </a:lnB>
                    <a:solidFill>
                      <a:srgbClr val="F4EFE6"/>
                    </a:solidFill>
                  </a:tcPr>
                </a:tc>
                <a:tc>
                  <a:txBody>
                    <a:bodyPr/>
                    <a:lstStyle/>
                    <a:p>
                      <a:r>
                        <a:rPr sz="1875" b="0">
                          <a:solidFill>
                            <a:srgbClr val="080808"/>
                          </a:solidFill>
                          <a:latin typeface="Arial"/>
                          <a:ea typeface="Arial"/>
                          <a:cs typeface="Arial"/>
                        </a:rPr>
                        <a:t>Models, software,</a:t>
                      </a:r>
                    </a:p>
                    <a:p>
                      <a:r>
                        <a:rPr sz="1875" b="0">
                          <a:solidFill>
                            <a:srgbClr val="080808"/>
                          </a:solidFill>
                          <a:latin typeface="Arial"/>
                          <a:ea typeface="Arial"/>
                          <a:cs typeface="Arial"/>
                        </a:rPr>
                        <a:t>security</a:t>
                      </a:r>
                    </a:p>
                  </a:txBody>
                  <a:tcPr marL="114300" marR="114300" marT="19050" marB="19050" anchor="ctr">
                    <a:lnL w="5715">
                      <a:noFill/>
                    </a:lnL>
                    <a:lnR w="5715">
                      <a:noFill/>
                    </a:lnR>
                    <a:lnT w="5715">
                      <a:noFill/>
                    </a:lnT>
                    <a:lnB w="5715">
                      <a:solidFill>
                        <a:srgbClr val="D8D2C7"/>
                      </a:solidFill>
                    </a:lnB>
                    <a:solidFill>
                      <a:srgbClr val="F4EFE6"/>
                    </a:solidFill>
                  </a:tcPr>
                </a:tc>
              </a:tr>
              <a:tr h="571500">
                <a:tc>
                  <a:txBody>
                    <a:bodyPr/>
                    <a:lstStyle/>
                    <a:p>
                      <a:r>
                        <a:rPr sz="1875" b="0">
                          <a:solidFill>
                            <a:srgbClr val="080808"/>
                          </a:solidFill>
                          <a:latin typeface="Arial"/>
                          <a:ea typeface="Arial"/>
                          <a:cs typeface="Arial"/>
                        </a:rPr>
                        <a:t>DISCOM</a:t>
                      </a:r>
                    </a:p>
                  </a:txBody>
                  <a:tcPr marL="114300" marR="114300" marT="19050" marB="19050" anchor="ctr">
                    <a:lnL w="5715">
                      <a:noFill/>
                    </a:lnL>
                    <a:lnR w="5715">
                      <a:noFill/>
                    </a:lnR>
                    <a:lnT w="5715">
                      <a:noFill/>
                    </a:lnT>
                    <a:lnB w="5715">
                      <a:solidFill>
                        <a:srgbClr val="D8D2C7"/>
                      </a:solidFill>
                    </a:lnB>
                    <a:solidFill>
                      <a:srgbClr val="F4EFE6"/>
                    </a:solidFill>
                  </a:tcPr>
                </a:tc>
                <a:tc>
                  <a:txBody>
                    <a:bodyPr/>
                    <a:lstStyle/>
                    <a:p>
                      <a:r>
                        <a:rPr sz="1875" b="0">
                          <a:solidFill>
                            <a:srgbClr val="080808"/>
                          </a:solidFill>
                          <a:latin typeface="Arial"/>
                          <a:ea typeface="Arial"/>
                          <a:cs typeface="Arial"/>
                        </a:rPr>
                        <a:t>Approves grid</a:t>
                      </a:r>
                    </a:p>
                    <a:p>
                      <a:r>
                        <a:rPr sz="1875" b="0">
                          <a:solidFill>
                            <a:srgbClr val="080808"/>
                          </a:solidFill>
                          <a:latin typeface="Arial"/>
                          <a:ea typeface="Arial"/>
                          <a:cs typeface="Arial"/>
                        </a:rPr>
                        <a:t>coordination</a:t>
                      </a:r>
                    </a:p>
                  </a:txBody>
                  <a:tcPr marL="114300" marR="114300" marT="19050" marB="19050" anchor="ctr">
                    <a:lnL w="5715">
                      <a:noFill/>
                    </a:lnL>
                    <a:lnR w="5715">
                      <a:noFill/>
                    </a:lnR>
                    <a:lnT w="5715">
                      <a:noFill/>
                    </a:lnT>
                    <a:lnB w="5715">
                      <a:solidFill>
                        <a:srgbClr val="D8D2C7"/>
                      </a:solidFill>
                    </a:lnB>
                    <a:solidFill>
                      <a:srgbClr val="F4EFE6"/>
                    </a:solidFill>
                  </a:tcPr>
                </a:tc>
              </a:tr>
            </a:tbl>
          </a:graphicData>
        </a:graphic>
      </p:graphicFrame>
      <p:sp>
        <p:nvSpPr>
          <p:cNvPr id="37" name="Submission Ready ILLUSTRATIVE SERVICE BUDGET">
            <a:extLst>
              <a:ext uri="{FF2B5EF4-FFF2-40B4-BE49-F238E27FC236}">
                <ns2:creationId id="{E4E1CE5A-AF24-40CA-AC86-F08D5B52E545}"/>
              </a:ext>
            </a:extLst>
          </p:cNvPr>
          <p:cNvSpPr>
            <a:spLocks noGrp="1"/>
          </p:cNvSpPr>
          <p:nvPr/>
        </p:nvSpPr>
        <p:spPr>
          <a:xfrm>
            <a:off x="609600" y="1457325"/>
            <a:ext cx="5334000" cy="314325"/>
          </a:xfrm>
          <a:prstGeom prst="rect">
            <a:avLst/>
          </a:prstGeom>
          <a:noFill/>
          <a:ln w="0">
            <a:noFill/>
          </a:ln>
        </p:spPr>
        <p:txBody>
          <a:bodyPr lIns="0" tIns="0" rIns="0" bIns="0">
            <a:noAutofit/>
          </a:bodyPr>
          <a:lstStyle/>
          <a:p>
            <a:pPr>
              <a:defRPr sz="1950" b="1">
                <a:solidFill>
                  <a:srgbClr val="174A72"/>
                </a:solidFill>
                <a:latin typeface="Arial"/>
                <a:ea typeface="Arial"/>
                <a:cs typeface="Arial"/>
              </a:defRPr>
            </a:pPr>
            <a:r>
              <a:rPr sz="1950" b="1">
                <a:solidFill>
                  <a:srgbClr val="174A72"/>
                </a:solidFill>
                <a:latin typeface="Arial"/>
                <a:ea typeface="Arial"/>
                <a:cs typeface="Arial"/>
              </a:rPr>
              <a:t>ILLUSTRATIVE SERVICE BUDGET</a:t>
            </a:r>
          </a:p>
        </p:txBody>
      </p:sp>
      <p:sp>
        <p:nvSpPr>
          <p:cNvPr id="38" name="Submission Ready ₹15,268 / month">
            <a:extLst>
              <a:ext uri="{FF2B5EF4-FFF2-40B4-BE49-F238E27FC236}">
                <ns2:creationId id="{0B167B45-4C75-4362-9536-6F6958677D1B}"/>
              </a:ext>
            </a:extLst>
          </p:cNvPr>
          <p:cNvSpPr>
            <a:spLocks noGrp="1"/>
          </p:cNvSpPr>
          <p:nvPr/>
        </p:nvSpPr>
        <p:spPr>
          <a:xfrm>
            <a:off x="609600" y="1933575"/>
            <a:ext cx="5381625" cy="723900"/>
          </a:xfrm>
          <a:prstGeom prst="rect">
            <a:avLst/>
          </a:prstGeom>
          <a:noFill/>
          <a:ln w="0">
            <a:noFill/>
          </a:ln>
        </p:spPr>
        <p:txBody>
          <a:bodyPr lIns="0" tIns="0" rIns="0" bIns="0">
            <a:noAutofit/>
          </a:bodyPr>
          <a:lstStyle/>
          <a:p>
            <a:pPr>
              <a:defRPr sz="4500" b="1">
                <a:solidFill>
                  <a:srgbClr val="080808"/>
                </a:solidFill>
                <a:latin typeface="Arial"/>
                <a:ea typeface="Arial"/>
                <a:cs typeface="Arial"/>
              </a:defRPr>
            </a:pPr>
            <a:r>
              <a:rPr sz="4500" b="1">
                <a:solidFill>
                  <a:srgbClr val="080808"/>
                </a:solidFill>
                <a:latin typeface="Arial"/>
                <a:ea typeface="Arial"/>
                <a:cs typeface="Arial"/>
              </a:rPr>
              <a:t>₹15,268 / month</a:t>
            </a:r>
          </a:p>
        </p:txBody>
      </p:sp>
      <p:sp>
        <p:nvSpPr>
          <p:cNvPr id="39" name="Submission Ready Cloud + connectivity">
            <a:extLst>
              <a:ext uri="{FF2B5EF4-FFF2-40B4-BE49-F238E27FC236}">
                <ns2:creationId id="{E1894891-2E80-4A67-98B1-CE0EC39413C0}"/>
              </a:ext>
            </a:extLst>
          </p:cNvPr>
          <p:cNvSpPr>
            <a:spLocks noGrp="1"/>
          </p:cNvSpPr>
          <p:nvPr/>
        </p:nvSpPr>
        <p:spPr>
          <a:xfrm>
            <a:off x="609600" y="2857500"/>
            <a:ext cx="3733800" cy="323850"/>
          </a:xfrm>
          <a:prstGeom prst="rect">
            <a:avLst/>
          </a:prstGeom>
          <a:noFill/>
          <a:ln w="0">
            <a:noFill/>
          </a:ln>
        </p:spPr>
        <p:txBody>
          <a:bodyPr lIns="0" tIns="0" rIns="0" bIns="0">
            <a:noAutofit/>
          </a:bodyPr>
          <a:lstStyle/>
          <a:p>
            <a:pPr>
              <a:defRPr sz="1875" b="0">
                <a:solidFill>
                  <a:srgbClr val="080808"/>
                </a:solidFill>
                <a:latin typeface="Arial"/>
                <a:ea typeface="Arial"/>
                <a:cs typeface="Arial"/>
              </a:defRPr>
            </a:pPr>
            <a:r>
              <a:rPr sz="1875" b="0">
                <a:solidFill>
                  <a:srgbClr val="080808"/>
                </a:solidFill>
                <a:latin typeface="Arial"/>
                <a:ea typeface="Arial"/>
                <a:cs typeface="Arial"/>
              </a:rPr>
              <a:t>Cloud + connectivity</a:t>
            </a:r>
          </a:p>
        </p:txBody>
      </p:sp>
      <p:sp>
        <p:nvSpPr>
          <p:cNvPr id="40" name="Submission Ready ₹3,615.52">
            <a:extLst>
              <a:ext uri="{FF2B5EF4-FFF2-40B4-BE49-F238E27FC236}">
                <ns2:creationId id="{BAE5BCB3-39BA-4C6D-BD93-1FDDA9B97D8F}"/>
              </a:ext>
            </a:extLst>
          </p:cNvPr>
          <p:cNvSpPr>
            <a:spLocks noGrp="1"/>
          </p:cNvSpPr>
          <p:nvPr/>
        </p:nvSpPr>
        <p:spPr>
          <a:xfrm>
            <a:off x="4476750" y="2857500"/>
            <a:ext cx="1428750" cy="323850"/>
          </a:xfrm>
          <a:prstGeom prst="rect">
            <a:avLst/>
          </a:prstGeom>
          <a:noFill/>
          <a:ln w="0">
            <a:noFill/>
          </a:ln>
        </p:spPr>
        <p:txBody>
          <a:bodyPr lIns="0" tIns="0" rIns="0" bIns="0">
            <a:noAutofit/>
          </a:bodyPr>
          <a:lstStyle/>
          <a:p>
            <a:pPr>
              <a:defRPr sz="1875" b="1">
                <a:solidFill>
                  <a:srgbClr val="080808"/>
                </a:solidFill>
                <a:latin typeface="Arial"/>
                <a:ea typeface="Arial"/>
                <a:cs typeface="Arial"/>
              </a:defRPr>
            </a:pPr>
            <a:r>
              <a:rPr sz="1875" b="1">
                <a:solidFill>
                  <a:srgbClr val="080808"/>
                </a:solidFill>
                <a:latin typeface="Arial"/>
                <a:ea typeface="Arial"/>
                <a:cs typeface="Arial"/>
              </a:rPr>
              <a:t>₹3,615.52</a:t>
            </a:r>
          </a:p>
        </p:txBody>
      </p:sp>
      <p:sp>
        <p:nvSpPr>
          <p:cNvPr id="41" name="Submission Ready Paid operation + support">
            <a:extLst>
              <a:ext uri="{FF2B5EF4-FFF2-40B4-BE49-F238E27FC236}">
                <ns2:creationId id="{DF01A8F8-8FEF-496C-9090-9D37250B0B8E}"/>
              </a:ext>
            </a:extLst>
          </p:cNvPr>
          <p:cNvSpPr>
            <a:spLocks noGrp="1"/>
          </p:cNvSpPr>
          <p:nvPr/>
        </p:nvSpPr>
        <p:spPr>
          <a:xfrm>
            <a:off x="609600" y="3257550"/>
            <a:ext cx="3733800" cy="323850"/>
          </a:xfrm>
          <a:prstGeom prst="rect">
            <a:avLst/>
          </a:prstGeom>
          <a:noFill/>
          <a:ln w="0">
            <a:noFill/>
          </a:ln>
        </p:spPr>
        <p:txBody>
          <a:bodyPr lIns="0" tIns="0" rIns="0" bIns="0">
            <a:noAutofit/>
          </a:bodyPr>
          <a:lstStyle/>
          <a:p>
            <a:pPr>
              <a:defRPr sz="1875" b="0">
                <a:solidFill>
                  <a:srgbClr val="080808"/>
                </a:solidFill>
                <a:latin typeface="Arial"/>
                <a:ea typeface="Arial"/>
                <a:cs typeface="Arial"/>
              </a:defRPr>
            </a:pPr>
            <a:r>
              <a:rPr sz="1875" b="0">
                <a:solidFill>
                  <a:srgbClr val="080808"/>
                </a:solidFill>
                <a:latin typeface="Arial"/>
                <a:ea typeface="Arial"/>
                <a:cs typeface="Arial"/>
              </a:rPr>
              <a:t>Paid operation + support</a:t>
            </a:r>
          </a:p>
        </p:txBody>
      </p:sp>
      <p:sp>
        <p:nvSpPr>
          <p:cNvPr id="42" name="Submission Ready ₹9,060.00">
            <a:extLst>
              <a:ext uri="{FF2B5EF4-FFF2-40B4-BE49-F238E27FC236}">
                <ns2:creationId id="{02318369-D44F-4058-AFD5-4C436B8EEBCE}"/>
              </a:ext>
            </a:extLst>
          </p:cNvPr>
          <p:cNvSpPr>
            <a:spLocks noGrp="1"/>
          </p:cNvSpPr>
          <p:nvPr/>
        </p:nvSpPr>
        <p:spPr>
          <a:xfrm>
            <a:off x="4476750" y="3257550"/>
            <a:ext cx="1428750" cy="323850"/>
          </a:xfrm>
          <a:prstGeom prst="rect">
            <a:avLst/>
          </a:prstGeom>
          <a:noFill/>
          <a:ln w="0">
            <a:noFill/>
          </a:ln>
        </p:spPr>
        <p:txBody>
          <a:bodyPr lIns="0" tIns="0" rIns="0" bIns="0">
            <a:noAutofit/>
          </a:bodyPr>
          <a:lstStyle/>
          <a:p>
            <a:pPr>
              <a:defRPr sz="1875" b="1">
                <a:solidFill>
                  <a:srgbClr val="080808"/>
                </a:solidFill>
                <a:latin typeface="Arial"/>
                <a:ea typeface="Arial"/>
                <a:cs typeface="Arial"/>
              </a:defRPr>
            </a:pPr>
            <a:r>
              <a:rPr sz="1875" b="1">
                <a:solidFill>
                  <a:srgbClr val="080808"/>
                </a:solidFill>
                <a:latin typeface="Arial"/>
                <a:ea typeface="Arial"/>
                <a:cs typeface="Arial"/>
              </a:rPr>
              <a:t>₹9,060.00</a:t>
            </a:r>
          </a:p>
        </p:txBody>
      </p:sp>
      <p:sp>
        <p:nvSpPr>
          <p:cNvPr id="43" name="Submission Ready Setup recovery (36 months)">
            <a:extLst>
              <a:ext uri="{FF2B5EF4-FFF2-40B4-BE49-F238E27FC236}">
                <ns2:creationId id="{35228DAB-A8C7-4103-AC76-BA894E432507}"/>
              </a:ext>
            </a:extLst>
          </p:cNvPr>
          <p:cNvSpPr>
            <a:spLocks noGrp="1"/>
          </p:cNvSpPr>
          <p:nvPr/>
        </p:nvSpPr>
        <p:spPr>
          <a:xfrm>
            <a:off x="609600" y="3657600"/>
            <a:ext cx="3733800" cy="323850"/>
          </a:xfrm>
          <a:prstGeom prst="rect">
            <a:avLst/>
          </a:prstGeom>
          <a:noFill/>
          <a:ln w="0">
            <a:noFill/>
          </a:ln>
        </p:spPr>
        <p:txBody>
          <a:bodyPr lIns="0" tIns="0" rIns="0" bIns="0">
            <a:noAutofit/>
          </a:bodyPr>
          <a:lstStyle/>
          <a:p>
            <a:pPr>
              <a:defRPr sz="1875" b="0">
                <a:solidFill>
                  <a:srgbClr val="080808"/>
                </a:solidFill>
                <a:latin typeface="Arial"/>
                <a:ea typeface="Arial"/>
                <a:cs typeface="Arial"/>
              </a:defRPr>
            </a:pPr>
            <a:r>
              <a:rPr sz="1875" b="0">
                <a:solidFill>
                  <a:srgbClr val="080808"/>
                </a:solidFill>
                <a:latin typeface="Arial"/>
                <a:ea typeface="Arial"/>
                <a:cs typeface="Arial"/>
              </a:rPr>
              <a:t>Setup recovery (36 months)</a:t>
            </a:r>
          </a:p>
        </p:txBody>
      </p:sp>
      <p:sp>
        <p:nvSpPr>
          <p:cNvPr id="44" name="Submission Ready ₹601.39">
            <a:extLst>
              <a:ext uri="{FF2B5EF4-FFF2-40B4-BE49-F238E27FC236}">
                <ns2:creationId id="{2AC92E50-4F6B-42AE-AA95-A15DFF44C5CC}"/>
              </a:ext>
            </a:extLst>
          </p:cNvPr>
          <p:cNvSpPr>
            <a:spLocks noGrp="1"/>
          </p:cNvSpPr>
          <p:nvPr/>
        </p:nvSpPr>
        <p:spPr>
          <a:xfrm>
            <a:off x="4476750" y="3657600"/>
            <a:ext cx="1428750" cy="323850"/>
          </a:xfrm>
          <a:prstGeom prst="rect">
            <a:avLst/>
          </a:prstGeom>
          <a:noFill/>
          <a:ln w="0">
            <a:noFill/>
          </a:ln>
        </p:spPr>
        <p:txBody>
          <a:bodyPr lIns="0" tIns="0" rIns="0" bIns="0">
            <a:noAutofit/>
          </a:bodyPr>
          <a:lstStyle/>
          <a:p>
            <a:pPr>
              <a:defRPr sz="1875" b="1">
                <a:solidFill>
                  <a:srgbClr val="080808"/>
                </a:solidFill>
                <a:latin typeface="Arial"/>
                <a:ea typeface="Arial"/>
                <a:cs typeface="Arial"/>
              </a:defRPr>
            </a:pPr>
            <a:r>
              <a:rPr sz="1875" b="1">
                <a:solidFill>
                  <a:srgbClr val="080808"/>
                </a:solidFill>
                <a:latin typeface="Arial"/>
                <a:ea typeface="Arial"/>
                <a:cs typeface="Arial"/>
              </a:rPr>
              <a:t>₹601.39</a:t>
            </a:r>
          </a:p>
        </p:txBody>
      </p:sp>
      <p:sp>
        <p:nvSpPr>
          <p:cNvPr id="45" name="Submission Ready 15% contingency">
            <a:extLst>
              <a:ext uri="{FF2B5EF4-FFF2-40B4-BE49-F238E27FC236}">
                <ns2:creationId id="{D0D863ED-4854-4D7D-97F7-57B4E5D3F011}"/>
              </a:ext>
            </a:extLst>
          </p:cNvPr>
          <p:cNvSpPr>
            <a:spLocks noGrp="1"/>
          </p:cNvSpPr>
          <p:nvPr/>
        </p:nvSpPr>
        <p:spPr>
          <a:xfrm>
            <a:off x="609600" y="4057650"/>
            <a:ext cx="3733800" cy="323850"/>
          </a:xfrm>
          <a:prstGeom prst="rect">
            <a:avLst/>
          </a:prstGeom>
          <a:noFill/>
          <a:ln w="0">
            <a:noFill/>
          </a:ln>
        </p:spPr>
        <p:txBody>
          <a:bodyPr lIns="0" tIns="0" rIns="0" bIns="0">
            <a:noAutofit/>
          </a:bodyPr>
          <a:lstStyle/>
          <a:p>
            <a:pPr>
              <a:defRPr sz="1875" b="0">
                <a:solidFill>
                  <a:srgbClr val="080808"/>
                </a:solidFill>
                <a:latin typeface="Arial"/>
                <a:ea typeface="Arial"/>
                <a:cs typeface="Arial"/>
              </a:defRPr>
            </a:pPr>
            <a:r>
              <a:rPr sz="1875" b="0">
                <a:solidFill>
                  <a:srgbClr val="080808"/>
                </a:solidFill>
                <a:latin typeface="Arial"/>
                <a:ea typeface="Arial"/>
                <a:cs typeface="Arial"/>
              </a:rPr>
              <a:t>15% contingency</a:t>
            </a:r>
          </a:p>
        </p:txBody>
      </p:sp>
      <p:sp>
        <p:nvSpPr>
          <p:cNvPr id="46" name="Submission Ready ₹1,991.54">
            <a:extLst>
              <a:ext uri="{FF2B5EF4-FFF2-40B4-BE49-F238E27FC236}">
                <ns2:creationId id="{CA51CF1A-0FF9-40FC-AF3F-A992894CA605}"/>
              </a:ext>
            </a:extLst>
          </p:cNvPr>
          <p:cNvSpPr>
            <a:spLocks noGrp="1"/>
          </p:cNvSpPr>
          <p:nvPr/>
        </p:nvSpPr>
        <p:spPr>
          <a:xfrm>
            <a:off x="4476750" y="4057650"/>
            <a:ext cx="1428750" cy="323850"/>
          </a:xfrm>
          <a:prstGeom prst="rect">
            <a:avLst/>
          </a:prstGeom>
          <a:noFill/>
          <a:ln w="0">
            <a:noFill/>
          </a:ln>
        </p:spPr>
        <p:txBody>
          <a:bodyPr lIns="0" tIns="0" rIns="0" bIns="0">
            <a:noAutofit/>
          </a:bodyPr>
          <a:lstStyle/>
          <a:p>
            <a:pPr>
              <a:defRPr sz="1875" b="1">
                <a:solidFill>
                  <a:srgbClr val="080808"/>
                </a:solidFill>
                <a:latin typeface="Arial"/>
                <a:ea typeface="Arial"/>
                <a:cs typeface="Arial"/>
              </a:defRPr>
            </a:pPr>
            <a:r>
              <a:rPr sz="1875" b="1">
                <a:solidFill>
                  <a:srgbClr val="080808"/>
                </a:solidFill>
                <a:latin typeface="Arial"/>
                <a:ea typeface="Arial"/>
                <a:cs typeface="Arial"/>
              </a:rPr>
              <a:t>₹1,991.54</a:t>
            </a:r>
          </a:p>
        </p:txBody>
      </p:sp>
      <p:sp>
        <p:nvSpPr>
          <p:cNvPr id="47" name="Submission Ready ≈₹153 / paying home / month">
            <a:extLst>
              <a:ext uri="{FF2B5EF4-FFF2-40B4-BE49-F238E27FC236}">
                <ns2:creationId id="{9D8A3375-A64E-4488-9EE7-6752C609E6D9}"/>
              </a:ext>
            </a:extLst>
          </p:cNvPr>
          <p:cNvSpPr>
            <a:spLocks noGrp="1"/>
          </p:cNvSpPr>
          <p:nvPr/>
        </p:nvSpPr>
        <p:spPr>
          <a:xfrm>
            <a:off x="609600" y="4657725"/>
            <a:ext cx="5334000" cy="323850"/>
          </a:xfrm>
          <a:prstGeom prst="rect">
            <a:avLst/>
          </a:prstGeom>
          <a:noFill/>
          <a:ln w="0">
            <a:noFill/>
          </a:ln>
        </p:spPr>
        <p:txBody>
          <a:bodyPr lIns="0" tIns="0" rIns="0" bIns="0">
            <a:noAutofit/>
          </a:bodyPr>
          <a:lstStyle/>
          <a:p>
            <a:pPr>
              <a:defRPr sz="2100" b="1">
                <a:solidFill>
                  <a:srgbClr val="174A72"/>
                </a:solidFill>
                <a:latin typeface="Arial"/>
                <a:ea typeface="Arial"/>
                <a:cs typeface="Arial"/>
              </a:defRPr>
            </a:pPr>
            <a:r>
              <a:rPr sz="2100" b="1">
                <a:solidFill>
                  <a:srgbClr val="174A72"/>
                </a:solidFill>
                <a:latin typeface="Arial"/>
                <a:ea typeface="Arial"/>
                <a:cs typeface="Arial"/>
              </a:rPr>
              <a:t>≈₹153 / paying home / month</a:t>
            </a:r>
          </a:p>
        </p:txBody>
      </p:sp>
      <p:sp>
        <p:nvSpPr>
          <p:cNvPr id="48" name="Submission Ready 100 payers · before any funding">
            <a:extLst>
              <a:ext uri="{FF2B5EF4-FFF2-40B4-BE49-F238E27FC236}">
                <ns2:creationId id="{05407C8C-0241-4B85-B239-49D898E4A394}"/>
              </a:ext>
            </a:extLst>
          </p:cNvPr>
          <p:cNvSpPr>
            <a:spLocks noGrp="1"/>
          </p:cNvSpPr>
          <p:nvPr/>
        </p:nvSpPr>
        <p:spPr>
          <a:xfrm>
            <a:off x="609600" y="5048250"/>
            <a:ext cx="5334000" cy="285750"/>
          </a:xfrm>
          <a:prstGeom prst="rect">
            <a:avLst/>
          </a:prstGeom>
          <a:noFill/>
          <a:ln w="0">
            <a:noFill/>
          </a:ln>
        </p:spPr>
        <p:txBody>
          <a:bodyPr lIns="0" tIns="0" rIns="0" bIns="0">
            <a:noAutofit/>
          </a:bodyPr>
          <a:lstStyle/>
          <a:p>
            <a:pPr>
              <a:defRPr sz="1725" b="0">
                <a:solidFill>
                  <a:srgbClr val="68645E"/>
                </a:solidFill>
                <a:latin typeface="Arial"/>
                <a:ea typeface="Arial"/>
                <a:cs typeface="Arial"/>
              </a:defRPr>
            </a:pPr>
            <a:r>
              <a:rPr sz="1725" b="0">
                <a:solidFill>
                  <a:srgbClr val="68645E"/>
                </a:solidFill>
                <a:latin typeface="Arial"/>
                <a:ea typeface="Arial"/>
                <a:cs typeface="Arial"/>
              </a:rPr>
              <a:t>100 payers · before any funding</a:t>
            </a:r>
          </a:p>
        </p:txBody>
      </p:sp>
      <p:sp>
        <p:nvSpPr>
          <p:cNvPr id="49" name="Submission Ready ≈₹76 with 50% co-funding, if secured.">
            <a:extLst>
              <a:ext uri="{FF2B5EF4-FFF2-40B4-BE49-F238E27FC236}">
                <ns2:creationId id="{71F7B793-D87F-4F02-AC98-E382A73585AA}"/>
              </a:ext>
            </a:extLst>
          </p:cNvPr>
          <p:cNvSpPr>
            <a:spLocks noGrp="1"/>
          </p:cNvSpPr>
          <p:nvPr/>
        </p:nvSpPr>
        <p:spPr>
          <a:xfrm>
            <a:off x="609600" y="5400675"/>
            <a:ext cx="5381625" cy="323850"/>
          </a:xfrm>
          <a:prstGeom prst="rect">
            <a:avLst/>
          </a:prstGeom>
          <a:noFill/>
          <a:ln w="0">
            <a:noFill/>
          </a:ln>
        </p:spPr>
        <p:txBody>
          <a:bodyPr lIns="0" tIns="0" rIns="0" bIns="0">
            <a:noAutofit/>
          </a:bodyPr>
          <a:lstStyle/>
          <a:p>
            <a:pPr>
              <a:defRPr sz="1800" b="0">
                <a:solidFill>
                  <a:srgbClr val="174A72"/>
                </a:solidFill>
                <a:latin typeface="Arial"/>
                <a:ea typeface="Arial"/>
                <a:cs typeface="Arial"/>
              </a:defRPr>
            </a:pPr>
            <a:r>
              <a:rPr sz="1800" b="0">
                <a:solidFill>
                  <a:srgbClr val="174A72"/>
                </a:solidFill>
                <a:latin typeface="Arial"/>
                <a:ea typeface="Arial"/>
                <a:cs typeface="Arial"/>
              </a:rPr>
              <a:t>≈₹76 with 50% co-funding, if secured.</a:t>
            </a:r>
          </a:p>
        </p:txBody>
      </p:sp>
      <p:sp>
        <p:nvSpPr>
          <p:cNvPr id="50" name="Submission Ready Planning estimate, not a quote. Funding ">
            <a:extLst>
              <a:ext uri="{FF2B5EF4-FFF2-40B4-BE49-F238E27FC236}">
                <ns2:creationId id="{5A14638F-423E-4D0C-88BF-915A479B6A2B}"/>
              </a:ext>
            </a:extLst>
          </p:cNvPr>
          <p:cNvSpPr>
            <a:spLocks noGrp="1"/>
          </p:cNvSpPr>
          <p:nvPr/>
        </p:nvSpPr>
        <p:spPr>
          <a:xfrm>
            <a:off x="609600" y="5924550"/>
            <a:ext cx="10991850" cy="285750"/>
          </a:xfrm>
          <a:prstGeom prst="rect">
            <a:avLst/>
          </a:prstGeom>
          <a:noFill/>
          <a:ln w="0">
            <a:noFill/>
          </a:ln>
        </p:spPr>
        <p:txBody>
          <a:bodyPr lIns="0" tIns="0" rIns="0" bIns="0">
            <a:noAutofit/>
          </a:bodyPr>
          <a:lstStyle/>
          <a:p>
            <a:pPr>
              <a:defRPr sz="1725" b="0">
                <a:solidFill>
                  <a:srgbClr val="68645E"/>
                </a:solidFill>
                <a:latin typeface="Arial"/>
                <a:ea typeface="Arial"/>
                <a:cs typeface="Arial"/>
              </a:defRPr>
            </a:pPr>
            <a:r>
              <a:rPr sz="1725" b="0">
                <a:solidFill>
                  <a:srgbClr val="68645E"/>
                </a:solidFill>
                <a:latin typeface="Arial"/>
                <a:ea typeface="Arial"/>
                <a:cs typeface="Arial"/>
              </a:rPr>
              <a:t>Planning estimate, not a quote. Funding and willingness to pay remain unconfirmed.</a:t>
            </a:r>
          </a:p>
        </p:txBody>
      </p:sp>
      <p:sp>
        <p:nvSpPr>
          <p:cNvPr id="51" name="Submission Ready Existing assets assumed. Hardware, retro">
            <a:extLst>
              <a:ext uri="{FF2B5EF4-FFF2-40B4-BE49-F238E27FC236}">
                <ns2:creationId id="{79FC0D66-3B31-468F-848C-92C8EBF7AFCE}"/>
              </a:ext>
            </a:extLst>
          </p:cNvPr>
          <p:cNvSpPr>
            <a:spLocks noGrp="1"/>
          </p:cNvSpPr>
          <p:nvPr/>
        </p:nvSpPr>
        <p:spPr>
          <a:xfrm>
            <a:off x="609600" y="6276975"/>
            <a:ext cx="10991850" cy="285750"/>
          </a:xfrm>
          <a:prstGeom prst="rect">
            <a:avLst/>
          </a:prstGeom>
          <a:noFill/>
          <a:ln w="0">
            <a:noFill/>
          </a:ln>
        </p:spPr>
        <p:txBody>
          <a:bodyPr lIns="0" tIns="0" rIns="0" bIns="0">
            <a:noAutofit/>
          </a:bodyPr>
          <a:lstStyle/>
          <a:p>
            <a:pPr>
              <a:defRPr sz="1650" b="0">
                <a:solidFill>
                  <a:srgbClr val="68645E"/>
                </a:solidFill>
                <a:latin typeface="Arial"/>
                <a:ea typeface="Arial"/>
                <a:cs typeface="Arial"/>
              </a:defRPr>
            </a:pPr>
            <a:r>
              <a:rPr sz="1650" b="0">
                <a:solidFill>
                  <a:srgbClr val="68645E"/>
                </a:solidFill>
                <a:latin typeface="Arial"/>
                <a:ea typeface="Arial"/>
                <a:cs typeface="Arial"/>
              </a:rPr>
              <a:t>Existing assets assumed. Hardware, retrofit, backup energy and asset-access costs excluded / TBD.</a:t>
            </a:r>
          </a:p>
        </p:txBody>
      </p:sp>
      <p:sp>
        <p:nvSpPr>
          <p:cNvPr id="52" name="Submission Ready ₹15,268 is the rounded covered service b">
            <a:extLst>
              <a:ext uri="{FF2B5EF4-FFF2-40B4-BE49-F238E27FC236}">
                <ns2:creationId id="{17FEB546-35AA-4018-BC02-440DA1DB5556}"/>
              </a:ext>
            </a:extLst>
          </p:cNvPr>
          <p:cNvSpPr>
            <a:spLocks noGrp="1"/>
          </p:cNvSpPr>
          <p:nvPr/>
        </p:nvSpPr>
        <p:spPr>
          <a:xfrm>
            <a:off x="609600" y="6591300"/>
            <a:ext cx="10991850" cy="228600"/>
          </a:xfrm>
          <a:prstGeom prst="rect">
            <a:avLst/>
          </a:prstGeom>
          <a:noFill/>
          <a:ln w="0">
            <a:noFill/>
          </a:ln>
        </p:spPr>
        <p:txBody>
          <a:bodyPr lIns="0" tIns="0" rIns="0" bIns="0">
            <a:noAutofit/>
          </a:bodyPr>
          <a:lstStyle/>
          <a:p>
            <a:pPr>
              <a:defRPr sz="1500" b="0">
                <a:solidFill>
                  <a:srgbClr val="68645E"/>
                </a:solidFill>
                <a:latin typeface="Arial"/>
                <a:ea typeface="Arial"/>
                <a:cs typeface="Arial"/>
              </a:defRPr>
            </a:pPr>
            <a:r>
              <a:rPr sz="1500" b="0">
                <a:solidFill>
                  <a:srgbClr val="68645E"/>
                </a:solidFill>
                <a:latin typeface="Arial"/>
                <a:ea typeface="Arial"/>
                <a:cs typeface="Arial"/>
              </a:rPr>
              <a:t>₹15,268 is the rounded covered service budget, not an all-in price or validated affordability.</a:t>
            </a:r>
          </a:p>
        </p:txBody>
      </p:sp>
    </p:spTree>
    <p:extLst>
      <p:ext uri="{BB962C8B-B14F-4D97-AF65-F5344CB8AC3E}">
        <ns3:creationId val="313758440"/>
      </p:ext>
    </p:extLst>
  </p:cSld>
</p:sld>
</file>

<file path=ppt/slides/slide1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4EFE6"/>
        </a:solidFill>
      </p:bgPr>
    </p:bg>
    <p:spTree>
      <p:nvGrpSpPr>
        <p:cNvPr id="1" name=""/>
        <p:cNvGrpSpPr/>
        <p:nvPr/>
      </p:nvGrpSpPr>
      <p:grpSpPr>
        <a:xfrm/>
      </p:grpSpPr>
      <p:sp>
        <p:nvSpPr>
          <p:cNvPr id="7" name="">
            <a:extLst>
              <a:ext uri="{FF2B5EF4-FFF2-40B4-BE49-F238E27FC236}">
                <ns2:creationId id="{ADDFC862-84F4-4276-B489-DAA17DF4A4A0}"/>
              </a:ext>
            </a:extLst>
          </p:cNvPr>
          <p:cNvSpPr>
            <a:spLocks noGrp="1"/>
          </p:cNvSpPr>
          <p:nvPr/>
        </p:nvSpPr>
        <p:spPr>
          <a:xfrm>
            <a:off x="10953750" y="523875"/>
            <a:ext cx="914400" cy="285750"/>
          </a:xfrm>
          <a:prstGeom prst="rect">
            <a:avLst/>
          </a:prstGeom>
          <a:noFill/>
          <a:ln w="0">
            <a:noFill/>
          </a:ln>
        </p:spPr>
        <p:txBody>
          <a:bodyPr lIns="0" tIns="0" rIns="0" bIns="0">
            <a:noAutofit/>
          </a:bodyPr>
          <a:lstStyle/>
          <a:p>
            <a:pPr>
              <a:buNone/>
              <a:defRPr sz="1575" b="1">
                <a:solidFill>
                  <a:srgbClr val="5F5A52"/>
                </a:solidFill>
                <a:latin typeface="Arial"/>
                <a:ea typeface="Arial"/>
                <a:cs typeface="Arial"/>
              </a:defRPr>
            </a:pPr>
            <a:r>
              <a:rPr sz="1575" b="1">
                <a:solidFill>
                  <a:srgbClr val="5F5A52"/>
                </a:solidFill>
                <a:latin typeface="Arial"/>
                <a:ea typeface="Arial"/>
                <a:cs typeface="Arial"/>
              </a:rPr>
              <a:t>12/12</a:t>
            </a:r>
          </a:p>
        </p:txBody>
      </p:sp>
      <p:sp>
        <p:nvSpPr>
          <p:cNvPr id="8" name="Verified text 12 Reserve optimization: from for">
            <a:extLst>
              <a:ext uri="{FF2B5EF4-FFF2-40B4-BE49-F238E27FC236}">
                <ns2:creationId id="{F87CC7F7-1222-4272-A8B5-32DF22CBB092}"/>
              </a:ext>
            </a:extLst>
          </p:cNvPr>
          <p:cNvSpPr>
            <a:spLocks noGrp="1"/>
          </p:cNvSpPr>
          <p:nvPr/>
        </p:nvSpPr>
        <p:spPr>
          <a:xfrm>
            <a:off x="609600" y="495300"/>
            <a:ext cx="10287000" cy="619125"/>
          </a:xfrm>
          <a:prstGeom prst="rect">
            <a:avLst/>
          </a:prstGeom>
          <a:noFill/>
          <a:ln w="0">
            <a:noFill/>
          </a:ln>
        </p:spPr>
        <p:txBody>
          <a:bodyPr lIns="0" tIns="0" rIns="0" bIns="0" anchor="t">
            <a:noAutofit/>
          </a:bodyPr>
          <a:lstStyle/>
          <a:p>
            <a:pPr algn="l"/>
            <a:r>
              <a:rPr sz="2775" b="1">
                <a:solidFill>
                  <a:srgbClr val="080808"/>
                </a:solidFill>
                <a:latin typeface="Arial Black"/>
              </a:rPr>
              <a:t>Reserve optimization: from forecast to decision</a:t>
            </a:r>
            <a:endParaRPr sz="2775"/>
          </a:p>
        </p:txBody>
      </p:sp>
      <p:sp>
        <p:nvSpPr>
          <p:cNvPr id="9" name="Focused final 12 CURRENT INDIA · 100 VIRTUAL SITES ·">
            <a:extLst>
              <a:ext uri="{FF2B5EF4-FFF2-40B4-BE49-F238E27FC236}">
                <ns2:creationId id="{4155E1C9-B05E-44EA-B2C9-431FB3352C38}"/>
              </a:ext>
            </a:extLst>
          </p:cNvPr>
          <p:cNvSpPr>
            <a:spLocks noGrp="1"/>
          </p:cNvSpPr>
          <p:nvPr/>
        </p:nvSpPr>
        <p:spPr>
          <a:xfrm>
            <a:off x="609600" y="1171575"/>
            <a:ext cx="10991850" cy="314325"/>
          </a:xfrm>
          <a:prstGeom prst="rect">
            <a:avLst/>
          </a:prstGeom>
          <a:noFill/>
          <a:ln w="0">
            <a:noFill/>
          </a:ln>
        </p:spPr>
        <p:txBody>
          <a:bodyPr lIns="0" tIns="0" rIns="0" bIns="0">
            <a:noAutofit/>
          </a:bodyPr>
          <a:lstStyle/>
          <a:p>
            <a:pPr algn="l">
              <a:defRPr sz="2025" b="1">
                <a:solidFill>
                  <a:srgbClr val="174A72"/>
                </a:solidFill>
                <a:latin typeface="Arial"/>
                <a:ea typeface="Arial"/>
                <a:cs typeface="Arial"/>
              </a:defRPr>
            </a:pPr>
            <a:r>
              <a:rPr sz="2025" b="1">
                <a:solidFill>
                  <a:srgbClr val="174A72"/>
                </a:solidFill>
                <a:latin typeface="Arial"/>
                <a:ea typeface="Arial"/>
                <a:cs typeface="Arial"/>
              </a:rPr>
              <a:t>CURRENT INDIA · 100 VIRTUAL SITES · +60 MIN</a:t>
            </a:r>
          </a:p>
        </p:txBody>
      </p:sp>
      <p:sp>
        <p:nvSpPr>
          <p:cNvPr id="10" name="Focused final 12 Chronological 70/15/15 split; singl">
            <a:extLst>
              <a:ext uri="{FF2B5EF4-FFF2-40B4-BE49-F238E27FC236}">
                <ns2:creationId id="{03EDC597-1632-4C9D-9C09-FCA82A3475C3}"/>
              </a:ext>
            </a:extLst>
          </p:cNvPr>
          <p:cNvSpPr>
            <a:spLocks noGrp="1"/>
          </p:cNvSpPr>
          <p:nvPr/>
        </p:nvSpPr>
        <p:spPr>
          <a:xfrm>
            <a:off x="609600" y="1590675"/>
            <a:ext cx="10991850" cy="352425"/>
          </a:xfrm>
          <a:prstGeom prst="rect">
            <a:avLst/>
          </a:prstGeom>
          <a:noFill/>
          <a:ln w="0">
            <a:noFill/>
          </a:ln>
        </p:spPr>
        <p:txBody>
          <a:bodyPr lIns="0" tIns="0" rIns="0" bIns="0">
            <a:noAutofit/>
          </a:bodyPr>
          <a:lstStyle/>
          <a:p>
            <a:pPr algn="l">
              <a:defRPr sz="2100" b="0">
                <a:solidFill>
                  <a:srgbClr val="68645E"/>
                </a:solidFill>
                <a:latin typeface="Arial"/>
                <a:ea typeface="Arial"/>
                <a:cs typeface="Arial"/>
              </a:defRPr>
            </a:pPr>
            <a:r>
              <a:rPr sz="2100" b="0">
                <a:solidFill>
                  <a:srgbClr val="68645E"/>
                </a:solidFill>
                <a:latin typeface="Arial"/>
                <a:ea typeface="Arial"/>
                <a:cs typeface="Arial"/>
              </a:rPr>
              <a:t>Chronological 70/15/15 split; single-interval planning.</a:t>
            </a:r>
          </a:p>
        </p:txBody>
      </p:sp>
      <p:sp>
        <p:nvSpPr>
          <p:cNvPr id="11" name="Focused final 12 flow box">
            <a:extLst>
              <a:ext uri="{FF2B5EF4-FFF2-40B4-BE49-F238E27FC236}">
                <ns2:creationId id="{AE4F9368-2FA2-417B-9AEB-FD4E3BC29108}"/>
              </a:ext>
            </a:extLst>
          </p:cNvPr>
          <p:cNvSpPr>
            <a:spLocks noGrp="1"/>
          </p:cNvSpPr>
          <p:nvPr/>
        </p:nvSpPr>
        <p:spPr>
          <a:xfrm>
            <a:off x="609600" y="2190750"/>
            <a:ext cx="3105150" cy="1552575"/>
          </a:xfrm>
          <a:prstGeom prst="rect">
            <a:avLst/>
          </a:prstGeom>
          <a:noFill/>
          <a:ln w="9525">
            <a:solidFill>
              <a:srgbClr val="174A72"/>
            </a:solidFill>
          </a:ln>
        </p:spPr>
      </p:sp>
      <p:sp>
        <p:nvSpPr>
          <p:cNvPr id="12" name="Focused final 12 FORECAST">
            <a:extLst>
              <a:ext uri="{FF2B5EF4-FFF2-40B4-BE49-F238E27FC236}">
                <ns2:creationId id="{AA2A88E5-9E1E-410A-BC0C-70512DC5D0F0}"/>
              </a:ext>
            </a:extLst>
          </p:cNvPr>
          <p:cNvSpPr>
            <a:spLocks noGrp="1"/>
          </p:cNvSpPr>
          <p:nvPr/>
        </p:nvSpPr>
        <p:spPr>
          <a:xfrm>
            <a:off x="781050" y="2352675"/>
            <a:ext cx="2762250" cy="381000"/>
          </a:xfrm>
          <a:prstGeom prst="rect">
            <a:avLst/>
          </a:prstGeom>
          <a:noFill/>
          <a:ln w="0">
            <a:noFill/>
          </a:ln>
        </p:spPr>
        <p:txBody>
          <a:bodyPr lIns="0" tIns="0" rIns="0" bIns="0">
            <a:noAutofit/>
          </a:bodyPr>
          <a:lstStyle/>
          <a:p>
            <a:pPr algn="l">
              <a:defRPr sz="2400" b="1">
                <a:solidFill>
                  <a:srgbClr val="174A72"/>
                </a:solidFill>
                <a:latin typeface="Arial"/>
                <a:ea typeface="Arial"/>
                <a:cs typeface="Arial"/>
              </a:defRPr>
            </a:pPr>
            <a:r>
              <a:rPr sz="2400" b="1">
                <a:solidFill>
                  <a:srgbClr val="174A72"/>
                </a:solidFill>
                <a:latin typeface="Arial"/>
                <a:ea typeface="Arial"/>
                <a:cs typeface="Arial"/>
              </a:rPr>
              <a:t>FORECAST</a:t>
            </a:r>
          </a:p>
        </p:txBody>
      </p:sp>
      <p:sp>
        <p:nvSpPr>
          <p:cNvPr id="13" name="Focused final 12 Current solar forecast">
            <a:extLst>
              <a:ext uri="{FF2B5EF4-FFF2-40B4-BE49-F238E27FC236}">
                <ns2:creationId id="{604BF98A-EC28-4A9B-81F9-3BA29324A584}"/>
              </a:ext>
            </a:extLst>
          </p:cNvPr>
          <p:cNvSpPr>
            <a:spLocks noGrp="1"/>
          </p:cNvSpPr>
          <p:nvPr/>
        </p:nvSpPr>
        <p:spPr>
          <a:xfrm>
            <a:off x="781050" y="3000375"/>
            <a:ext cx="2762250" cy="609600"/>
          </a:xfrm>
          <a:prstGeom prst="rect">
            <a:avLst/>
          </a:prstGeom>
          <a:noFill/>
          <a:ln w="0">
            <a:noFill/>
          </a:ln>
        </p:spPr>
        <p:txBody>
          <a:bodyPr lIns="0" tIns="0" rIns="0" bIns="0">
            <a:noAutofit/>
          </a:bodyPr>
          <a:lstStyle/>
          <a:p>
            <a:pPr algn="l">
              <a:defRPr sz="2025" b="0">
                <a:solidFill>
                  <a:srgbClr val="080808"/>
                </a:solidFill>
                <a:latin typeface="Arial"/>
                <a:ea typeface="Arial"/>
                <a:cs typeface="Arial"/>
              </a:defRPr>
            </a:pPr>
            <a:r>
              <a:rPr sz="2025" b="0">
                <a:solidFill>
                  <a:srgbClr val="080808"/>
                </a:solidFill>
                <a:latin typeface="Arial"/>
                <a:ea typeface="Arial"/>
                <a:cs typeface="Arial"/>
              </a:rPr>
              <a:t>Current solar forecast</a:t>
            </a:r>
          </a:p>
        </p:txBody>
      </p:sp>
      <p:sp>
        <p:nvSpPr>
          <p:cNvPr id="14" name="Focused final 12 flow box">
            <a:extLst>
              <a:ext uri="{FF2B5EF4-FFF2-40B4-BE49-F238E27FC236}">
                <ns2:creationId id="{A7327AF2-0BC6-483A-9B93-8729F0264B1F}"/>
              </a:ext>
            </a:extLst>
          </p:cNvPr>
          <p:cNvSpPr>
            <a:spLocks noGrp="1"/>
          </p:cNvSpPr>
          <p:nvPr/>
        </p:nvSpPr>
        <p:spPr>
          <a:xfrm>
            <a:off x="4381500" y="2190750"/>
            <a:ext cx="3333750" cy="1552575"/>
          </a:xfrm>
          <a:prstGeom prst="rect">
            <a:avLst/>
          </a:prstGeom>
          <a:noFill/>
          <a:ln w="9525">
            <a:solidFill>
              <a:srgbClr val="9B661B"/>
            </a:solidFill>
          </a:ln>
        </p:spPr>
      </p:sp>
      <p:sp>
        <p:nvSpPr>
          <p:cNvPr id="15" name="Focused final 12 UNCERTAINTY&#10;MARGIN">
            <a:extLst>
              <a:ext uri="{FF2B5EF4-FFF2-40B4-BE49-F238E27FC236}">
                <ns2:creationId id="{9857C0A6-C270-41E9-8DED-82CA64B5F549}"/>
              </a:ext>
            </a:extLst>
          </p:cNvPr>
          <p:cNvSpPr>
            <a:spLocks noGrp="1"/>
          </p:cNvSpPr>
          <p:nvPr/>
        </p:nvSpPr>
        <p:spPr>
          <a:xfrm>
            <a:off x="4552950" y="2352675"/>
            <a:ext cx="2990850" cy="628650"/>
          </a:xfrm>
          <a:prstGeom prst="rect">
            <a:avLst/>
          </a:prstGeom>
          <a:noFill/>
          <a:ln w="0">
            <a:noFill/>
          </a:ln>
        </p:spPr>
        <p:txBody>
          <a:bodyPr lIns="0" tIns="0" rIns="0" bIns="0">
            <a:noAutofit/>
          </a:bodyPr>
          <a:lstStyle/>
          <a:p>
            <a:pPr algn="l">
              <a:defRPr sz="2100" b="1">
                <a:solidFill>
                  <a:srgbClr val="9B661B"/>
                </a:solidFill>
                <a:latin typeface="Arial"/>
                <a:ea typeface="Arial"/>
                <a:cs typeface="Arial"/>
              </a:defRPr>
            </a:pPr>
            <a:r>
              <a:rPr sz="2100" b="1">
                <a:solidFill>
                  <a:srgbClr val="9B661B"/>
                </a:solidFill>
                <a:latin typeface="Arial"/>
                <a:ea typeface="Arial"/>
                <a:cs typeface="Arial"/>
              </a:rPr>
              <a:t>UNCERTAINTY</a:t>
            </a:r>
          </a:p>
          <a:p>
            <a:pPr algn="l">
              <a:defRPr sz="2100" b="1">
                <a:solidFill>
                  <a:srgbClr val="9B661B"/>
                </a:solidFill>
                <a:latin typeface="Arial"/>
                <a:ea typeface="Arial"/>
                <a:cs typeface="Arial"/>
              </a:defRPr>
            </a:pPr>
            <a:r>
              <a:rPr sz="2100" b="1">
                <a:solidFill>
                  <a:srgbClr val="9B661B"/>
                </a:solidFill>
                <a:latin typeface="Arial"/>
                <a:ea typeface="Arial"/>
                <a:cs typeface="Arial"/>
              </a:rPr>
              <a:t>MARGIN</a:t>
            </a:r>
          </a:p>
        </p:txBody>
      </p:sp>
      <p:sp>
        <p:nvSpPr>
          <p:cNvPr id="16" name="Focused final 12 Past observable errors">
            <a:extLst>
              <a:ext uri="{FF2B5EF4-FFF2-40B4-BE49-F238E27FC236}">
                <ns2:creationId id="{E0D2DBBE-9A88-4E7B-A367-E6C14A3AF84D}"/>
              </a:ext>
            </a:extLst>
          </p:cNvPr>
          <p:cNvSpPr>
            <a:spLocks noGrp="1"/>
          </p:cNvSpPr>
          <p:nvPr/>
        </p:nvSpPr>
        <p:spPr>
          <a:xfrm>
            <a:off x="4552950" y="3048000"/>
            <a:ext cx="2990850" cy="609600"/>
          </a:xfrm>
          <a:prstGeom prst="rect">
            <a:avLst/>
          </a:prstGeom>
          <a:noFill/>
          <a:ln w="0">
            <a:noFill/>
          </a:ln>
        </p:spPr>
        <p:txBody>
          <a:bodyPr lIns="0" tIns="0" rIns="0" bIns="0">
            <a:noAutofit/>
          </a:bodyPr>
          <a:lstStyle/>
          <a:p>
            <a:pPr algn="l">
              <a:defRPr sz="2025" b="0">
                <a:solidFill>
                  <a:srgbClr val="080808"/>
                </a:solidFill>
                <a:latin typeface="Arial"/>
                <a:ea typeface="Arial"/>
                <a:cs typeface="Arial"/>
              </a:defRPr>
            </a:pPr>
            <a:r>
              <a:rPr sz="2025" b="0">
                <a:solidFill>
                  <a:srgbClr val="080808"/>
                </a:solidFill>
                <a:latin typeface="Arial"/>
                <a:ea typeface="Arial"/>
                <a:cs typeface="Arial"/>
              </a:rPr>
              <a:t>Past observable errors</a:t>
            </a:r>
          </a:p>
        </p:txBody>
      </p:sp>
      <p:sp>
        <p:nvSpPr>
          <p:cNvPr id="17" name="Focused final 12 flow box">
            <a:extLst>
              <a:ext uri="{FF2B5EF4-FFF2-40B4-BE49-F238E27FC236}">
                <ns2:creationId id="{EFBE5504-6D90-4445-B0AB-4D0A3B6A4808}"/>
              </a:ext>
            </a:extLst>
          </p:cNvPr>
          <p:cNvSpPr>
            <a:spLocks noGrp="1"/>
          </p:cNvSpPr>
          <p:nvPr/>
        </p:nvSpPr>
        <p:spPr>
          <a:xfrm>
            <a:off x="8001000" y="2190750"/>
            <a:ext cx="3600450" cy="1552575"/>
          </a:xfrm>
          <a:prstGeom prst="rect">
            <a:avLst/>
          </a:prstGeom>
          <a:noFill/>
          <a:ln w="9525">
            <a:solidFill>
              <a:srgbClr val="174A72"/>
            </a:solidFill>
          </a:ln>
        </p:spPr>
      </p:sp>
      <p:sp>
        <p:nvSpPr>
          <p:cNvPr id="18" name="Focused final 12 CONSTRAINED BACKUP&#10;RECOMMENDATION">
            <a:extLst>
              <a:ext uri="{FF2B5EF4-FFF2-40B4-BE49-F238E27FC236}">
                <ns2:creationId id="{F0154134-75E8-432A-94D5-09C743659A5C}"/>
              </a:ext>
            </a:extLst>
          </p:cNvPr>
          <p:cNvSpPr>
            <a:spLocks noGrp="1"/>
          </p:cNvSpPr>
          <p:nvPr/>
        </p:nvSpPr>
        <p:spPr>
          <a:xfrm>
            <a:off x="8172450" y="2352675"/>
            <a:ext cx="3257550" cy="628650"/>
          </a:xfrm>
          <a:prstGeom prst="rect">
            <a:avLst/>
          </a:prstGeom>
          <a:noFill/>
          <a:ln w="0">
            <a:noFill/>
          </a:ln>
        </p:spPr>
        <p:txBody>
          <a:bodyPr lIns="0" tIns="0" rIns="0" bIns="0">
            <a:noAutofit/>
          </a:bodyPr>
          <a:lstStyle/>
          <a:p>
            <a:pPr algn="l">
              <a:defRPr sz="2100" b="1">
                <a:solidFill>
                  <a:srgbClr val="174A72"/>
                </a:solidFill>
                <a:latin typeface="Arial"/>
                <a:ea typeface="Arial"/>
                <a:cs typeface="Arial"/>
              </a:defRPr>
            </a:pPr>
            <a:r>
              <a:rPr sz="2100" b="1">
                <a:solidFill>
                  <a:srgbClr val="174A72"/>
                </a:solidFill>
                <a:latin typeface="Arial"/>
                <a:ea typeface="Arial"/>
                <a:cs typeface="Arial"/>
              </a:rPr>
              <a:t>CONSTRAINED BACKUP</a:t>
            </a:r>
          </a:p>
          <a:p>
            <a:pPr algn="l">
              <a:defRPr sz="2100" b="1">
                <a:solidFill>
                  <a:srgbClr val="174A72"/>
                </a:solidFill>
                <a:latin typeface="Arial"/>
                <a:ea typeface="Arial"/>
                <a:cs typeface="Arial"/>
              </a:defRPr>
            </a:pPr>
            <a:r>
              <a:rPr sz="2100" b="1">
                <a:solidFill>
                  <a:srgbClr val="174A72"/>
                </a:solidFill>
                <a:latin typeface="Arial"/>
                <a:ea typeface="Arial"/>
                <a:cs typeface="Arial"/>
              </a:rPr>
              <a:t>RECOMMENDATION</a:t>
            </a:r>
          </a:p>
        </p:txBody>
      </p:sp>
      <p:sp>
        <p:nvSpPr>
          <p:cNvPr id="19" name="Focused final 12 Available power +&#10;remaining daily e">
            <a:extLst>
              <a:ext uri="{FF2B5EF4-FFF2-40B4-BE49-F238E27FC236}">
                <ns2:creationId id="{C8591C61-C967-492E-8178-8240B8C6B9E6}"/>
              </a:ext>
            </a:extLst>
          </p:cNvPr>
          <p:cNvSpPr>
            <a:spLocks noGrp="1"/>
          </p:cNvSpPr>
          <p:nvPr/>
        </p:nvSpPr>
        <p:spPr>
          <a:xfrm>
            <a:off x="8172450" y="3048000"/>
            <a:ext cx="3257550" cy="609600"/>
          </a:xfrm>
          <a:prstGeom prst="rect">
            <a:avLst/>
          </a:prstGeom>
          <a:noFill/>
          <a:ln w="0">
            <a:noFill/>
          </a:ln>
        </p:spPr>
        <p:txBody>
          <a:bodyPr lIns="0" tIns="0" rIns="0" bIns="0">
            <a:noAutofit/>
          </a:bodyPr>
          <a:lstStyle/>
          <a:p>
            <a:pPr algn="l">
              <a:defRPr sz="2025" b="0">
                <a:solidFill>
                  <a:srgbClr val="080808"/>
                </a:solidFill>
                <a:latin typeface="Arial"/>
                <a:ea typeface="Arial"/>
                <a:cs typeface="Arial"/>
              </a:defRPr>
            </a:pPr>
            <a:r>
              <a:rPr sz="2025" b="0">
                <a:solidFill>
                  <a:srgbClr val="080808"/>
                </a:solidFill>
                <a:latin typeface="Arial"/>
                <a:ea typeface="Arial"/>
                <a:cs typeface="Arial"/>
              </a:rPr>
              <a:t>Available power +</a:t>
            </a:r>
          </a:p>
          <a:p>
            <a:pPr algn="l">
              <a:defRPr sz="2025" b="0">
                <a:solidFill>
                  <a:srgbClr val="080808"/>
                </a:solidFill>
                <a:latin typeface="Arial"/>
                <a:ea typeface="Arial"/>
                <a:cs typeface="Arial"/>
              </a:defRPr>
            </a:pPr>
            <a:r>
              <a:rPr sz="2025" b="0">
                <a:solidFill>
                  <a:srgbClr val="080808"/>
                </a:solidFill>
                <a:latin typeface="Arial"/>
                <a:ea typeface="Arial"/>
                <a:cs typeface="Arial"/>
              </a:rPr>
              <a:t>remaining daily energy</a:t>
            </a:r>
          </a:p>
        </p:txBody>
      </p:sp>
      <p:sp>
        <p:nvSpPr>
          <p:cNvPr id="20" name="Focused final 12 →">
            <a:extLst>
              <a:ext uri="{FF2B5EF4-FFF2-40B4-BE49-F238E27FC236}">
                <ns2:creationId id="{B8A3CCF0-06DE-4E11-931A-E8EB76B695BF}"/>
              </a:ext>
            </a:extLst>
          </p:cNvPr>
          <p:cNvSpPr>
            <a:spLocks noGrp="1"/>
          </p:cNvSpPr>
          <p:nvPr/>
        </p:nvSpPr>
        <p:spPr>
          <a:xfrm>
            <a:off x="3848100" y="2724150"/>
            <a:ext cx="400050" cy="457200"/>
          </a:xfrm>
          <a:prstGeom prst="rect">
            <a:avLst/>
          </a:prstGeom>
          <a:noFill/>
          <a:ln w="0">
            <a:noFill/>
          </a:ln>
        </p:spPr>
        <p:txBody>
          <a:bodyPr lIns="0" tIns="0" rIns="0" bIns="0">
            <a:noAutofit/>
          </a:bodyPr>
          <a:lstStyle/>
          <a:p>
            <a:pPr algn="l">
              <a:defRPr sz="2700" b="1">
                <a:solidFill>
                  <a:srgbClr val="174A72"/>
                </a:solidFill>
                <a:latin typeface="Arial"/>
                <a:ea typeface="Arial"/>
                <a:cs typeface="Arial"/>
              </a:defRPr>
            </a:pPr>
            <a:r>
              <a:rPr sz="2700" b="1">
                <a:solidFill>
                  <a:srgbClr val="174A72"/>
                </a:solidFill>
                <a:latin typeface="Arial"/>
                <a:ea typeface="Arial"/>
                <a:cs typeface="Arial"/>
              </a:rPr>
              <a:t>→</a:t>
            </a:r>
          </a:p>
        </p:txBody>
      </p:sp>
      <p:sp>
        <p:nvSpPr>
          <p:cNvPr id="21" name="Focused final 12 →">
            <a:extLst>
              <a:ext uri="{FF2B5EF4-FFF2-40B4-BE49-F238E27FC236}">
                <ns2:creationId id="{D06E7E3B-FBFE-4E5E-A769-C85A1EC9B5DB}"/>
              </a:ext>
            </a:extLst>
          </p:cNvPr>
          <p:cNvSpPr>
            <a:spLocks noGrp="1"/>
          </p:cNvSpPr>
          <p:nvPr/>
        </p:nvSpPr>
        <p:spPr>
          <a:xfrm>
            <a:off x="7743825" y="2790825"/>
            <a:ext cx="238125" cy="381000"/>
          </a:xfrm>
          <a:prstGeom prst="rect">
            <a:avLst/>
          </a:prstGeom>
          <a:noFill/>
          <a:ln w="0">
            <a:noFill/>
          </a:ln>
        </p:spPr>
        <p:txBody>
          <a:bodyPr lIns="0" tIns="0" rIns="0" bIns="0">
            <a:noAutofit/>
          </a:bodyPr>
          <a:lstStyle/>
          <a:p>
            <a:pPr algn="l">
              <a:defRPr sz="2100" b="1">
                <a:solidFill>
                  <a:srgbClr val="174A72"/>
                </a:solidFill>
                <a:latin typeface="Arial"/>
                <a:ea typeface="Arial"/>
                <a:cs typeface="Arial"/>
              </a:defRPr>
            </a:pPr>
            <a:r>
              <a:rPr sz="2100" b="1">
                <a:solidFill>
                  <a:srgbClr val="174A72"/>
                </a:solidFill>
                <a:latin typeface="Arial"/>
                <a:ea typeface="Arial"/>
                <a:cs typeface="Arial"/>
              </a:rPr>
              <a:t>→</a:t>
            </a:r>
          </a:p>
        </p:txBody>
      </p:sp>
      <p:sp>
        <p:nvSpPr>
          <p:cNvPr id="22" name="Focused final 12 Demand and grid availability are as">
            <a:extLst>
              <a:ext uri="{FF2B5EF4-FFF2-40B4-BE49-F238E27FC236}">
                <ns2:creationId id="{5D5FA921-63D7-4500-9314-8E3C724F4755}"/>
              </a:ext>
            </a:extLst>
          </p:cNvPr>
          <p:cNvSpPr>
            <a:spLocks noGrp="1"/>
          </p:cNvSpPr>
          <p:nvPr/>
        </p:nvSpPr>
        <p:spPr>
          <a:xfrm>
            <a:off x="609600" y="3914775"/>
            <a:ext cx="10991850" cy="381000"/>
          </a:xfrm>
          <a:prstGeom prst="rect">
            <a:avLst/>
          </a:prstGeom>
          <a:noFill/>
          <a:ln w="0">
            <a:noFill/>
          </a:ln>
        </p:spPr>
        <p:txBody>
          <a:bodyPr lIns="0" tIns="0" rIns="0" bIns="0" anchor="t">
            <a:noAutofit/>
          </a:bodyPr>
          <a:lstStyle/>
          <a:p>
            <a:pPr algn="l"/>
            <a:r>
              <a:rPr sz="2100" b="0">
                <a:solidFill>
                  <a:srgbClr val="080808"/>
                </a:solidFill>
                <a:latin typeface="Arial"/>
              </a:rPr>
              <a:t>Primary benchmark assumes known load / grid. New stresses vary both.</a:t>
            </a:r>
            <a:endParaRPr sz="2100"/>
          </a:p>
        </p:txBody>
      </p:sp>
      <p:sp>
        <p:nvSpPr>
          <p:cNvPr id="23" name="Focused final 12 NEXT: measured load / solar, actual">
            <a:extLst>
              <a:ext uri="{FF2B5EF4-FFF2-40B4-BE49-F238E27FC236}">
                <ns2:creationId id="{44FCDE4B-3AEE-49DD-9367-67EF3FEEFE05}"/>
              </a:ext>
            </a:extLst>
          </p:cNvPr>
          <p:cNvSpPr>
            <a:spLocks noGrp="1"/>
          </p:cNvSpPr>
          <p:nvPr/>
        </p:nvSpPr>
        <p:spPr>
          <a:xfrm>
            <a:off x="609600" y="4419600"/>
            <a:ext cx="10991850" cy="685800"/>
          </a:xfrm>
          <a:prstGeom prst="rect">
            <a:avLst/>
          </a:prstGeom>
          <a:noFill/>
          <a:ln w="0">
            <a:noFill/>
          </a:ln>
        </p:spPr>
        <p:txBody>
          <a:bodyPr lIns="0" tIns="0" rIns="0" bIns="0" anchor="t">
            <a:noAutofit/>
          </a:bodyPr>
          <a:lstStyle/>
          <a:p>
            <a:pPr algn="l"/>
            <a:r>
              <a:rPr sz="2025" b="1">
                <a:solidFill>
                  <a:srgbClr val="174A72"/>
                </a:solidFill>
                <a:latin typeface="Arial"/>
              </a:rPr>
              <a:t>8 operating scenarios × 5 seeds: expose asset and forecast limits.</a:t>
            </a:r>
            <a:endParaRPr sz="2025"/>
          </a:p>
          <a:p>
            <a:pPr algn="l"/>
            <a:r>
              <a:rPr sz="2025" b="1">
                <a:solidFill>
                  <a:srgbClr val="174A72"/>
                </a:solidFill>
                <a:latin typeface="Arial"/>
              </a:rPr>
              <a:t>Experimental guard misses its target under several stresses.</a:t>
            </a:r>
            <a:endParaRPr sz="2025"/>
          </a:p>
        </p:txBody>
      </p:sp>
      <p:sp>
        <p:nvSpPr>
          <p:cNvPr id="24" name="Focused final 12 TEAM BP">
            <a:extLst>
              <a:ext uri="{FF2B5EF4-FFF2-40B4-BE49-F238E27FC236}">
                <ns2:creationId id="{F8488ACE-0407-432C-AE11-EA6184225CDD}"/>
              </a:ext>
            </a:extLst>
          </p:cNvPr>
          <p:cNvSpPr>
            <a:spLocks noGrp="1"/>
          </p:cNvSpPr>
          <p:nvPr/>
        </p:nvSpPr>
        <p:spPr>
          <a:xfrm>
            <a:off x="609600" y="5286375"/>
            <a:ext cx="10991850" cy="304800"/>
          </a:xfrm>
          <a:prstGeom prst="rect">
            <a:avLst/>
          </a:prstGeom>
          <a:noFill/>
          <a:ln w="0">
            <a:noFill/>
          </a:ln>
        </p:spPr>
        <p:txBody>
          <a:bodyPr lIns="0" tIns="0" rIns="0" bIns="0">
            <a:noAutofit/>
          </a:bodyPr>
          <a:lstStyle/>
          <a:p>
            <a:pPr algn="l">
              <a:defRPr sz="2025" b="1">
                <a:solidFill>
                  <a:srgbClr val="174A72"/>
                </a:solidFill>
                <a:latin typeface="Arial"/>
                <a:ea typeface="Arial"/>
                <a:cs typeface="Arial"/>
              </a:defRPr>
            </a:pPr>
            <a:r>
              <a:rPr sz="2025" b="1">
                <a:solidFill>
                  <a:srgbClr val="174A72"/>
                </a:solidFill>
                <a:latin typeface="Arial"/>
                <a:ea typeface="Arial"/>
                <a:cs typeface="Arial"/>
              </a:rPr>
              <a:t>TEAM BP</a:t>
            </a:r>
          </a:p>
        </p:txBody>
      </p:sp>
      <p:sp>
        <p:nvSpPr>
          <p:cNvPr id="25" name="Focused final 12 Bhavesh M · Ajay Javali · Pragun ki">
            <a:extLst>
              <a:ext uri="{FF2B5EF4-FFF2-40B4-BE49-F238E27FC236}">
                <ns2:creationId id="{C09F0997-7C36-4469-8935-262A8568C338}"/>
              </a:ext>
            </a:extLst>
          </p:cNvPr>
          <p:cNvSpPr>
            <a:spLocks noGrp="1"/>
          </p:cNvSpPr>
          <p:nvPr/>
        </p:nvSpPr>
        <p:spPr>
          <a:xfrm>
            <a:off x="609600" y="5676900"/>
            <a:ext cx="10991850" cy="333375"/>
          </a:xfrm>
          <a:prstGeom prst="rect">
            <a:avLst/>
          </a:prstGeom>
          <a:noFill/>
          <a:ln w="0">
            <a:noFill/>
          </a:ln>
        </p:spPr>
        <p:txBody>
          <a:bodyPr lIns="0" tIns="0" rIns="0" bIns="0">
            <a:noAutofit/>
          </a:bodyPr>
          <a:lstStyle/>
          <a:p>
            <a:pPr algn="l">
              <a:defRPr sz="2025" b="0">
                <a:solidFill>
                  <a:srgbClr val="080808"/>
                </a:solidFill>
                <a:latin typeface="Arial"/>
                <a:ea typeface="Arial"/>
                <a:cs typeface="Arial"/>
              </a:defRPr>
            </a:pPr>
            <a:r>
              <a:rPr sz="2025" b="0">
                <a:solidFill>
                  <a:srgbClr val="080808"/>
                </a:solidFill>
                <a:latin typeface="Arial"/>
                <a:ea typeface="Arial"/>
                <a:cs typeface="Arial"/>
              </a:rPr>
              <a:t>Bhavesh M · Ajay Javali · Pragun kirani · Varshith M gowda</a:t>
            </a:r>
          </a:p>
        </p:txBody>
      </p:sp>
      <p:sp>
        <p:nvSpPr>
          <p:cNvPr id="26" name="Focused final 12 Mentors: Prof. Aswin Kannan · Prof.">
            <a:extLst>
              <a:ext uri="{FF2B5EF4-FFF2-40B4-BE49-F238E27FC236}">
                <ns2:creationId id="{CA50F9B4-1465-4CC2-8B8D-A3491075D681}"/>
              </a:ext>
            </a:extLst>
          </p:cNvPr>
          <p:cNvSpPr>
            <a:spLocks noGrp="1"/>
          </p:cNvSpPr>
          <p:nvPr/>
        </p:nvSpPr>
        <p:spPr>
          <a:xfrm>
            <a:off x="609600" y="6076950"/>
            <a:ext cx="10991850" cy="323850"/>
          </a:xfrm>
          <a:prstGeom prst="rect">
            <a:avLst/>
          </a:prstGeom>
          <a:noFill/>
          <a:ln w="0">
            <a:noFill/>
          </a:ln>
        </p:spPr>
        <p:txBody>
          <a:bodyPr lIns="0" tIns="0" rIns="0" bIns="0">
            <a:noAutofit/>
          </a:bodyPr>
          <a:lstStyle/>
          <a:p>
            <a:pPr algn="l">
              <a:defRPr sz="2025" b="0">
                <a:solidFill>
                  <a:srgbClr val="080808"/>
                </a:solidFill>
                <a:latin typeface="Arial"/>
                <a:ea typeface="Arial"/>
                <a:cs typeface="Arial"/>
              </a:defRPr>
            </a:pPr>
            <a:r>
              <a:rPr sz="2025" b="0">
                <a:solidFill>
                  <a:srgbClr val="080808"/>
                </a:solidFill>
                <a:latin typeface="Arial"/>
                <a:ea typeface="Arial"/>
                <a:cs typeface="Arial"/>
              </a:rPr>
              <a:t>Mentors: Prof. Aswin Kannan · Prof. Shrisha Rao</a:t>
            </a:r>
          </a:p>
        </p:txBody>
      </p:sp>
      <p:sp>
        <p:nvSpPr>
          <p:cNvPr id="27" name="Focused final 12 Simulation only. Field reliability ">
            <a:extLst>
              <a:ext uri="{FF2B5EF4-FFF2-40B4-BE49-F238E27FC236}">
                <ns2:creationId id="{06363617-232F-49A3-B11B-CB55B0C7DCDF}"/>
              </a:ext>
            </a:extLst>
          </p:cNvPr>
          <p:cNvSpPr>
            <a:spLocks noGrp="1"/>
          </p:cNvSpPr>
          <p:nvPr/>
        </p:nvSpPr>
        <p:spPr>
          <a:xfrm>
            <a:off x="609600" y="6515100"/>
            <a:ext cx="10991850" cy="276225"/>
          </a:xfrm>
          <a:prstGeom prst="rect">
            <a:avLst/>
          </a:prstGeom>
          <a:noFill/>
          <a:ln w="0">
            <a:noFill/>
          </a:ln>
        </p:spPr>
        <p:txBody>
          <a:bodyPr lIns="0" tIns="0" rIns="0" bIns="0">
            <a:noAutofit/>
          </a:bodyPr>
          <a:lstStyle/>
          <a:p>
            <a:pPr algn="l">
              <a:defRPr sz="1800" b="0">
                <a:solidFill>
                  <a:srgbClr val="68645E"/>
                </a:solidFill>
                <a:latin typeface="Arial"/>
                <a:ea typeface="Arial"/>
                <a:cs typeface="Arial"/>
              </a:defRPr>
            </a:pPr>
            <a:r>
              <a:rPr sz="1800" b="0">
                <a:solidFill>
                  <a:srgbClr val="68645E"/>
                </a:solidFill>
                <a:latin typeface="Arial"/>
                <a:ea typeface="Arial"/>
                <a:cs typeface="Arial"/>
              </a:rPr>
              <a:t>Simulation only. Field reliability and total affordability remain unvalidated.</a:t>
            </a:r>
          </a:p>
        </p:txBody>
      </p:sp>
    </p:spTree>
    <p:extLst>
      <p:ext uri="{BB962C8B-B14F-4D97-AF65-F5344CB8AC3E}">
        <ns3:creationId val="7666233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2026-10-03T14:54:10.9270000Z</dcterms:created>
  <dcterms:modified xsi:type="dcterms:W3CDTF">2026-10-03T14:54:10.9270000Z</dcterms:modified>
</coreProperties>
</file>